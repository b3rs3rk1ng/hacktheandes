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abeb5827a2044be" /><Relationship Type="http://schemas.openxmlformats.org/officeDocument/2006/relationships/extended-properties" Target="/docProps/app.xml" Id="Rb9a036e39e344a31" /><Relationship Type="http://schemas.openxmlformats.org/officeDocument/2006/relationships/officeDocument" Target="/ppt/presentation.xml" Id="R3dfc58e0a56a4889" /></Relationships>
</file>

<file path=ppt/presentation.xml><?xml version="1.0" encoding="utf-8"?>
<p:presentation xmlns:p="http://schemas.openxmlformats.org/presentationml/2006/main">
  <p:sldMasterIdLst>
    <p:sldMasterId xmlns:r="http://schemas.openxmlformats.org/officeDocument/2006/relationships" id="2147483648" r:id="R50b19854304b47ff"/>
  </p:sldMasterIdLst>
  <p:notesMasterIdLst>
    <p:notesMasterId xmlns:r="http://schemas.openxmlformats.org/officeDocument/2006/relationships" r:id="R0e407c946ba045c2"/>
  </p:notesMasterIdLst>
  <p:sldIdLst>
    <p:sldId xmlns:r="http://schemas.openxmlformats.org/officeDocument/2006/relationships" id="256" r:id="R27f4d6cd49d744d3"/>
    <p:sldId xmlns:r="http://schemas.openxmlformats.org/officeDocument/2006/relationships" id="257" r:id="R6eb7dfed99bf47b9"/>
    <p:sldId xmlns:r="http://schemas.openxmlformats.org/officeDocument/2006/relationships" id="258" r:id="Rf77a42a6cc78461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0404e599cc548fe" /><Relationship Type="http://schemas.openxmlformats.org/officeDocument/2006/relationships/slideMaster" Target="/ppt/slideMasters/slideMaster1.xml" Id="R50b19854304b47ff" /><Relationship Type="http://schemas.openxmlformats.org/officeDocument/2006/relationships/notesMaster" Target="/ppt/notesMasters/notesMaster1.xml" Id="R0e407c946ba045c2" /><Relationship Type="http://schemas.openxmlformats.org/officeDocument/2006/relationships/presProps" Target="/ppt/presProps.xml" Id="R51cb17d2f2064b0b" /><Relationship Type="http://schemas.openxmlformats.org/officeDocument/2006/relationships/tableStyles" Target="/ppt/tableStyles.xml" Id="Rb7d0e7da25454a98" /><Relationship Type="http://schemas.openxmlformats.org/officeDocument/2006/relationships/slide" Target="/ppt/slides/slide1.xml" Id="R27f4d6cd49d744d3" /><Relationship Type="http://schemas.openxmlformats.org/officeDocument/2006/relationships/slide" Target="/ppt/slides/slide2.xml" Id="R6eb7dfed99bf47b9" /><Relationship Type="http://schemas.openxmlformats.org/officeDocument/2006/relationships/slide" Target="/ppt/slides/slide3.xml" Id="Rf77a42a6cc78461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d8cdb47d94a47c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251d7f58b894eb1" /><Relationship Type="http://schemas.openxmlformats.org/officeDocument/2006/relationships/notesMaster" Target="/ppt/notesMasters/notesMaster1.xml" Id="Rf3039aa37bca4764" /></Relationships>
</file>

<file path=ppt/notesSlides/_rels/notesSlide2.xml.rels>&#65279;<?xml version="1.0" encoding="utf-8"?><Relationships xmlns="http://schemas.openxmlformats.org/package/2006/relationships"><Relationship Type="http://schemas.openxmlformats.org/officeDocument/2006/relationships/slide" Target="/ppt/slides/slide2.xml" Id="Rd79c887c36e4408a" /><Relationship Type="http://schemas.openxmlformats.org/officeDocument/2006/relationships/notesMaster" Target="/ppt/notesMasters/notesMaster1.xml" Id="R7c636f2f04024ccb" /></Relationships>
</file>

<file path=ppt/notesSlides/_rels/notesSlide3.xml.rels>&#65279;<?xml version="1.0" encoding="utf-8"?><Relationships xmlns="http://schemas.openxmlformats.org/package/2006/relationships"><Relationship Type="http://schemas.openxmlformats.org/officeDocument/2006/relationships/slide" Target="/ppt/slides/slide3.xml" Id="Rdadbe30ad6da46aa" /><Relationship Type="http://schemas.openxmlformats.org/officeDocument/2006/relationships/notesMaster" Target="/ppt/notesMasters/notesMaster1.xml" Id="R8eb851e0bb14424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0:00–0:45. El número rojo es una metáfora visual de pérdida económica, generado con la herramienta integrada de imágenes usando como referencia la foto real de cacao con Monilia. La foto de la derecha se conserva sin modificación. Activo: output/assets/millon-moniliasis-rojo.png. Prompt y procedencia: output/assets/millon-moniliasis-prompt.txt. Partí del track Clima y Territorio e investigué riesgos agrícolas. Elegí el cacao por su importancia para el productor y encontré la moniliasis, una enfermedad causada por un hongo que afecta al fruto. Me interesó explorar cómo apoyar la inspección frente a condiciones climáticas cambiantes y riesgos asociados a El Niño. Ya existe manejo integrado de la enfermedad. Nuestra propuesta busca facilitar que el agricultor encuentre y revise frutos sospechosos. El cálculo de S/1 millón es condicional: 100 hectáreas x 1000 kg de grano seco potencial por hectárea x S/20 por kg x 50% de cosecha perdida = S/1000000 en ventas no realizadas por campaña. Los 100 ha y 1000 kg/ha son condiciones del cálculo y no un conjunto de productores que hayamos medido. S/20/kg es referencia del programa DEVIDA Vraem campaña 2025, no precio universal actual: https://www.gob.pe/institucion/devida/noticias/1329650-cacao-del-vraem-impulsa-productividad-ingresos-y-acceso-a-mercados-internacionales . La cifra expresa venta bruta no realizada, no ganancia neta ni ahorro demostrado por el software. INIA documenta pérdidas del 30 al 80% en su plegable Manejo integrado de la moniliasis en plantaciones de cacao nativo, noviembre 2011: https://pgc-snia.inia.gob.pe/server/api/core/bitstreams/388ed816-590d-47f4-ae22-d728d046f71a/content . Es un rango histórico, no promedio nacional actual, y no demuestra por sí mismo el 50% en una zona específica. Duele porque desaparece venta luego de invertir trabajo e insumos y se requiere seguir vigilando y manejando la enfermedad. Definición SENASA: https://repositorio.senasa.gob.pe/items/de2bff13-0641-4050-a147-05e963efe8a4 . Relación con el track: https://hacktheandes.com/guide incluye agricultura y alertas de plagas. El Niño no causa la enfermedad ni aumenta su incidencia uniformemente en todas las regiones. Referencia agroclimática SENAMHI 2023: https://www.senamhi.gob.pe/load/file/02966SENA-1.pdf . Fotografía real ID017fa25b2cde2609b042a85e, etiqueta a nivel de imagen del dataset Mendeley, CC BY 4.0: https://data.mendeley.com/datasets/ykbtpsyfv9/1.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0:30–1:00. Entrenamos YOLO11s con 1655 fotografías originales y 1655 variantes de luz/desenfoque, además de 278 fotos de validación, durante 40 épocas en RTX 4060. Clases sano, Monilia y Phytophthora. Entrenamiento: CocoaMoniliaDataSet y Serrano/Torres para desarrollo. La muestra Mendeley se mantuvo fuera del entrenamiento y selección de umbral: 399 fotos tras una exclusión por similitud, 200 positivas y 199 negativas. 191 verdaderos positivos, 8 falsas alarmas y 9 omisiones por imagen. La muestra no representa prevalencia real y sus fondos correlacionan con la etiqueta. No hay cajas GT para verificar localización en esta prueba. En regresión por mazorca hubo alertas en 29/80 sanas, precisión 82.7% y recall 82.2%. La intervención debe seguir siendo revisable. La imagen muestra una predicción ya registrada, no una caja inventada: ID 01ce25730c159d83f2abeeab, clase 1, puntuación 0.8171383, umbral 0.74. Recorte fiel de research/cacao-improvement/evidence/prediction-pairs.png. El ejemplo forma parte de una muestra por ID, sin selección por acierto. Fuentes: research/cacao-improvement/artifacts/model-card.json; REPORT.md; evidence/benchmark-v1/benchmarks/new_image_test/detector_v2/predictions/test_clean.jsonl y evaluation.json. Fuente de fotografía: https://data.mendeley.com/datasets/ykbtpsyfv9/1, CC BY 4.0.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1:00–1:20 y demo 1:20–2:20. Kevin proporcionó la fotografía y la describió como Pedro saliendo de su chacra. No se presenta la expresión de las personas como un resultado del producto. La autorización de pruebas está preparada sin firma. La siguiente etapa es coordinar y validar en la parcela, sin atribuir uso actual ni mejora económica demostrada. Foto: output/assets/pedro-saliendo-de-su-chacra.jpg. La escena de la derecha y la fotografía son imágenes distintas: la primera es una simulación, la segunda una foto real proporcionada por el usuario. La simulación permite ejercitar un recorrido integrado sin contar todavía con un robot físico validado. La cámara virtual renderiza el escenario y el navegador envía un JPEG sin cajas ni interfaz al servidor. El mismo checkpoint YOLO11s entrenado hace inferencia real en la RTX 4060 y devuelve clases, puntuaciones y cajas. No recibe las etiquetas sanitarias del mundo. Después, un módulo distinto usa la geometría y pose conocidas para asociar la caja a una mazorca visible. Esa localización no es SLAM ni profundidad aprendida. Las mazorcas son objetos 3D con texturas derivadas de recortes reales de entrenamiento que se reutilizan. Por ello, esta escena no es una nueva prueba independiente del detector. El entorno incluye física, consumo, reserva y retorno, todavía con aproximaciones sin calibración de hardware comercial. Mostrar brevemente la cámara, el estado del modelo y pasar al buzón. Evitar gastar el tiempo recorriendo el bosque sin explicar la tarea. Fuentes: simulator/ORCHARD.md, simulator/assets/CREDITS.md, simulator/assets/pods/provenance.json, simulator/orchard_server.py y simulator/ui/orchard/main.js. Imagen: simulator/evidence/visibility-corrected-frame.jpg.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78b867e0f63413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d98e498d91f4d7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fc7a2944dcd41a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cca85d1d5bb454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c7325dc8b58401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84bb03f561547c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90FBB4A-C101-4ABB-98E7-81C850EB75D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5449D0C-163D-455A-82A8-A823E19E545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8B8F28B-9840-4CD6-9D31-270DD260348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FEA3617-CBF3-4197-8DBC-9DB1B90BDEA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B0C8875-2B01-4147-A2AC-60D7914C8A76}"/>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D936DEA-5DB6-4ADB-A593-6B203E22015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98B2EC1-A787-4AA3-8246-D62E8B004D3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CA5079A-2FB7-44ED-9D58-16AEFCABE9F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1D29CED-96EB-4A68-B488-673770824D3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688B180-D269-4291-BD1F-8F7C90CE8D1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31b0b8a0ad7495a" /><Relationship Type="http://schemas.openxmlformats.org/officeDocument/2006/relationships/slideLayout" Target="/ppt/slideLayouts/slideLayout1.xml" Id="Rfb3aefb95d104c84" /><Relationship Type="http://schemas.openxmlformats.org/officeDocument/2006/relationships/slideLayout" Target="/ppt/slideLayouts/slideLayout2.xml" Id="R4f88bd85be924681" /><Relationship Type="http://schemas.openxmlformats.org/officeDocument/2006/relationships/slideLayout" Target="/ppt/slideLayouts/slideLayout3.xml" Id="Rc5cfbaf4af964ad8" /><Relationship Type="http://schemas.openxmlformats.org/officeDocument/2006/relationships/slideLayout" Target="/ppt/slideLayouts/slideLayout4.xml" Id="Rf60bf98350f641f3" /><Relationship Type="http://schemas.openxmlformats.org/officeDocument/2006/relationships/slideLayout" Target="/ppt/slideLayouts/slideLayout5.xml" Id="R3c8756eee85e48cf" /><Relationship Type="http://schemas.openxmlformats.org/officeDocument/2006/relationships/slideLayout" Target="/ppt/slideLayouts/slideLayout6.xml" Id="Rb2ce083d8af14d6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b3aefb95d104c84"/>
    <p:sldLayoutId xmlns:r="http://schemas.openxmlformats.org/officeDocument/2006/relationships" id="2147483650" r:id="R4f88bd85be924681"/>
    <p:sldLayoutId xmlns:r="http://schemas.openxmlformats.org/officeDocument/2006/relationships" id="2147483651" r:id="Rc5cfbaf4af964ad8"/>
    <p:sldLayoutId xmlns:r="http://schemas.openxmlformats.org/officeDocument/2006/relationships" id="2147483652" r:id="Rf60bf98350f641f3"/>
    <p:sldLayoutId xmlns:r="http://schemas.openxmlformats.org/officeDocument/2006/relationships" id="2147483653" r:id="R3c8756eee85e48cf"/>
    <p:sldLayoutId xmlns:r="http://schemas.openxmlformats.org/officeDocument/2006/relationships" id="2147483654" r:id="Rb2ce083d8af14d6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cf577c07db6443b" /><Relationship Type="http://schemas.openxmlformats.org/officeDocument/2006/relationships/image" Target="/ppt/media/image.png" Id="R258f80cf5d544a84" /><Relationship Type="http://schemas.openxmlformats.org/officeDocument/2006/relationships/image" Target="/ppt/media/image.jpeg" Id="R0876028915d949cd" /><Relationship Type="http://schemas.openxmlformats.org/officeDocument/2006/relationships/notesSlide" Target="/ppt/notesSlides/notesSlide1.xml" Id="Ra7898f32c2a4408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c56b829f3e54d2a" /><Relationship Type="http://schemas.openxmlformats.org/officeDocument/2006/relationships/image" Target="/ppt/media/image2.png" Id="Rbe825693c0d54234" /><Relationship Type="http://schemas.openxmlformats.org/officeDocument/2006/relationships/notesSlide" Target="/ppt/notesSlides/notesSlide2.xml" Id="Re77d7274f5384e4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a513333cfe340a1" /><Relationship Type="http://schemas.openxmlformats.org/officeDocument/2006/relationships/image" Target="/ppt/media/image2.jpeg" Id="R412e1e2800584018" /><Relationship Type="http://schemas.openxmlformats.org/officeDocument/2006/relationships/image" Target="/ppt/media/image3.jpeg" Id="Rf9bbcaaabea7426c" /><Relationship Type="http://schemas.openxmlformats.org/officeDocument/2006/relationships/notesSlide" Target="/ppt/notesSlides/notesSlide3.xml" Id="Rc4d9a420a614453f" /></Relationships>
</file>

<file path=ppt/slides/slide1.xml><?xml version="1.0" encoding="utf-8"?>
<p:sld xmlns:p="http://schemas.openxmlformats.org/presentationml/2006/main">
  <p:cSld>
    <p:bg>
      <p:bgPr>
        <a:solidFill xmlns:a="http://schemas.openxmlformats.org/drawingml/2006/main">
          <a:srgbClr val="17392B"/>
        </a:solidFill>
      </p:bgPr>
    </p:bg>
    <p:spTree>
      <p:nvGrpSpPr>
        <p:cNvPr id="1" name=""/>
        <p:cNvGrpSpPr/>
        <p:nvPr/>
      </p:nvGrpSpPr>
      <p:grpSpPr>
        <a:xfrm xmlns:a="http://schemas.openxmlformats.org/drawingml/2006/main"/>
      </p:grpSpPr>
      <p:sp>
        <p:nvSpPr>
          <p:cNvPr id="10" name="El problema del millón">
            <a:extLst xmlns:a="http://schemas.openxmlformats.org/drawingml/2006/main">
              <a:ext uri="{FF2B5EF4-FFF2-40B4-BE49-F238E27FC236}">
                <a16:creationId xmlns:a16="http://schemas.microsoft.com/office/drawing/2014/main" id="{AD35AFB0-4120-42C1-BE43-1D014A1A3CDF}"/>
              </a:ext>
            </a:extLst>
          </p:cNvPr>
          <p:cNvSpPr>
            <a:spLocks xmlns:a="http://schemas.openxmlformats.org/drawingml/2006/main" noGrp="1"/>
          </p:cNvSpPr>
          <p:nvPr/>
        </p:nvSpPr>
        <p:spPr>
          <a:xfrm xmlns:a="http://schemas.openxmlformats.org/drawingml/2006/main">
            <a:off x="609600" y="428625"/>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050" b="1">
                <a:solidFill>
                  <a:srgbClr val="F5F3E9"/>
                </a:solidFill>
                <a:latin typeface="Avenir Next"/>
                <a:ea typeface="Avenir Next"/>
                <a:cs typeface="Avenir Next"/>
              </a:defRPr>
            </a:defPPr>
            <a:lvl1pPr>
              <a:defRPr sz="4050" b="1">
                <a:solidFill>
                  <a:srgbClr val="F5F3E9"/>
                </a:solidFill>
                <a:latin typeface="Avenir Next"/>
                <a:ea typeface="Avenir Next"/>
                <a:cs typeface="Avenir Next"/>
              </a:defRPr>
            </a:lvl1pPr>
            <a:lvl2pPr>
              <a:defRPr sz="4050" b="1">
                <a:solidFill>
                  <a:srgbClr val="F5F3E9"/>
                </a:solidFill>
                <a:latin typeface="Avenir Next"/>
                <a:ea typeface="Avenir Next"/>
                <a:cs typeface="Avenir Next"/>
              </a:defRPr>
            </a:lvl2pPr>
            <a:lvl3pPr>
              <a:defRPr sz="4050" b="1">
                <a:solidFill>
                  <a:srgbClr val="F5F3E9"/>
                </a:solidFill>
                <a:latin typeface="Avenir Next"/>
                <a:ea typeface="Avenir Next"/>
                <a:cs typeface="Avenir Next"/>
              </a:defRPr>
            </a:lvl3pPr>
            <a:lvl4pPr>
              <a:defRPr sz="4050" b="1">
                <a:solidFill>
                  <a:srgbClr val="F5F3E9"/>
                </a:solidFill>
                <a:latin typeface="Avenir Next"/>
                <a:ea typeface="Avenir Next"/>
                <a:cs typeface="Avenir Next"/>
              </a:defRPr>
            </a:lvl4pPr>
            <a:lvl5pPr>
              <a:defRPr sz="4050" b="1">
                <a:solidFill>
                  <a:srgbClr val="F5F3E9"/>
                </a:solidFill>
                <a:latin typeface="Avenir Next"/>
                <a:ea typeface="Avenir Next"/>
                <a:cs typeface="Avenir Next"/>
              </a:defRPr>
            </a:lvl5pPr>
            <a:lvl6pPr>
              <a:defRPr sz="4050" b="1">
                <a:solidFill>
                  <a:srgbClr val="F5F3E9"/>
                </a:solidFill>
                <a:latin typeface="Avenir Next"/>
                <a:ea typeface="Avenir Next"/>
                <a:cs typeface="Avenir Next"/>
              </a:defRPr>
            </a:lvl6pPr>
            <a:lvl7pPr>
              <a:defRPr sz="4050" b="1">
                <a:solidFill>
                  <a:srgbClr val="F5F3E9"/>
                </a:solidFill>
                <a:latin typeface="Avenir Next"/>
                <a:ea typeface="Avenir Next"/>
                <a:cs typeface="Avenir Next"/>
              </a:defRPr>
            </a:lvl7pPr>
            <a:lvl8pPr>
              <a:defRPr sz="4050" b="1">
                <a:solidFill>
                  <a:srgbClr val="F5F3E9"/>
                </a:solidFill>
                <a:latin typeface="Avenir Next"/>
                <a:ea typeface="Avenir Next"/>
                <a:cs typeface="Avenir Next"/>
              </a:defRPr>
            </a:lvl8pPr>
            <a:lvl9pPr>
              <a:defRPr sz="4050" b="1">
                <a:solidFill>
                  <a:srgbClr val="F5F3E9"/>
                </a:solidFill>
                <a:latin typeface="Avenir Next"/>
                <a:ea typeface="Avenir Next"/>
                <a:cs typeface="Avenir Next"/>
              </a:defRPr>
            </a:lvl9pPr>
          </a:lstStyle>
          <a:p xmlns:a="http://schemas.openxmlformats.org/drawingml/2006/main">
            <a:pPr>
              <a:defRPr sz="4050" b="1">
                <a:solidFill>
                  <a:srgbClr val="F5F3E9"/>
                </a:solidFill>
                <a:latin typeface="Avenir Next"/>
                <a:ea typeface="Avenir Next"/>
                <a:cs typeface="Avenir Next"/>
              </a:defRPr>
            </a:pPr>
            <a:r>
              <a:rPr sz="4050" b="1">
                <a:solidFill>
                  <a:srgbClr val="F5F3E9"/>
                </a:solidFill>
                <a:latin typeface="Avenir Next"/>
                <a:ea typeface="Avenir Next"/>
                <a:cs typeface="Avenir Next"/>
              </a:rPr>
              <a:t>El problema del millón</a:t>
            </a:r>
          </a:p>
        </p:txBody>
      </p:sp>
      <p:sp>
        <p:nvSpPr>
          <p:cNvPr id="2" name="Clima y Territorio">
            <a:extLst xmlns:a="http://schemas.openxmlformats.org/drawingml/2006/main">
              <a:ext uri="{FF2B5EF4-FFF2-40B4-BE49-F238E27FC236}">
                <a16:creationId xmlns:a16="http://schemas.microsoft.com/office/drawing/2014/main" id="{6D4CC684-AAE3-4C2A-95C0-B63BEAF5B503}"/>
              </a:ext>
            </a:extLst>
          </p:cNvPr>
          <p:cNvSpPr>
            <a:spLocks xmlns:a="http://schemas.openxmlformats.org/drawingml/2006/main" noGrp="1"/>
          </p:cNvSpPr>
          <p:nvPr/>
        </p:nvSpPr>
        <p:spPr>
          <a:xfrm xmlns:a="http://schemas.openxmlformats.org/drawingml/2006/main">
            <a:off x="609600" y="1409700"/>
            <a:ext cx="6762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D5E4AD"/>
                </a:solidFill>
                <a:latin typeface="Avenir Next"/>
                <a:ea typeface="Avenir Next"/>
                <a:cs typeface="Avenir Next"/>
              </a:defRPr>
            </a:defPPr>
            <a:lvl1pPr>
              <a:defRPr sz="1725" b="1">
                <a:solidFill>
                  <a:srgbClr val="D5E4AD"/>
                </a:solidFill>
                <a:latin typeface="Avenir Next"/>
                <a:ea typeface="Avenir Next"/>
                <a:cs typeface="Avenir Next"/>
              </a:defRPr>
            </a:lvl1pPr>
            <a:lvl2pPr>
              <a:defRPr sz="1725" b="1">
                <a:solidFill>
                  <a:srgbClr val="D5E4AD"/>
                </a:solidFill>
                <a:latin typeface="Avenir Next"/>
                <a:ea typeface="Avenir Next"/>
                <a:cs typeface="Avenir Next"/>
              </a:defRPr>
            </a:lvl2pPr>
            <a:lvl3pPr>
              <a:defRPr sz="1725" b="1">
                <a:solidFill>
                  <a:srgbClr val="D5E4AD"/>
                </a:solidFill>
                <a:latin typeface="Avenir Next"/>
                <a:ea typeface="Avenir Next"/>
                <a:cs typeface="Avenir Next"/>
              </a:defRPr>
            </a:lvl3pPr>
            <a:lvl4pPr>
              <a:defRPr sz="1725" b="1">
                <a:solidFill>
                  <a:srgbClr val="D5E4AD"/>
                </a:solidFill>
                <a:latin typeface="Avenir Next"/>
                <a:ea typeface="Avenir Next"/>
                <a:cs typeface="Avenir Next"/>
              </a:defRPr>
            </a:lvl4pPr>
            <a:lvl5pPr>
              <a:defRPr sz="1725" b="1">
                <a:solidFill>
                  <a:srgbClr val="D5E4AD"/>
                </a:solidFill>
                <a:latin typeface="Avenir Next"/>
                <a:ea typeface="Avenir Next"/>
                <a:cs typeface="Avenir Next"/>
              </a:defRPr>
            </a:lvl5pPr>
            <a:lvl6pPr>
              <a:defRPr sz="1725" b="1">
                <a:solidFill>
                  <a:srgbClr val="D5E4AD"/>
                </a:solidFill>
                <a:latin typeface="Avenir Next"/>
                <a:ea typeface="Avenir Next"/>
                <a:cs typeface="Avenir Next"/>
              </a:defRPr>
            </a:lvl6pPr>
            <a:lvl7pPr>
              <a:defRPr sz="1725" b="1">
                <a:solidFill>
                  <a:srgbClr val="D5E4AD"/>
                </a:solidFill>
                <a:latin typeface="Avenir Next"/>
                <a:ea typeface="Avenir Next"/>
                <a:cs typeface="Avenir Next"/>
              </a:defRPr>
            </a:lvl7pPr>
            <a:lvl8pPr>
              <a:defRPr sz="1725" b="1">
                <a:solidFill>
                  <a:srgbClr val="D5E4AD"/>
                </a:solidFill>
                <a:latin typeface="Avenir Next"/>
                <a:ea typeface="Avenir Next"/>
                <a:cs typeface="Avenir Next"/>
              </a:defRPr>
            </a:lvl8pPr>
            <a:lvl9pPr>
              <a:defRPr sz="1725" b="1">
                <a:solidFill>
                  <a:srgbClr val="D5E4AD"/>
                </a:solidFill>
                <a:latin typeface="Avenir Next"/>
                <a:ea typeface="Avenir Next"/>
                <a:cs typeface="Avenir Next"/>
              </a:defRPr>
            </a:lvl9pPr>
          </a:lstStyle>
          <a:p xmlns:a="http://schemas.openxmlformats.org/drawingml/2006/main">
            <a:pPr>
              <a:defRPr sz="1725" b="1">
                <a:solidFill>
                  <a:srgbClr val="D5E4AD"/>
                </a:solidFill>
                <a:latin typeface="Avenir Next"/>
                <a:ea typeface="Avenir Next"/>
                <a:cs typeface="Avenir Next"/>
              </a:defRPr>
            </a:pPr>
            <a:r>
              <a:rPr sz="1725" b="1">
                <a:solidFill>
                  <a:srgbClr val="D5E4AD"/>
                </a:solidFill>
                <a:latin typeface="Avenir Next"/>
                <a:ea typeface="Avenir Next"/>
                <a:cs typeface="Avenir Next"/>
              </a:rPr>
              <a:t>Clima y Territorio</a:t>
            </a:r>
          </a:p>
        </p:txBody>
      </p:sp>
      <p:sp>
        <p:nvSpPr>
          <p:cNvPr id="3" name="Moniliasis: un hongo daña&#10;el fruto del cacao.">
            <a:extLst xmlns:a="http://schemas.openxmlformats.org/drawingml/2006/main">
              <a:ext uri="{FF2B5EF4-FFF2-40B4-BE49-F238E27FC236}">
                <a16:creationId xmlns:a16="http://schemas.microsoft.com/office/drawing/2014/main" id="{65B414E3-14B6-4F5F-BF29-E3F8B5BB1C83}"/>
              </a:ext>
            </a:extLst>
          </p:cNvPr>
          <p:cNvSpPr>
            <a:spLocks xmlns:a="http://schemas.openxmlformats.org/drawingml/2006/main" noGrp="1"/>
          </p:cNvSpPr>
          <p:nvPr/>
        </p:nvSpPr>
        <p:spPr>
          <a:xfrm xmlns:a="http://schemas.openxmlformats.org/drawingml/2006/main">
            <a:off x="609600" y="2028825"/>
            <a:ext cx="70485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F5F3E9"/>
                </a:solidFill>
                <a:latin typeface="Avenir Next"/>
                <a:ea typeface="Avenir Next"/>
                <a:cs typeface="Avenir Next"/>
              </a:defRPr>
            </a:defPPr>
            <a:lvl1pPr>
              <a:defRPr sz="2400" b="0">
                <a:solidFill>
                  <a:srgbClr val="F5F3E9"/>
                </a:solidFill>
                <a:latin typeface="Avenir Next"/>
                <a:ea typeface="Avenir Next"/>
                <a:cs typeface="Avenir Next"/>
              </a:defRPr>
            </a:lvl1pPr>
            <a:lvl2pPr>
              <a:defRPr sz="2400" b="0">
                <a:solidFill>
                  <a:srgbClr val="F5F3E9"/>
                </a:solidFill>
                <a:latin typeface="Avenir Next"/>
                <a:ea typeface="Avenir Next"/>
                <a:cs typeface="Avenir Next"/>
              </a:defRPr>
            </a:lvl2pPr>
            <a:lvl3pPr>
              <a:defRPr sz="2400" b="0">
                <a:solidFill>
                  <a:srgbClr val="F5F3E9"/>
                </a:solidFill>
                <a:latin typeface="Avenir Next"/>
                <a:ea typeface="Avenir Next"/>
                <a:cs typeface="Avenir Next"/>
              </a:defRPr>
            </a:lvl3pPr>
            <a:lvl4pPr>
              <a:defRPr sz="2400" b="0">
                <a:solidFill>
                  <a:srgbClr val="F5F3E9"/>
                </a:solidFill>
                <a:latin typeface="Avenir Next"/>
                <a:ea typeface="Avenir Next"/>
                <a:cs typeface="Avenir Next"/>
              </a:defRPr>
            </a:lvl4pPr>
            <a:lvl5pPr>
              <a:defRPr sz="2400" b="0">
                <a:solidFill>
                  <a:srgbClr val="F5F3E9"/>
                </a:solidFill>
                <a:latin typeface="Avenir Next"/>
                <a:ea typeface="Avenir Next"/>
                <a:cs typeface="Avenir Next"/>
              </a:defRPr>
            </a:lvl5pPr>
            <a:lvl6pPr>
              <a:defRPr sz="2400" b="0">
                <a:solidFill>
                  <a:srgbClr val="F5F3E9"/>
                </a:solidFill>
                <a:latin typeface="Avenir Next"/>
                <a:ea typeface="Avenir Next"/>
                <a:cs typeface="Avenir Next"/>
              </a:defRPr>
            </a:lvl6pPr>
            <a:lvl7pPr>
              <a:defRPr sz="2400" b="0">
                <a:solidFill>
                  <a:srgbClr val="F5F3E9"/>
                </a:solidFill>
                <a:latin typeface="Avenir Next"/>
                <a:ea typeface="Avenir Next"/>
                <a:cs typeface="Avenir Next"/>
              </a:defRPr>
            </a:lvl7pPr>
            <a:lvl8pPr>
              <a:defRPr sz="2400" b="0">
                <a:solidFill>
                  <a:srgbClr val="F5F3E9"/>
                </a:solidFill>
                <a:latin typeface="Avenir Next"/>
                <a:ea typeface="Avenir Next"/>
                <a:cs typeface="Avenir Next"/>
              </a:defRPr>
            </a:lvl8pPr>
            <a:lvl9pPr>
              <a:defRPr sz="2400" b="0">
                <a:solidFill>
                  <a:srgbClr val="F5F3E9"/>
                </a:solidFill>
                <a:latin typeface="Avenir Next"/>
                <a:ea typeface="Avenir Next"/>
                <a:cs typeface="Avenir Next"/>
              </a:defRPr>
            </a:lvl9pPr>
          </a:lstStyle>
          <a:p xmlns:a="http://schemas.openxmlformats.org/drawingml/2006/main">
            <a:pPr>
              <a:defRPr sz="2400" b="0">
                <a:solidFill>
                  <a:srgbClr val="F5F3E9"/>
                </a:solidFill>
                <a:latin typeface="Avenir Next"/>
                <a:ea typeface="Avenir Next"/>
                <a:cs typeface="Avenir Next"/>
              </a:defRPr>
            </a:pPr>
            <a:r>
              <a:rPr sz="2400" b="0">
                <a:solidFill>
                  <a:srgbClr val="F5F3E9"/>
                </a:solidFill>
                <a:latin typeface="Avenir Next"/>
                <a:ea typeface="Avenir Next"/>
                <a:cs typeface="Avenir Next"/>
              </a:rPr>
              <a:t>Moniliasis: un hongo daña</a:t>
            </a:r>
          </a:p>
          <a:p xmlns:a="http://schemas.openxmlformats.org/drawingml/2006/main">
            <a:pPr>
              <a:defRPr sz="2400" b="0">
                <a:solidFill>
                  <a:srgbClr val="F5F3E9"/>
                </a:solidFill>
                <a:latin typeface="Avenir Next"/>
                <a:ea typeface="Avenir Next"/>
                <a:cs typeface="Avenir Next"/>
              </a:defRPr>
            </a:pPr>
            <a:r>
              <a:rPr sz="2400" b="0">
                <a:solidFill>
                  <a:srgbClr val="F5F3E9"/>
                </a:solidFill>
                <a:latin typeface="Avenir Next"/>
                <a:ea typeface="Avenir Next"/>
                <a:cs typeface="Avenir Next"/>
              </a:rPr>
              <a:t>el fruto del cacao.</a:t>
            </a:r>
          </a:p>
        </p:txBody>
      </p:sp>
      <p:pic>
        <p:nvPicPr>
          <p:cNvPr id="4" name="">
            <a:extLst xmlns:a="http://schemas.openxmlformats.org/drawingml/2006/main">
              <a:ext uri="{FF2B5EF4-FFF2-40B4-BE49-F238E27FC236}">
                <a16:creationId xmlns:a16="http://schemas.microsoft.com/office/drawing/2014/main" id="{802AC9BF-3C39-4654-9114-B33AC33AB8B3}"/>
              </a:ext>
            </a:extLst>
          </p:cNvPr>
          <p:cNvPicPr>
            <a:picLocks xmlns:a="http://schemas.openxmlformats.org/drawingml/2006/main" noChangeAspect="1"/>
          </p:cNvPicPr>
          <p:nvPr/>
        </p:nvPicPr>
        <p:blipFill>
          <a:blip xmlns:r="http://schemas.openxmlformats.org/officeDocument/2006/relationships" xmlns:a="http://schemas.openxmlformats.org/drawingml/2006/main" r:embed="R258f80cf5d544a84"/>
          <a:stretch xmlns:a="http://schemas.openxmlformats.org/drawingml/2006/main"/>
        </p:blipFill>
        <p:spPr>
          <a:xfrm xmlns:a="http://schemas.openxmlformats.org/drawingml/2006/main">
            <a:off x="461963" y="3000375"/>
            <a:ext cx="7800975" cy="2600325"/>
          </a:xfrm>
          <a:prstGeom xmlns:a="http://schemas.openxmlformats.org/drawingml/2006/main" prst="rect">
            <a:avLst/>
          </a:prstGeom>
        </p:spPr>
      </p:pic>
      <p:sp>
        <p:nvSpPr>
          <p:cNvPr id="5" name="en ventas al perder la mitad&#10;de la cosecha en">
            <a:extLst xmlns:a="http://schemas.openxmlformats.org/drawingml/2006/main">
              <a:ext uri="{FF2B5EF4-FFF2-40B4-BE49-F238E27FC236}">
                <a16:creationId xmlns:a16="http://schemas.microsoft.com/office/drawing/2014/main" id="{3B9A0002-5CED-4863-BE58-5FEAB5EFE470}"/>
              </a:ext>
            </a:extLst>
          </p:cNvPr>
          <p:cNvSpPr>
            <a:spLocks xmlns:a="http://schemas.openxmlformats.org/drawingml/2006/main" noGrp="1"/>
          </p:cNvSpPr>
          <p:nvPr/>
        </p:nvSpPr>
        <p:spPr>
          <a:xfrm xmlns:a="http://schemas.openxmlformats.org/drawingml/2006/main">
            <a:off x="609600" y="5629275"/>
            <a:ext cx="72390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F5F3E9"/>
                </a:solidFill>
                <a:latin typeface="Avenir Next"/>
                <a:ea typeface="Avenir Next"/>
                <a:cs typeface="Avenir Next"/>
              </a:defRPr>
            </a:defPPr>
            <a:lvl1pPr>
              <a:defRPr sz="2100" b="0">
                <a:solidFill>
                  <a:srgbClr val="F5F3E9"/>
                </a:solidFill>
                <a:latin typeface="Avenir Next"/>
                <a:ea typeface="Avenir Next"/>
                <a:cs typeface="Avenir Next"/>
              </a:defRPr>
            </a:lvl1pPr>
            <a:lvl2pPr>
              <a:defRPr sz="2100" b="0">
                <a:solidFill>
                  <a:srgbClr val="F5F3E9"/>
                </a:solidFill>
                <a:latin typeface="Avenir Next"/>
                <a:ea typeface="Avenir Next"/>
                <a:cs typeface="Avenir Next"/>
              </a:defRPr>
            </a:lvl2pPr>
            <a:lvl3pPr>
              <a:defRPr sz="2100" b="0">
                <a:solidFill>
                  <a:srgbClr val="F5F3E9"/>
                </a:solidFill>
                <a:latin typeface="Avenir Next"/>
                <a:ea typeface="Avenir Next"/>
                <a:cs typeface="Avenir Next"/>
              </a:defRPr>
            </a:lvl3pPr>
            <a:lvl4pPr>
              <a:defRPr sz="2100" b="0">
                <a:solidFill>
                  <a:srgbClr val="F5F3E9"/>
                </a:solidFill>
                <a:latin typeface="Avenir Next"/>
                <a:ea typeface="Avenir Next"/>
                <a:cs typeface="Avenir Next"/>
              </a:defRPr>
            </a:lvl4pPr>
            <a:lvl5pPr>
              <a:defRPr sz="2100" b="0">
                <a:solidFill>
                  <a:srgbClr val="F5F3E9"/>
                </a:solidFill>
                <a:latin typeface="Avenir Next"/>
                <a:ea typeface="Avenir Next"/>
                <a:cs typeface="Avenir Next"/>
              </a:defRPr>
            </a:lvl5pPr>
            <a:lvl6pPr>
              <a:defRPr sz="2100" b="0">
                <a:solidFill>
                  <a:srgbClr val="F5F3E9"/>
                </a:solidFill>
                <a:latin typeface="Avenir Next"/>
                <a:ea typeface="Avenir Next"/>
                <a:cs typeface="Avenir Next"/>
              </a:defRPr>
            </a:lvl6pPr>
            <a:lvl7pPr>
              <a:defRPr sz="2100" b="0">
                <a:solidFill>
                  <a:srgbClr val="F5F3E9"/>
                </a:solidFill>
                <a:latin typeface="Avenir Next"/>
                <a:ea typeface="Avenir Next"/>
                <a:cs typeface="Avenir Next"/>
              </a:defRPr>
            </a:lvl7pPr>
            <a:lvl8pPr>
              <a:defRPr sz="2100" b="0">
                <a:solidFill>
                  <a:srgbClr val="F5F3E9"/>
                </a:solidFill>
                <a:latin typeface="Avenir Next"/>
                <a:ea typeface="Avenir Next"/>
                <a:cs typeface="Avenir Next"/>
              </a:defRPr>
            </a:lvl8pPr>
            <a:lvl9pPr>
              <a:defRPr sz="2100" b="0">
                <a:solidFill>
                  <a:srgbClr val="F5F3E9"/>
                </a:solidFill>
                <a:latin typeface="Avenir Next"/>
                <a:ea typeface="Avenir Next"/>
                <a:cs typeface="Avenir Next"/>
              </a:defRPr>
            </a:lvl9pPr>
          </a:lstStyle>
          <a:p xmlns:a="http://schemas.openxmlformats.org/drawingml/2006/main">
            <a:pPr>
              <a:defRPr sz="2100" b="0">
                <a:solidFill>
                  <a:srgbClr val="F5F3E9"/>
                </a:solidFill>
                <a:latin typeface="Avenir Next"/>
                <a:ea typeface="Avenir Next"/>
                <a:cs typeface="Avenir Next"/>
              </a:defRPr>
            </a:pPr>
            <a:r>
              <a:rPr sz="2100" b="0">
                <a:solidFill>
                  <a:srgbClr val="F5F3E9"/>
                </a:solidFill>
                <a:latin typeface="Avenir Next"/>
                <a:ea typeface="Avenir Next"/>
                <a:cs typeface="Avenir Next"/>
              </a:rPr>
              <a:t>en ventas al perder la mitad</a:t>
            </a:r>
          </a:p>
          <a:p xmlns:a="http://schemas.openxmlformats.org/drawingml/2006/main">
            <a:pPr>
              <a:defRPr sz="2100" b="0">
                <a:solidFill>
                  <a:srgbClr val="F5F3E9"/>
                </a:solidFill>
                <a:latin typeface="Avenir Next"/>
                <a:ea typeface="Avenir Next"/>
                <a:cs typeface="Avenir Next"/>
              </a:defRPr>
            </a:pPr>
            <a:r>
              <a:rPr sz="2100" b="0">
                <a:solidFill>
                  <a:srgbClr val="F5F3E9"/>
                </a:solidFill>
                <a:latin typeface="Avenir Next"/>
                <a:ea typeface="Avenir Next"/>
                <a:cs typeface="Avenir Next"/>
              </a:rPr>
              <a:t>de la cosecha en 100 hectáreas</a:t>
            </a:r>
          </a:p>
        </p:txBody>
      </p:sp>
      <p:sp>
        <p:nvSpPr>
          <p:cNvPr id="6" name="Con 1,000 kg/ha de cacao seco a S/20 por kg">
            <a:extLst xmlns:a="http://schemas.openxmlformats.org/drawingml/2006/main">
              <a:ext uri="{FF2B5EF4-FFF2-40B4-BE49-F238E27FC236}">
                <a16:creationId xmlns:a16="http://schemas.microsoft.com/office/drawing/2014/main" id="{AF8514B4-49B6-4E4D-A89F-6622F9F4E4A6}"/>
              </a:ext>
            </a:extLst>
          </p:cNvPr>
          <p:cNvSpPr>
            <a:spLocks xmlns:a="http://schemas.openxmlformats.org/drawingml/2006/main" noGrp="1"/>
          </p:cNvSpPr>
          <p:nvPr/>
        </p:nvSpPr>
        <p:spPr>
          <a:xfrm xmlns:a="http://schemas.openxmlformats.org/drawingml/2006/main">
            <a:off x="609600" y="6486525"/>
            <a:ext cx="7429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D5E4AD"/>
                </a:solidFill>
                <a:latin typeface="Avenir Next"/>
                <a:ea typeface="Avenir Next"/>
                <a:cs typeface="Avenir Next"/>
              </a:defRPr>
            </a:defPPr>
            <a:lvl1pPr>
              <a:defRPr sz="1500" b="0">
                <a:solidFill>
                  <a:srgbClr val="D5E4AD"/>
                </a:solidFill>
                <a:latin typeface="Avenir Next"/>
                <a:ea typeface="Avenir Next"/>
                <a:cs typeface="Avenir Next"/>
              </a:defRPr>
            </a:lvl1pPr>
            <a:lvl2pPr>
              <a:defRPr sz="1500" b="0">
                <a:solidFill>
                  <a:srgbClr val="D5E4AD"/>
                </a:solidFill>
                <a:latin typeface="Avenir Next"/>
                <a:ea typeface="Avenir Next"/>
                <a:cs typeface="Avenir Next"/>
              </a:defRPr>
            </a:lvl2pPr>
            <a:lvl3pPr>
              <a:defRPr sz="1500" b="0">
                <a:solidFill>
                  <a:srgbClr val="D5E4AD"/>
                </a:solidFill>
                <a:latin typeface="Avenir Next"/>
                <a:ea typeface="Avenir Next"/>
                <a:cs typeface="Avenir Next"/>
              </a:defRPr>
            </a:lvl3pPr>
            <a:lvl4pPr>
              <a:defRPr sz="1500" b="0">
                <a:solidFill>
                  <a:srgbClr val="D5E4AD"/>
                </a:solidFill>
                <a:latin typeface="Avenir Next"/>
                <a:ea typeface="Avenir Next"/>
                <a:cs typeface="Avenir Next"/>
              </a:defRPr>
            </a:lvl4pPr>
            <a:lvl5pPr>
              <a:defRPr sz="1500" b="0">
                <a:solidFill>
                  <a:srgbClr val="D5E4AD"/>
                </a:solidFill>
                <a:latin typeface="Avenir Next"/>
                <a:ea typeface="Avenir Next"/>
                <a:cs typeface="Avenir Next"/>
              </a:defRPr>
            </a:lvl5pPr>
            <a:lvl6pPr>
              <a:defRPr sz="1500" b="0">
                <a:solidFill>
                  <a:srgbClr val="D5E4AD"/>
                </a:solidFill>
                <a:latin typeface="Avenir Next"/>
                <a:ea typeface="Avenir Next"/>
                <a:cs typeface="Avenir Next"/>
              </a:defRPr>
            </a:lvl6pPr>
            <a:lvl7pPr>
              <a:defRPr sz="1500" b="0">
                <a:solidFill>
                  <a:srgbClr val="D5E4AD"/>
                </a:solidFill>
                <a:latin typeface="Avenir Next"/>
                <a:ea typeface="Avenir Next"/>
                <a:cs typeface="Avenir Next"/>
              </a:defRPr>
            </a:lvl7pPr>
            <a:lvl8pPr>
              <a:defRPr sz="1500" b="0">
                <a:solidFill>
                  <a:srgbClr val="D5E4AD"/>
                </a:solidFill>
                <a:latin typeface="Avenir Next"/>
                <a:ea typeface="Avenir Next"/>
                <a:cs typeface="Avenir Next"/>
              </a:defRPr>
            </a:lvl8pPr>
            <a:lvl9pPr>
              <a:defRPr sz="1500" b="0">
                <a:solidFill>
                  <a:srgbClr val="D5E4AD"/>
                </a:solidFill>
                <a:latin typeface="Avenir Next"/>
                <a:ea typeface="Avenir Next"/>
                <a:cs typeface="Avenir Next"/>
              </a:defRPr>
            </a:lvl9pPr>
          </a:lstStyle>
          <a:p xmlns:a="http://schemas.openxmlformats.org/drawingml/2006/main">
            <a:pPr>
              <a:defRPr sz="1500" b="0">
                <a:solidFill>
                  <a:srgbClr val="D5E4AD"/>
                </a:solidFill>
                <a:latin typeface="Avenir Next"/>
                <a:ea typeface="Avenir Next"/>
                <a:cs typeface="Avenir Next"/>
              </a:defRPr>
            </a:pPr>
            <a:r>
              <a:rPr sz="1500" b="0">
                <a:solidFill>
                  <a:srgbClr val="D5E4AD"/>
                </a:solidFill>
                <a:latin typeface="Avenir Next"/>
                <a:ea typeface="Avenir Next"/>
                <a:cs typeface="Avenir Next"/>
              </a:rPr>
              <a:t>Con 1,000 kg/ha de cacao seco a S/20 por kg</a:t>
            </a:r>
          </a:p>
        </p:txBody>
      </p:sp>
      <p:pic>
        <p:nvPicPr>
          <p:cNvPr id="7" name="">
            <a:extLst xmlns:a="http://schemas.openxmlformats.org/drawingml/2006/main">
              <a:ext uri="{FF2B5EF4-FFF2-40B4-BE49-F238E27FC236}">
                <a16:creationId xmlns:a16="http://schemas.microsoft.com/office/drawing/2014/main" id="{2807D31C-14F6-41CB-9BC3-6924647FBA57}"/>
              </a:ext>
            </a:extLst>
          </p:cNvPr>
          <p:cNvPicPr>
            <a:picLocks xmlns:a="http://schemas.openxmlformats.org/drawingml/2006/main" noChangeAspect="1"/>
          </p:cNvPicPr>
          <p:nvPr/>
        </p:nvPicPr>
        <p:blipFill>
          <a:blip xmlns:r="http://schemas.openxmlformats.org/officeDocument/2006/relationships" xmlns:a="http://schemas.openxmlformats.org/drawingml/2006/main" r:embed="R0876028915d949cd"/>
          <a:stretch xmlns:a="http://schemas.openxmlformats.org/drawingml/2006/main"/>
        </p:blipFill>
        <p:spPr>
          <a:xfrm xmlns:a="http://schemas.openxmlformats.org/drawingml/2006/main">
            <a:off x="8524875" y="1820863"/>
            <a:ext cx="2762250" cy="3683000"/>
          </a:xfrm>
          <a:prstGeom xmlns:a="http://schemas.openxmlformats.org/drawingml/2006/main" prst="rect">
            <a:avLst/>
          </a:prstGeom>
        </p:spPr>
      </p:pic>
      <p:sp>
        <p:nvSpPr>
          <p:cNvPr id="8" name="Foto real. Dataset Mendeley.">
            <a:extLst xmlns:a="http://schemas.openxmlformats.org/drawingml/2006/main">
              <a:ext uri="{FF2B5EF4-FFF2-40B4-BE49-F238E27FC236}">
                <a16:creationId xmlns:a16="http://schemas.microsoft.com/office/drawing/2014/main" id="{F62AF965-0B4D-4C92-914F-B55AD2CDEB24}"/>
              </a:ext>
            </a:extLst>
          </p:cNvPr>
          <p:cNvSpPr>
            <a:spLocks xmlns:a="http://schemas.openxmlformats.org/drawingml/2006/main" noGrp="1"/>
          </p:cNvSpPr>
          <p:nvPr/>
        </p:nvSpPr>
        <p:spPr>
          <a:xfrm xmlns:a="http://schemas.openxmlformats.org/drawingml/2006/main">
            <a:off x="8524875" y="5724525"/>
            <a:ext cx="30575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D5E4AD"/>
                </a:solidFill>
                <a:latin typeface="Avenir Next"/>
                <a:ea typeface="Avenir Next"/>
                <a:cs typeface="Avenir Next"/>
              </a:defRPr>
            </a:defPPr>
            <a:lvl1pPr>
              <a:defRPr sz="1350" b="0">
                <a:solidFill>
                  <a:srgbClr val="D5E4AD"/>
                </a:solidFill>
                <a:latin typeface="Avenir Next"/>
                <a:ea typeface="Avenir Next"/>
                <a:cs typeface="Avenir Next"/>
              </a:defRPr>
            </a:lvl1pPr>
            <a:lvl2pPr>
              <a:defRPr sz="1350" b="0">
                <a:solidFill>
                  <a:srgbClr val="D5E4AD"/>
                </a:solidFill>
                <a:latin typeface="Avenir Next"/>
                <a:ea typeface="Avenir Next"/>
                <a:cs typeface="Avenir Next"/>
              </a:defRPr>
            </a:lvl2pPr>
            <a:lvl3pPr>
              <a:defRPr sz="1350" b="0">
                <a:solidFill>
                  <a:srgbClr val="D5E4AD"/>
                </a:solidFill>
                <a:latin typeface="Avenir Next"/>
                <a:ea typeface="Avenir Next"/>
                <a:cs typeface="Avenir Next"/>
              </a:defRPr>
            </a:lvl3pPr>
            <a:lvl4pPr>
              <a:defRPr sz="1350" b="0">
                <a:solidFill>
                  <a:srgbClr val="D5E4AD"/>
                </a:solidFill>
                <a:latin typeface="Avenir Next"/>
                <a:ea typeface="Avenir Next"/>
                <a:cs typeface="Avenir Next"/>
              </a:defRPr>
            </a:lvl4pPr>
            <a:lvl5pPr>
              <a:defRPr sz="1350" b="0">
                <a:solidFill>
                  <a:srgbClr val="D5E4AD"/>
                </a:solidFill>
                <a:latin typeface="Avenir Next"/>
                <a:ea typeface="Avenir Next"/>
                <a:cs typeface="Avenir Next"/>
              </a:defRPr>
            </a:lvl5pPr>
            <a:lvl6pPr>
              <a:defRPr sz="1350" b="0">
                <a:solidFill>
                  <a:srgbClr val="D5E4AD"/>
                </a:solidFill>
                <a:latin typeface="Avenir Next"/>
                <a:ea typeface="Avenir Next"/>
                <a:cs typeface="Avenir Next"/>
              </a:defRPr>
            </a:lvl6pPr>
            <a:lvl7pPr>
              <a:defRPr sz="1350" b="0">
                <a:solidFill>
                  <a:srgbClr val="D5E4AD"/>
                </a:solidFill>
                <a:latin typeface="Avenir Next"/>
                <a:ea typeface="Avenir Next"/>
                <a:cs typeface="Avenir Next"/>
              </a:defRPr>
            </a:lvl7pPr>
            <a:lvl8pPr>
              <a:defRPr sz="1350" b="0">
                <a:solidFill>
                  <a:srgbClr val="D5E4AD"/>
                </a:solidFill>
                <a:latin typeface="Avenir Next"/>
                <a:ea typeface="Avenir Next"/>
                <a:cs typeface="Avenir Next"/>
              </a:defRPr>
            </a:lvl8pPr>
            <a:lvl9pPr>
              <a:defRPr sz="1350" b="0">
                <a:solidFill>
                  <a:srgbClr val="D5E4AD"/>
                </a:solidFill>
                <a:latin typeface="Avenir Next"/>
                <a:ea typeface="Avenir Next"/>
                <a:cs typeface="Avenir Next"/>
              </a:defRPr>
            </a:lvl9pPr>
          </a:lstStyle>
          <a:p xmlns:a="http://schemas.openxmlformats.org/drawingml/2006/main">
            <a:pPr>
              <a:defRPr sz="1350" b="0">
                <a:solidFill>
                  <a:srgbClr val="D5E4AD"/>
                </a:solidFill>
                <a:latin typeface="Avenir Next"/>
                <a:ea typeface="Avenir Next"/>
                <a:cs typeface="Avenir Next"/>
              </a:defRPr>
            </a:pPr>
            <a:r>
              <a:rPr sz="1350" b="0">
                <a:solidFill>
                  <a:srgbClr val="D5E4AD"/>
                </a:solidFill>
                <a:latin typeface="Avenir Next"/>
                <a:ea typeface="Avenir Next"/>
                <a:cs typeface="Avenir Next"/>
              </a:rPr>
              <a:t>Foto real. Dataset Mendeley.</a:t>
            </a:r>
          </a:p>
        </p:txBody>
      </p:sp>
      <p:sp>
        <p:nvSpPr>
          <p:cNvPr id="9" name="30–80% de pérdida de producción&#10;INIA, 2011">
            <a:extLst xmlns:a="http://schemas.openxmlformats.org/drawingml/2006/main">
              <a:ext uri="{FF2B5EF4-FFF2-40B4-BE49-F238E27FC236}">
                <a16:creationId xmlns:a16="http://schemas.microsoft.com/office/drawing/2014/main" id="{0A7C29A4-ACD0-467F-8173-B59927B6921A}"/>
              </a:ext>
            </a:extLst>
          </p:cNvPr>
          <p:cNvSpPr>
            <a:spLocks xmlns:a="http://schemas.openxmlformats.org/drawingml/2006/main" noGrp="1"/>
          </p:cNvSpPr>
          <p:nvPr/>
        </p:nvSpPr>
        <p:spPr>
          <a:xfrm xmlns:a="http://schemas.openxmlformats.org/drawingml/2006/main">
            <a:off x="8524875" y="6229350"/>
            <a:ext cx="30575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F5F3E9"/>
                </a:solidFill>
                <a:latin typeface="Avenir Next"/>
                <a:ea typeface="Avenir Next"/>
                <a:cs typeface="Avenir Next"/>
              </a:defRPr>
            </a:defPPr>
            <a:lvl1pPr>
              <a:defRPr sz="1350" b="0">
                <a:solidFill>
                  <a:srgbClr val="F5F3E9"/>
                </a:solidFill>
                <a:latin typeface="Avenir Next"/>
                <a:ea typeface="Avenir Next"/>
                <a:cs typeface="Avenir Next"/>
              </a:defRPr>
            </a:lvl1pPr>
            <a:lvl2pPr>
              <a:defRPr sz="1350" b="0">
                <a:solidFill>
                  <a:srgbClr val="F5F3E9"/>
                </a:solidFill>
                <a:latin typeface="Avenir Next"/>
                <a:ea typeface="Avenir Next"/>
                <a:cs typeface="Avenir Next"/>
              </a:defRPr>
            </a:lvl2pPr>
            <a:lvl3pPr>
              <a:defRPr sz="1350" b="0">
                <a:solidFill>
                  <a:srgbClr val="F5F3E9"/>
                </a:solidFill>
                <a:latin typeface="Avenir Next"/>
                <a:ea typeface="Avenir Next"/>
                <a:cs typeface="Avenir Next"/>
              </a:defRPr>
            </a:lvl3pPr>
            <a:lvl4pPr>
              <a:defRPr sz="1350" b="0">
                <a:solidFill>
                  <a:srgbClr val="F5F3E9"/>
                </a:solidFill>
                <a:latin typeface="Avenir Next"/>
                <a:ea typeface="Avenir Next"/>
                <a:cs typeface="Avenir Next"/>
              </a:defRPr>
            </a:lvl4pPr>
            <a:lvl5pPr>
              <a:defRPr sz="1350" b="0">
                <a:solidFill>
                  <a:srgbClr val="F5F3E9"/>
                </a:solidFill>
                <a:latin typeface="Avenir Next"/>
                <a:ea typeface="Avenir Next"/>
                <a:cs typeface="Avenir Next"/>
              </a:defRPr>
            </a:lvl5pPr>
            <a:lvl6pPr>
              <a:defRPr sz="1350" b="0">
                <a:solidFill>
                  <a:srgbClr val="F5F3E9"/>
                </a:solidFill>
                <a:latin typeface="Avenir Next"/>
                <a:ea typeface="Avenir Next"/>
                <a:cs typeface="Avenir Next"/>
              </a:defRPr>
            </a:lvl6pPr>
            <a:lvl7pPr>
              <a:defRPr sz="1350" b="0">
                <a:solidFill>
                  <a:srgbClr val="F5F3E9"/>
                </a:solidFill>
                <a:latin typeface="Avenir Next"/>
                <a:ea typeface="Avenir Next"/>
                <a:cs typeface="Avenir Next"/>
              </a:defRPr>
            </a:lvl7pPr>
            <a:lvl8pPr>
              <a:defRPr sz="1350" b="0">
                <a:solidFill>
                  <a:srgbClr val="F5F3E9"/>
                </a:solidFill>
                <a:latin typeface="Avenir Next"/>
                <a:ea typeface="Avenir Next"/>
                <a:cs typeface="Avenir Next"/>
              </a:defRPr>
            </a:lvl8pPr>
            <a:lvl9pPr>
              <a:defRPr sz="1350" b="0">
                <a:solidFill>
                  <a:srgbClr val="F5F3E9"/>
                </a:solidFill>
                <a:latin typeface="Avenir Next"/>
                <a:ea typeface="Avenir Next"/>
                <a:cs typeface="Avenir Next"/>
              </a:defRPr>
            </a:lvl9pPr>
          </a:lstStyle>
          <a:p xmlns:a="http://schemas.openxmlformats.org/drawingml/2006/main">
            <a:pPr>
              <a:defRPr sz="1350" b="0">
                <a:solidFill>
                  <a:srgbClr val="F5F3E9"/>
                </a:solidFill>
                <a:latin typeface="Avenir Next"/>
                <a:ea typeface="Avenir Next"/>
                <a:cs typeface="Avenir Next"/>
              </a:defRPr>
            </a:pPr>
            <a:r>
              <a:rPr sz="1350" b="0">
                <a:solidFill>
                  <a:srgbClr val="F5F3E9"/>
                </a:solidFill>
                <a:latin typeface="Avenir Next"/>
                <a:ea typeface="Avenir Next"/>
                <a:cs typeface="Avenir Next"/>
              </a:rPr>
              <a:t>30–80% de pérdida de producción</a:t>
            </a:r>
          </a:p>
          <a:p xmlns:a="http://schemas.openxmlformats.org/drawingml/2006/main">
            <a:pPr>
              <a:defRPr sz="1350" b="0">
                <a:solidFill>
                  <a:srgbClr val="F5F3E9"/>
                </a:solidFill>
                <a:latin typeface="Avenir Next"/>
                <a:ea typeface="Avenir Next"/>
                <a:cs typeface="Avenir Next"/>
              </a:defRPr>
            </a:pPr>
            <a:r>
              <a:rPr sz="1350" b="0">
                <a:solidFill>
                  <a:srgbClr val="F5F3E9"/>
                </a:solidFill>
                <a:latin typeface="Avenir Next"/>
                <a:ea typeface="Avenir Next"/>
                <a:cs typeface="Avenir Next"/>
              </a:rPr>
              <a:t>INIA, 2011</a:t>
            </a:r>
          </a:p>
        </p:txBody>
      </p:sp>
    </p:spTree>
    <p:extLst>
      <p:ext uri="{BB962C8B-B14F-4D97-AF65-F5344CB8AC3E}">
        <p14:creationId xmlns:p14="http://schemas.microsoft.com/office/powerpoint/2010/main" val="86469114"/>
      </p:ext>
    </p:extLst>
  </p:cSld>
</p:sld>
</file>

<file path=ppt/slides/slide2.xml><?xml version="1.0" encoding="utf-8"?>
<p:sld xmlns:p="http://schemas.openxmlformats.org/presentationml/2006/main">
  <p:cSld>
    <p:bg>
      <p:bgPr>
        <a:solidFill xmlns:a="http://schemas.openxmlformats.org/drawingml/2006/main">
          <a:srgbClr val="F5F3E9"/>
        </a:solidFill>
      </p:bgPr>
    </p:bg>
    <p:spTree>
      <p:nvGrpSpPr>
        <p:cNvPr id="1" name=""/>
        <p:cNvGrpSpPr/>
        <p:nvPr/>
      </p:nvGrpSpPr>
      <p:grpSpPr>
        <a:xfrm xmlns:a="http://schemas.openxmlformats.org/drawingml/2006/main"/>
      </p:grpSpPr>
      <p:sp>
        <p:nvSpPr>
          <p:cNvPr id="10" name="Visión entrenada con fotos reales">
            <a:extLst xmlns:a="http://schemas.openxmlformats.org/drawingml/2006/main">
              <a:ext uri="{FF2B5EF4-FFF2-40B4-BE49-F238E27FC236}">
                <a16:creationId xmlns:a16="http://schemas.microsoft.com/office/drawing/2014/main" id="{BE47E0E9-09B8-45E4-BC1A-CCAED028DCC7}"/>
              </a:ext>
            </a:extLst>
          </p:cNvPr>
          <p:cNvSpPr>
            <a:spLocks xmlns:a="http://schemas.openxmlformats.org/drawingml/2006/main" noGrp="1"/>
          </p:cNvSpPr>
          <p:nvPr/>
        </p:nvSpPr>
        <p:spPr>
          <a:xfrm xmlns:a="http://schemas.openxmlformats.org/drawingml/2006/main">
            <a:off x="609600" y="54292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233B2B"/>
                </a:solidFill>
                <a:latin typeface="Avenir Next"/>
                <a:ea typeface="Avenir Next"/>
                <a:cs typeface="Avenir Next"/>
              </a:defRPr>
            </a:defPPr>
            <a:lvl1pPr>
              <a:defRPr sz="3600" b="1">
                <a:solidFill>
                  <a:srgbClr val="233B2B"/>
                </a:solidFill>
                <a:latin typeface="Avenir Next"/>
                <a:ea typeface="Avenir Next"/>
                <a:cs typeface="Avenir Next"/>
              </a:defRPr>
            </a:lvl1pPr>
            <a:lvl2pPr>
              <a:defRPr sz="3600" b="1">
                <a:solidFill>
                  <a:srgbClr val="233B2B"/>
                </a:solidFill>
                <a:latin typeface="Avenir Next"/>
                <a:ea typeface="Avenir Next"/>
                <a:cs typeface="Avenir Next"/>
              </a:defRPr>
            </a:lvl2pPr>
            <a:lvl3pPr>
              <a:defRPr sz="3600" b="1">
                <a:solidFill>
                  <a:srgbClr val="233B2B"/>
                </a:solidFill>
                <a:latin typeface="Avenir Next"/>
                <a:ea typeface="Avenir Next"/>
                <a:cs typeface="Avenir Next"/>
              </a:defRPr>
            </a:lvl3pPr>
            <a:lvl4pPr>
              <a:defRPr sz="3600" b="1">
                <a:solidFill>
                  <a:srgbClr val="233B2B"/>
                </a:solidFill>
                <a:latin typeface="Avenir Next"/>
                <a:ea typeface="Avenir Next"/>
                <a:cs typeface="Avenir Next"/>
              </a:defRPr>
            </a:lvl4pPr>
            <a:lvl5pPr>
              <a:defRPr sz="3600" b="1">
                <a:solidFill>
                  <a:srgbClr val="233B2B"/>
                </a:solidFill>
                <a:latin typeface="Avenir Next"/>
                <a:ea typeface="Avenir Next"/>
                <a:cs typeface="Avenir Next"/>
              </a:defRPr>
            </a:lvl5pPr>
            <a:lvl6pPr>
              <a:defRPr sz="3600" b="1">
                <a:solidFill>
                  <a:srgbClr val="233B2B"/>
                </a:solidFill>
                <a:latin typeface="Avenir Next"/>
                <a:ea typeface="Avenir Next"/>
                <a:cs typeface="Avenir Next"/>
              </a:defRPr>
            </a:lvl6pPr>
            <a:lvl7pPr>
              <a:defRPr sz="3600" b="1">
                <a:solidFill>
                  <a:srgbClr val="233B2B"/>
                </a:solidFill>
                <a:latin typeface="Avenir Next"/>
                <a:ea typeface="Avenir Next"/>
                <a:cs typeface="Avenir Next"/>
              </a:defRPr>
            </a:lvl7pPr>
            <a:lvl8pPr>
              <a:defRPr sz="3600" b="1">
                <a:solidFill>
                  <a:srgbClr val="233B2B"/>
                </a:solidFill>
                <a:latin typeface="Avenir Next"/>
                <a:ea typeface="Avenir Next"/>
                <a:cs typeface="Avenir Next"/>
              </a:defRPr>
            </a:lvl8pPr>
            <a:lvl9pPr>
              <a:defRPr sz="3600" b="1">
                <a:solidFill>
                  <a:srgbClr val="233B2B"/>
                </a:solidFill>
                <a:latin typeface="Avenir Next"/>
                <a:ea typeface="Avenir Next"/>
                <a:cs typeface="Avenir Next"/>
              </a:defRPr>
            </a:lvl9pPr>
          </a:lstStyle>
          <a:p xmlns:a="http://schemas.openxmlformats.org/drawingml/2006/main">
            <a:pPr>
              <a:defRPr sz="3600" b="1">
                <a:solidFill>
                  <a:srgbClr val="233B2B"/>
                </a:solidFill>
                <a:latin typeface="Avenir Next"/>
                <a:ea typeface="Avenir Next"/>
                <a:cs typeface="Avenir Next"/>
              </a:defRPr>
            </a:pPr>
            <a:r>
              <a:rPr sz="3600" b="1">
                <a:solidFill>
                  <a:srgbClr val="233B2B"/>
                </a:solidFill>
                <a:latin typeface="Avenir Next"/>
                <a:ea typeface="Avenir Next"/>
                <a:cs typeface="Avenir Next"/>
              </a:rPr>
              <a:t>Visión entrenada con fotos reales</a:t>
            </a:r>
          </a:p>
        </p:txBody>
      </p:sp>
      <p:sp>
        <p:nvSpPr>
          <p:cNvPr id="2" name="1,655">
            <a:extLst xmlns:a="http://schemas.openxmlformats.org/drawingml/2006/main">
              <a:ext uri="{FF2B5EF4-FFF2-40B4-BE49-F238E27FC236}">
                <a16:creationId xmlns:a16="http://schemas.microsoft.com/office/drawing/2014/main" id="{9821A93B-C59E-4E55-A736-0536D5450BD7}"/>
              </a:ext>
            </a:extLst>
          </p:cNvPr>
          <p:cNvSpPr>
            <a:spLocks xmlns:a="http://schemas.openxmlformats.org/drawingml/2006/main" noGrp="1"/>
          </p:cNvSpPr>
          <p:nvPr/>
        </p:nvSpPr>
        <p:spPr>
          <a:xfrm xmlns:a="http://schemas.openxmlformats.org/drawingml/2006/main">
            <a:off x="609600" y="1752600"/>
            <a:ext cx="6762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6300" b="1">
                <a:solidFill>
                  <a:srgbClr val="17392B"/>
                </a:solidFill>
                <a:latin typeface="Avenir Next"/>
                <a:ea typeface="Avenir Next"/>
                <a:cs typeface="Avenir Next"/>
              </a:defRPr>
            </a:defPPr>
            <a:lvl1pPr>
              <a:defRPr sz="6300" b="1">
                <a:solidFill>
                  <a:srgbClr val="17392B"/>
                </a:solidFill>
                <a:latin typeface="Avenir Next"/>
                <a:ea typeface="Avenir Next"/>
                <a:cs typeface="Avenir Next"/>
              </a:defRPr>
            </a:lvl1pPr>
            <a:lvl2pPr>
              <a:defRPr sz="6300" b="1">
                <a:solidFill>
                  <a:srgbClr val="17392B"/>
                </a:solidFill>
                <a:latin typeface="Avenir Next"/>
                <a:ea typeface="Avenir Next"/>
                <a:cs typeface="Avenir Next"/>
              </a:defRPr>
            </a:lvl2pPr>
            <a:lvl3pPr>
              <a:defRPr sz="6300" b="1">
                <a:solidFill>
                  <a:srgbClr val="17392B"/>
                </a:solidFill>
                <a:latin typeface="Avenir Next"/>
                <a:ea typeface="Avenir Next"/>
                <a:cs typeface="Avenir Next"/>
              </a:defRPr>
            </a:lvl3pPr>
            <a:lvl4pPr>
              <a:defRPr sz="6300" b="1">
                <a:solidFill>
                  <a:srgbClr val="17392B"/>
                </a:solidFill>
                <a:latin typeface="Avenir Next"/>
                <a:ea typeface="Avenir Next"/>
                <a:cs typeface="Avenir Next"/>
              </a:defRPr>
            </a:lvl4pPr>
            <a:lvl5pPr>
              <a:defRPr sz="6300" b="1">
                <a:solidFill>
                  <a:srgbClr val="17392B"/>
                </a:solidFill>
                <a:latin typeface="Avenir Next"/>
                <a:ea typeface="Avenir Next"/>
                <a:cs typeface="Avenir Next"/>
              </a:defRPr>
            </a:lvl5pPr>
            <a:lvl6pPr>
              <a:defRPr sz="6300" b="1">
                <a:solidFill>
                  <a:srgbClr val="17392B"/>
                </a:solidFill>
                <a:latin typeface="Avenir Next"/>
                <a:ea typeface="Avenir Next"/>
                <a:cs typeface="Avenir Next"/>
              </a:defRPr>
            </a:lvl6pPr>
            <a:lvl7pPr>
              <a:defRPr sz="6300" b="1">
                <a:solidFill>
                  <a:srgbClr val="17392B"/>
                </a:solidFill>
                <a:latin typeface="Avenir Next"/>
                <a:ea typeface="Avenir Next"/>
                <a:cs typeface="Avenir Next"/>
              </a:defRPr>
            </a:lvl7pPr>
            <a:lvl8pPr>
              <a:defRPr sz="6300" b="1">
                <a:solidFill>
                  <a:srgbClr val="17392B"/>
                </a:solidFill>
                <a:latin typeface="Avenir Next"/>
                <a:ea typeface="Avenir Next"/>
                <a:cs typeface="Avenir Next"/>
              </a:defRPr>
            </a:lvl8pPr>
            <a:lvl9pPr>
              <a:defRPr sz="6300" b="1">
                <a:solidFill>
                  <a:srgbClr val="17392B"/>
                </a:solidFill>
                <a:latin typeface="Avenir Next"/>
                <a:ea typeface="Avenir Next"/>
                <a:cs typeface="Avenir Next"/>
              </a:defRPr>
            </a:lvl9pPr>
          </a:lstStyle>
          <a:p xmlns:a="http://schemas.openxmlformats.org/drawingml/2006/main">
            <a:pPr>
              <a:defRPr sz="6300" b="1">
                <a:solidFill>
                  <a:srgbClr val="17392B"/>
                </a:solidFill>
                <a:latin typeface="Avenir Next"/>
                <a:ea typeface="Avenir Next"/>
                <a:cs typeface="Avenir Next"/>
              </a:defRPr>
            </a:pPr>
            <a:r>
              <a:rPr sz="6300" b="1">
                <a:solidFill>
                  <a:srgbClr val="17392B"/>
                </a:solidFill>
                <a:latin typeface="Avenir Next"/>
                <a:ea typeface="Avenir Next"/>
                <a:cs typeface="Avenir Next"/>
              </a:rPr>
              <a:t>1,655</a:t>
            </a:r>
          </a:p>
        </p:txBody>
      </p:sp>
      <p:sp>
        <p:nvSpPr>
          <p:cNvPr id="3" name="fotos de entrenamiento">
            <a:extLst xmlns:a="http://schemas.openxmlformats.org/drawingml/2006/main">
              <a:ext uri="{FF2B5EF4-FFF2-40B4-BE49-F238E27FC236}">
                <a16:creationId xmlns:a16="http://schemas.microsoft.com/office/drawing/2014/main" id="{B9CE83C7-6930-43AE-818C-CFBD7ADCE2D6}"/>
              </a:ext>
            </a:extLst>
          </p:cNvPr>
          <p:cNvSpPr>
            <a:spLocks xmlns:a="http://schemas.openxmlformats.org/drawingml/2006/main" noGrp="1"/>
          </p:cNvSpPr>
          <p:nvPr/>
        </p:nvSpPr>
        <p:spPr>
          <a:xfrm xmlns:a="http://schemas.openxmlformats.org/drawingml/2006/main">
            <a:off x="609600" y="2924175"/>
            <a:ext cx="6762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233B2B"/>
                </a:solidFill>
                <a:latin typeface="Avenir Next"/>
                <a:ea typeface="Avenir Next"/>
                <a:cs typeface="Avenir Next"/>
              </a:defRPr>
            </a:defPPr>
            <a:lvl1pPr>
              <a:defRPr sz="2325" b="0">
                <a:solidFill>
                  <a:srgbClr val="233B2B"/>
                </a:solidFill>
                <a:latin typeface="Avenir Next"/>
                <a:ea typeface="Avenir Next"/>
                <a:cs typeface="Avenir Next"/>
              </a:defRPr>
            </a:lvl1pPr>
            <a:lvl2pPr>
              <a:defRPr sz="2325" b="0">
                <a:solidFill>
                  <a:srgbClr val="233B2B"/>
                </a:solidFill>
                <a:latin typeface="Avenir Next"/>
                <a:ea typeface="Avenir Next"/>
                <a:cs typeface="Avenir Next"/>
              </a:defRPr>
            </a:lvl2pPr>
            <a:lvl3pPr>
              <a:defRPr sz="2325" b="0">
                <a:solidFill>
                  <a:srgbClr val="233B2B"/>
                </a:solidFill>
                <a:latin typeface="Avenir Next"/>
                <a:ea typeface="Avenir Next"/>
                <a:cs typeface="Avenir Next"/>
              </a:defRPr>
            </a:lvl3pPr>
            <a:lvl4pPr>
              <a:defRPr sz="2325" b="0">
                <a:solidFill>
                  <a:srgbClr val="233B2B"/>
                </a:solidFill>
                <a:latin typeface="Avenir Next"/>
                <a:ea typeface="Avenir Next"/>
                <a:cs typeface="Avenir Next"/>
              </a:defRPr>
            </a:lvl4pPr>
            <a:lvl5pPr>
              <a:defRPr sz="2325" b="0">
                <a:solidFill>
                  <a:srgbClr val="233B2B"/>
                </a:solidFill>
                <a:latin typeface="Avenir Next"/>
                <a:ea typeface="Avenir Next"/>
                <a:cs typeface="Avenir Next"/>
              </a:defRPr>
            </a:lvl5pPr>
            <a:lvl6pPr>
              <a:defRPr sz="2325" b="0">
                <a:solidFill>
                  <a:srgbClr val="233B2B"/>
                </a:solidFill>
                <a:latin typeface="Avenir Next"/>
                <a:ea typeface="Avenir Next"/>
                <a:cs typeface="Avenir Next"/>
              </a:defRPr>
            </a:lvl6pPr>
            <a:lvl7pPr>
              <a:defRPr sz="2325" b="0">
                <a:solidFill>
                  <a:srgbClr val="233B2B"/>
                </a:solidFill>
                <a:latin typeface="Avenir Next"/>
                <a:ea typeface="Avenir Next"/>
                <a:cs typeface="Avenir Next"/>
              </a:defRPr>
            </a:lvl7pPr>
            <a:lvl8pPr>
              <a:defRPr sz="2325" b="0">
                <a:solidFill>
                  <a:srgbClr val="233B2B"/>
                </a:solidFill>
                <a:latin typeface="Avenir Next"/>
                <a:ea typeface="Avenir Next"/>
                <a:cs typeface="Avenir Next"/>
              </a:defRPr>
            </a:lvl8pPr>
            <a:lvl9pPr>
              <a:defRPr sz="2325" b="0">
                <a:solidFill>
                  <a:srgbClr val="233B2B"/>
                </a:solidFill>
                <a:latin typeface="Avenir Next"/>
                <a:ea typeface="Avenir Next"/>
                <a:cs typeface="Avenir Next"/>
              </a:defRPr>
            </a:lvl9pPr>
          </a:lstStyle>
          <a:p xmlns:a="http://schemas.openxmlformats.org/drawingml/2006/main">
            <a:pPr>
              <a:defRPr sz="2325" b="0">
                <a:solidFill>
                  <a:srgbClr val="233B2B"/>
                </a:solidFill>
                <a:latin typeface="Avenir Next"/>
                <a:ea typeface="Avenir Next"/>
                <a:cs typeface="Avenir Next"/>
              </a:defRPr>
            </a:pPr>
            <a:r>
              <a:rPr sz="2325" b="0">
                <a:solidFill>
                  <a:srgbClr val="233B2B"/>
                </a:solidFill>
                <a:latin typeface="Avenir Next"/>
                <a:ea typeface="Avenir Next"/>
                <a:cs typeface="Avenir Next"/>
              </a:rPr>
              <a:t>fotos de entrenamiento</a:t>
            </a:r>
          </a:p>
        </p:txBody>
      </p:sp>
      <p:sp>
        <p:nvSpPr>
          <p:cNvPr id="4" name="191 / 200">
            <a:extLst xmlns:a="http://schemas.openxmlformats.org/drawingml/2006/main">
              <a:ext uri="{FF2B5EF4-FFF2-40B4-BE49-F238E27FC236}">
                <a16:creationId xmlns:a16="http://schemas.microsoft.com/office/drawing/2014/main" id="{B123CFB6-F77D-4D7B-A59A-E21A09E86B1C}"/>
              </a:ext>
            </a:extLst>
          </p:cNvPr>
          <p:cNvSpPr>
            <a:spLocks xmlns:a="http://schemas.openxmlformats.org/drawingml/2006/main" noGrp="1"/>
          </p:cNvSpPr>
          <p:nvPr/>
        </p:nvSpPr>
        <p:spPr>
          <a:xfrm xmlns:a="http://schemas.openxmlformats.org/drawingml/2006/main">
            <a:off x="609600" y="3886200"/>
            <a:ext cx="676275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875" b="1">
                <a:solidFill>
                  <a:srgbClr val="17392B"/>
                </a:solidFill>
                <a:latin typeface="Avenir Next"/>
                <a:ea typeface="Avenir Next"/>
                <a:cs typeface="Avenir Next"/>
              </a:defRPr>
            </a:defPPr>
            <a:lvl1pPr>
              <a:defRPr sz="4875" b="1">
                <a:solidFill>
                  <a:srgbClr val="17392B"/>
                </a:solidFill>
                <a:latin typeface="Avenir Next"/>
                <a:ea typeface="Avenir Next"/>
                <a:cs typeface="Avenir Next"/>
              </a:defRPr>
            </a:lvl1pPr>
            <a:lvl2pPr>
              <a:defRPr sz="4875" b="1">
                <a:solidFill>
                  <a:srgbClr val="17392B"/>
                </a:solidFill>
                <a:latin typeface="Avenir Next"/>
                <a:ea typeface="Avenir Next"/>
                <a:cs typeface="Avenir Next"/>
              </a:defRPr>
            </a:lvl2pPr>
            <a:lvl3pPr>
              <a:defRPr sz="4875" b="1">
                <a:solidFill>
                  <a:srgbClr val="17392B"/>
                </a:solidFill>
                <a:latin typeface="Avenir Next"/>
                <a:ea typeface="Avenir Next"/>
                <a:cs typeface="Avenir Next"/>
              </a:defRPr>
            </a:lvl3pPr>
            <a:lvl4pPr>
              <a:defRPr sz="4875" b="1">
                <a:solidFill>
                  <a:srgbClr val="17392B"/>
                </a:solidFill>
                <a:latin typeface="Avenir Next"/>
                <a:ea typeface="Avenir Next"/>
                <a:cs typeface="Avenir Next"/>
              </a:defRPr>
            </a:lvl4pPr>
            <a:lvl5pPr>
              <a:defRPr sz="4875" b="1">
                <a:solidFill>
                  <a:srgbClr val="17392B"/>
                </a:solidFill>
                <a:latin typeface="Avenir Next"/>
                <a:ea typeface="Avenir Next"/>
                <a:cs typeface="Avenir Next"/>
              </a:defRPr>
            </a:lvl5pPr>
            <a:lvl6pPr>
              <a:defRPr sz="4875" b="1">
                <a:solidFill>
                  <a:srgbClr val="17392B"/>
                </a:solidFill>
                <a:latin typeface="Avenir Next"/>
                <a:ea typeface="Avenir Next"/>
                <a:cs typeface="Avenir Next"/>
              </a:defRPr>
            </a:lvl6pPr>
            <a:lvl7pPr>
              <a:defRPr sz="4875" b="1">
                <a:solidFill>
                  <a:srgbClr val="17392B"/>
                </a:solidFill>
                <a:latin typeface="Avenir Next"/>
                <a:ea typeface="Avenir Next"/>
                <a:cs typeface="Avenir Next"/>
              </a:defRPr>
            </a:lvl7pPr>
            <a:lvl8pPr>
              <a:defRPr sz="4875" b="1">
                <a:solidFill>
                  <a:srgbClr val="17392B"/>
                </a:solidFill>
                <a:latin typeface="Avenir Next"/>
                <a:ea typeface="Avenir Next"/>
                <a:cs typeface="Avenir Next"/>
              </a:defRPr>
            </a:lvl8pPr>
            <a:lvl9pPr>
              <a:defRPr sz="4875" b="1">
                <a:solidFill>
                  <a:srgbClr val="17392B"/>
                </a:solidFill>
                <a:latin typeface="Avenir Next"/>
                <a:ea typeface="Avenir Next"/>
                <a:cs typeface="Avenir Next"/>
              </a:defRPr>
            </a:lvl9pPr>
          </a:lstStyle>
          <a:p xmlns:a="http://schemas.openxmlformats.org/drawingml/2006/main">
            <a:pPr>
              <a:defRPr sz="4875" b="1">
                <a:solidFill>
                  <a:srgbClr val="17392B"/>
                </a:solidFill>
                <a:latin typeface="Avenir Next"/>
                <a:ea typeface="Avenir Next"/>
                <a:cs typeface="Avenir Next"/>
              </a:defRPr>
            </a:pPr>
            <a:r>
              <a:rPr sz="4875" b="1">
                <a:solidFill>
                  <a:srgbClr val="17392B"/>
                </a:solidFill>
                <a:latin typeface="Avenir Next"/>
                <a:ea typeface="Avenir Next"/>
                <a:cs typeface="Avenir Next"/>
              </a:rPr>
              <a:t>191 / 200</a:t>
            </a:r>
          </a:p>
        </p:txBody>
      </p:sp>
      <p:sp>
        <p:nvSpPr>
          <p:cNvPr id="5" name="fotos con Monilia activaron alerta">
            <a:extLst xmlns:a="http://schemas.openxmlformats.org/drawingml/2006/main">
              <a:ext uri="{FF2B5EF4-FFF2-40B4-BE49-F238E27FC236}">
                <a16:creationId xmlns:a16="http://schemas.microsoft.com/office/drawing/2014/main" id="{501E3430-F48E-4D36-967B-CF494E295E44}"/>
              </a:ext>
            </a:extLst>
          </p:cNvPr>
          <p:cNvSpPr>
            <a:spLocks xmlns:a="http://schemas.openxmlformats.org/drawingml/2006/main" noGrp="1"/>
          </p:cNvSpPr>
          <p:nvPr/>
        </p:nvSpPr>
        <p:spPr>
          <a:xfrm xmlns:a="http://schemas.openxmlformats.org/drawingml/2006/main">
            <a:off x="609600" y="4838700"/>
            <a:ext cx="6858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233B2B"/>
                </a:solidFill>
                <a:latin typeface="Avenir Next"/>
                <a:ea typeface="Avenir Next"/>
                <a:cs typeface="Avenir Next"/>
              </a:defRPr>
            </a:defPPr>
            <a:lvl1pPr>
              <a:defRPr sz="2100" b="0">
                <a:solidFill>
                  <a:srgbClr val="233B2B"/>
                </a:solidFill>
                <a:latin typeface="Avenir Next"/>
                <a:ea typeface="Avenir Next"/>
                <a:cs typeface="Avenir Next"/>
              </a:defRPr>
            </a:lvl1pPr>
            <a:lvl2pPr>
              <a:defRPr sz="2100" b="0">
                <a:solidFill>
                  <a:srgbClr val="233B2B"/>
                </a:solidFill>
                <a:latin typeface="Avenir Next"/>
                <a:ea typeface="Avenir Next"/>
                <a:cs typeface="Avenir Next"/>
              </a:defRPr>
            </a:lvl2pPr>
            <a:lvl3pPr>
              <a:defRPr sz="2100" b="0">
                <a:solidFill>
                  <a:srgbClr val="233B2B"/>
                </a:solidFill>
                <a:latin typeface="Avenir Next"/>
                <a:ea typeface="Avenir Next"/>
                <a:cs typeface="Avenir Next"/>
              </a:defRPr>
            </a:lvl3pPr>
            <a:lvl4pPr>
              <a:defRPr sz="2100" b="0">
                <a:solidFill>
                  <a:srgbClr val="233B2B"/>
                </a:solidFill>
                <a:latin typeface="Avenir Next"/>
                <a:ea typeface="Avenir Next"/>
                <a:cs typeface="Avenir Next"/>
              </a:defRPr>
            </a:lvl4pPr>
            <a:lvl5pPr>
              <a:defRPr sz="2100" b="0">
                <a:solidFill>
                  <a:srgbClr val="233B2B"/>
                </a:solidFill>
                <a:latin typeface="Avenir Next"/>
                <a:ea typeface="Avenir Next"/>
                <a:cs typeface="Avenir Next"/>
              </a:defRPr>
            </a:lvl5pPr>
            <a:lvl6pPr>
              <a:defRPr sz="2100" b="0">
                <a:solidFill>
                  <a:srgbClr val="233B2B"/>
                </a:solidFill>
                <a:latin typeface="Avenir Next"/>
                <a:ea typeface="Avenir Next"/>
                <a:cs typeface="Avenir Next"/>
              </a:defRPr>
            </a:lvl6pPr>
            <a:lvl7pPr>
              <a:defRPr sz="2100" b="0">
                <a:solidFill>
                  <a:srgbClr val="233B2B"/>
                </a:solidFill>
                <a:latin typeface="Avenir Next"/>
                <a:ea typeface="Avenir Next"/>
                <a:cs typeface="Avenir Next"/>
              </a:defRPr>
            </a:lvl7pPr>
            <a:lvl8pPr>
              <a:defRPr sz="2100" b="0">
                <a:solidFill>
                  <a:srgbClr val="233B2B"/>
                </a:solidFill>
                <a:latin typeface="Avenir Next"/>
                <a:ea typeface="Avenir Next"/>
                <a:cs typeface="Avenir Next"/>
              </a:defRPr>
            </a:lvl8pPr>
            <a:lvl9pPr>
              <a:defRPr sz="2100" b="0">
                <a:solidFill>
                  <a:srgbClr val="233B2B"/>
                </a:solidFill>
                <a:latin typeface="Avenir Next"/>
                <a:ea typeface="Avenir Next"/>
                <a:cs typeface="Avenir Next"/>
              </a:defRPr>
            </a:lvl9pPr>
          </a:lstStyle>
          <a:p xmlns:a="http://schemas.openxmlformats.org/drawingml/2006/main">
            <a:pPr>
              <a:defRPr sz="2100" b="0">
                <a:solidFill>
                  <a:srgbClr val="233B2B"/>
                </a:solidFill>
                <a:latin typeface="Avenir Next"/>
                <a:ea typeface="Avenir Next"/>
                <a:cs typeface="Avenir Next"/>
              </a:defRPr>
            </a:pPr>
            <a:r>
              <a:rPr sz="2100" b="0">
                <a:solidFill>
                  <a:srgbClr val="233B2B"/>
                </a:solidFill>
                <a:latin typeface="Avenir Next"/>
                <a:ea typeface="Avenir Next"/>
                <a:cs typeface="Avenir Next"/>
              </a:rPr>
              <a:t>fotos con Monilia activaron alerta</a:t>
            </a:r>
          </a:p>
        </p:txBody>
      </p:sp>
      <p:sp>
        <p:nvSpPr>
          <p:cNvPr id="6" name="8 / 199 fotos sanas con alerta">
            <a:extLst xmlns:a="http://schemas.openxmlformats.org/drawingml/2006/main">
              <a:ext uri="{FF2B5EF4-FFF2-40B4-BE49-F238E27FC236}">
                <a16:creationId xmlns:a16="http://schemas.microsoft.com/office/drawing/2014/main" id="{C9152CF7-211D-412D-90EA-AEB60E5AB2B6}"/>
              </a:ext>
            </a:extLst>
          </p:cNvPr>
          <p:cNvSpPr>
            <a:spLocks xmlns:a="http://schemas.openxmlformats.org/drawingml/2006/main" noGrp="1"/>
          </p:cNvSpPr>
          <p:nvPr/>
        </p:nvSpPr>
        <p:spPr>
          <a:xfrm xmlns:a="http://schemas.openxmlformats.org/drawingml/2006/main">
            <a:off x="609600" y="5610225"/>
            <a:ext cx="676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596957"/>
                </a:solidFill>
                <a:latin typeface="Avenir Next"/>
                <a:ea typeface="Avenir Next"/>
                <a:cs typeface="Avenir Next"/>
              </a:defRPr>
            </a:defPPr>
            <a:lvl1pPr>
              <a:defRPr sz="1950" b="0">
                <a:solidFill>
                  <a:srgbClr val="596957"/>
                </a:solidFill>
                <a:latin typeface="Avenir Next"/>
                <a:ea typeface="Avenir Next"/>
                <a:cs typeface="Avenir Next"/>
              </a:defRPr>
            </a:lvl1pPr>
            <a:lvl2pPr>
              <a:defRPr sz="1950" b="0">
                <a:solidFill>
                  <a:srgbClr val="596957"/>
                </a:solidFill>
                <a:latin typeface="Avenir Next"/>
                <a:ea typeface="Avenir Next"/>
                <a:cs typeface="Avenir Next"/>
              </a:defRPr>
            </a:lvl2pPr>
            <a:lvl3pPr>
              <a:defRPr sz="1950" b="0">
                <a:solidFill>
                  <a:srgbClr val="596957"/>
                </a:solidFill>
                <a:latin typeface="Avenir Next"/>
                <a:ea typeface="Avenir Next"/>
                <a:cs typeface="Avenir Next"/>
              </a:defRPr>
            </a:lvl3pPr>
            <a:lvl4pPr>
              <a:defRPr sz="1950" b="0">
                <a:solidFill>
                  <a:srgbClr val="596957"/>
                </a:solidFill>
                <a:latin typeface="Avenir Next"/>
                <a:ea typeface="Avenir Next"/>
                <a:cs typeface="Avenir Next"/>
              </a:defRPr>
            </a:lvl4pPr>
            <a:lvl5pPr>
              <a:defRPr sz="1950" b="0">
                <a:solidFill>
                  <a:srgbClr val="596957"/>
                </a:solidFill>
                <a:latin typeface="Avenir Next"/>
                <a:ea typeface="Avenir Next"/>
                <a:cs typeface="Avenir Next"/>
              </a:defRPr>
            </a:lvl5pPr>
            <a:lvl6pPr>
              <a:defRPr sz="1950" b="0">
                <a:solidFill>
                  <a:srgbClr val="596957"/>
                </a:solidFill>
                <a:latin typeface="Avenir Next"/>
                <a:ea typeface="Avenir Next"/>
                <a:cs typeface="Avenir Next"/>
              </a:defRPr>
            </a:lvl6pPr>
            <a:lvl7pPr>
              <a:defRPr sz="1950" b="0">
                <a:solidFill>
                  <a:srgbClr val="596957"/>
                </a:solidFill>
                <a:latin typeface="Avenir Next"/>
                <a:ea typeface="Avenir Next"/>
                <a:cs typeface="Avenir Next"/>
              </a:defRPr>
            </a:lvl7pPr>
            <a:lvl8pPr>
              <a:defRPr sz="1950" b="0">
                <a:solidFill>
                  <a:srgbClr val="596957"/>
                </a:solidFill>
                <a:latin typeface="Avenir Next"/>
                <a:ea typeface="Avenir Next"/>
                <a:cs typeface="Avenir Next"/>
              </a:defRPr>
            </a:lvl8pPr>
            <a:lvl9pPr>
              <a:defRPr sz="1950" b="0">
                <a:solidFill>
                  <a:srgbClr val="596957"/>
                </a:solidFill>
                <a:latin typeface="Avenir Next"/>
                <a:ea typeface="Avenir Next"/>
                <a:cs typeface="Avenir Next"/>
              </a:defRPr>
            </a:lvl9pPr>
          </a:lstStyle>
          <a:p xmlns:a="http://schemas.openxmlformats.org/drawingml/2006/main">
            <a:pPr>
              <a:defRPr sz="1950" b="0">
                <a:solidFill>
                  <a:srgbClr val="596957"/>
                </a:solidFill>
                <a:latin typeface="Avenir Next"/>
                <a:ea typeface="Avenir Next"/>
                <a:cs typeface="Avenir Next"/>
              </a:defRPr>
            </a:pPr>
            <a:r>
              <a:rPr sz="1950" b="0">
                <a:solidFill>
                  <a:srgbClr val="596957"/>
                </a:solidFill>
                <a:latin typeface="Avenir Next"/>
                <a:ea typeface="Avenir Next"/>
                <a:cs typeface="Avenir Next"/>
              </a:rPr>
              <a:t>8 / 199 fotos sanas con alerta</a:t>
            </a:r>
          </a:p>
        </p:txBody>
      </p:sp>
      <p:pic>
        <p:nvPicPr>
          <p:cNvPr id="7" name="">
            <a:extLst xmlns:a="http://schemas.openxmlformats.org/drawingml/2006/main">
              <a:ext uri="{FF2B5EF4-FFF2-40B4-BE49-F238E27FC236}">
                <a16:creationId xmlns:a16="http://schemas.microsoft.com/office/drawing/2014/main" id="{BEF8494B-2B22-480E-8222-88E9DFEF6B35}"/>
              </a:ext>
            </a:extLst>
          </p:cNvPr>
          <p:cNvPicPr>
            <a:picLocks xmlns:a="http://schemas.openxmlformats.org/drawingml/2006/main" noChangeAspect="1"/>
          </p:cNvPicPr>
          <p:nvPr/>
        </p:nvPicPr>
        <p:blipFill>
          <a:blip xmlns:r="http://schemas.openxmlformats.org/officeDocument/2006/relationships" xmlns:a="http://schemas.openxmlformats.org/drawingml/2006/main" r:embed="Rbe825693c0d54234"/>
          <a:stretch xmlns:a="http://schemas.openxmlformats.org/drawingml/2006/main"/>
        </p:blipFill>
        <p:spPr>
          <a:xfrm xmlns:a="http://schemas.openxmlformats.org/drawingml/2006/main">
            <a:off x="8001000" y="1695450"/>
            <a:ext cx="3000375" cy="4000500"/>
          </a:xfrm>
          <a:prstGeom xmlns:a="http://schemas.openxmlformats.org/drawingml/2006/main" prst="rect">
            <a:avLst/>
          </a:prstGeom>
        </p:spPr>
      </p:pic>
      <p:sp>
        <p:nvSpPr>
          <p:cNvPr id="8" name="YOLO11s. Foto de prueba.">
            <a:extLst xmlns:a="http://schemas.openxmlformats.org/drawingml/2006/main">
              <a:ext uri="{FF2B5EF4-FFF2-40B4-BE49-F238E27FC236}">
                <a16:creationId xmlns:a16="http://schemas.microsoft.com/office/drawing/2014/main" id="{8E258B65-2651-4C22-B5C3-AD7F26829006}"/>
              </a:ext>
            </a:extLst>
          </p:cNvPr>
          <p:cNvSpPr>
            <a:spLocks xmlns:a="http://schemas.openxmlformats.org/drawingml/2006/main" noGrp="1"/>
          </p:cNvSpPr>
          <p:nvPr/>
        </p:nvSpPr>
        <p:spPr>
          <a:xfrm xmlns:a="http://schemas.openxmlformats.org/drawingml/2006/main">
            <a:off x="7772400" y="5953125"/>
            <a:ext cx="3810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96957"/>
                </a:solidFill>
                <a:latin typeface="Avenir Next"/>
                <a:ea typeface="Avenir Next"/>
                <a:cs typeface="Avenir Next"/>
              </a:defRPr>
            </a:defPPr>
            <a:lvl1pPr>
              <a:defRPr sz="1500" b="0">
                <a:solidFill>
                  <a:srgbClr val="596957"/>
                </a:solidFill>
                <a:latin typeface="Avenir Next"/>
                <a:ea typeface="Avenir Next"/>
                <a:cs typeface="Avenir Next"/>
              </a:defRPr>
            </a:lvl1pPr>
            <a:lvl2pPr>
              <a:defRPr sz="1500" b="0">
                <a:solidFill>
                  <a:srgbClr val="596957"/>
                </a:solidFill>
                <a:latin typeface="Avenir Next"/>
                <a:ea typeface="Avenir Next"/>
                <a:cs typeface="Avenir Next"/>
              </a:defRPr>
            </a:lvl2pPr>
            <a:lvl3pPr>
              <a:defRPr sz="1500" b="0">
                <a:solidFill>
                  <a:srgbClr val="596957"/>
                </a:solidFill>
                <a:latin typeface="Avenir Next"/>
                <a:ea typeface="Avenir Next"/>
                <a:cs typeface="Avenir Next"/>
              </a:defRPr>
            </a:lvl3pPr>
            <a:lvl4pPr>
              <a:defRPr sz="1500" b="0">
                <a:solidFill>
                  <a:srgbClr val="596957"/>
                </a:solidFill>
                <a:latin typeface="Avenir Next"/>
                <a:ea typeface="Avenir Next"/>
                <a:cs typeface="Avenir Next"/>
              </a:defRPr>
            </a:lvl4pPr>
            <a:lvl5pPr>
              <a:defRPr sz="1500" b="0">
                <a:solidFill>
                  <a:srgbClr val="596957"/>
                </a:solidFill>
                <a:latin typeface="Avenir Next"/>
                <a:ea typeface="Avenir Next"/>
                <a:cs typeface="Avenir Next"/>
              </a:defRPr>
            </a:lvl5pPr>
            <a:lvl6pPr>
              <a:defRPr sz="1500" b="0">
                <a:solidFill>
                  <a:srgbClr val="596957"/>
                </a:solidFill>
                <a:latin typeface="Avenir Next"/>
                <a:ea typeface="Avenir Next"/>
                <a:cs typeface="Avenir Next"/>
              </a:defRPr>
            </a:lvl6pPr>
            <a:lvl7pPr>
              <a:defRPr sz="1500" b="0">
                <a:solidFill>
                  <a:srgbClr val="596957"/>
                </a:solidFill>
                <a:latin typeface="Avenir Next"/>
                <a:ea typeface="Avenir Next"/>
                <a:cs typeface="Avenir Next"/>
              </a:defRPr>
            </a:lvl7pPr>
            <a:lvl8pPr>
              <a:defRPr sz="1500" b="0">
                <a:solidFill>
                  <a:srgbClr val="596957"/>
                </a:solidFill>
                <a:latin typeface="Avenir Next"/>
                <a:ea typeface="Avenir Next"/>
                <a:cs typeface="Avenir Next"/>
              </a:defRPr>
            </a:lvl8pPr>
            <a:lvl9pPr>
              <a:defRPr sz="1500" b="0">
                <a:solidFill>
                  <a:srgbClr val="596957"/>
                </a:solidFill>
                <a:latin typeface="Avenir Next"/>
                <a:ea typeface="Avenir Next"/>
                <a:cs typeface="Avenir Next"/>
              </a:defRPr>
            </a:lvl9pPr>
          </a:lstStyle>
          <a:p xmlns:a="http://schemas.openxmlformats.org/drawingml/2006/main">
            <a:pPr>
              <a:defRPr sz="1500" b="0">
                <a:solidFill>
                  <a:srgbClr val="596957"/>
                </a:solidFill>
                <a:latin typeface="Avenir Next"/>
                <a:ea typeface="Avenir Next"/>
                <a:cs typeface="Avenir Next"/>
              </a:defRPr>
            </a:pPr>
            <a:r>
              <a:rPr sz="1500" b="0">
                <a:solidFill>
                  <a:srgbClr val="596957"/>
                </a:solidFill>
                <a:latin typeface="Avenir Next"/>
                <a:ea typeface="Avenir Next"/>
                <a:cs typeface="Avenir Next"/>
              </a:rPr>
              <a:t>YOLO11s. Foto de prueba.</a:t>
            </a:r>
          </a:p>
        </p:txBody>
      </p:sp>
      <p:sp>
        <p:nvSpPr>
          <p:cNvPr id="9" name="Evaluación: 399 fotografías reales">
            <a:extLst xmlns:a="http://schemas.openxmlformats.org/drawingml/2006/main">
              <a:ext uri="{FF2B5EF4-FFF2-40B4-BE49-F238E27FC236}">
                <a16:creationId xmlns:a16="http://schemas.microsoft.com/office/drawing/2014/main" id="{7510F379-452B-428B-A651-8084A824E819}"/>
              </a:ext>
            </a:extLst>
          </p:cNvPr>
          <p:cNvSpPr>
            <a:spLocks xmlns:a="http://schemas.openxmlformats.org/drawingml/2006/main" noGrp="1"/>
          </p:cNvSpPr>
          <p:nvPr/>
        </p:nvSpPr>
        <p:spPr>
          <a:xfrm xmlns:a="http://schemas.openxmlformats.org/drawingml/2006/main">
            <a:off x="609600" y="641985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96957"/>
                </a:solidFill>
                <a:latin typeface="Avenir Next"/>
                <a:ea typeface="Avenir Next"/>
                <a:cs typeface="Avenir Next"/>
              </a:defRPr>
            </a:defPPr>
            <a:lvl1pPr>
              <a:defRPr sz="1500" b="0">
                <a:solidFill>
                  <a:srgbClr val="596957"/>
                </a:solidFill>
                <a:latin typeface="Avenir Next"/>
                <a:ea typeface="Avenir Next"/>
                <a:cs typeface="Avenir Next"/>
              </a:defRPr>
            </a:lvl1pPr>
            <a:lvl2pPr>
              <a:defRPr sz="1500" b="0">
                <a:solidFill>
                  <a:srgbClr val="596957"/>
                </a:solidFill>
                <a:latin typeface="Avenir Next"/>
                <a:ea typeface="Avenir Next"/>
                <a:cs typeface="Avenir Next"/>
              </a:defRPr>
            </a:lvl2pPr>
            <a:lvl3pPr>
              <a:defRPr sz="1500" b="0">
                <a:solidFill>
                  <a:srgbClr val="596957"/>
                </a:solidFill>
                <a:latin typeface="Avenir Next"/>
                <a:ea typeface="Avenir Next"/>
                <a:cs typeface="Avenir Next"/>
              </a:defRPr>
            </a:lvl3pPr>
            <a:lvl4pPr>
              <a:defRPr sz="1500" b="0">
                <a:solidFill>
                  <a:srgbClr val="596957"/>
                </a:solidFill>
                <a:latin typeface="Avenir Next"/>
                <a:ea typeface="Avenir Next"/>
                <a:cs typeface="Avenir Next"/>
              </a:defRPr>
            </a:lvl4pPr>
            <a:lvl5pPr>
              <a:defRPr sz="1500" b="0">
                <a:solidFill>
                  <a:srgbClr val="596957"/>
                </a:solidFill>
                <a:latin typeface="Avenir Next"/>
                <a:ea typeface="Avenir Next"/>
                <a:cs typeface="Avenir Next"/>
              </a:defRPr>
            </a:lvl5pPr>
            <a:lvl6pPr>
              <a:defRPr sz="1500" b="0">
                <a:solidFill>
                  <a:srgbClr val="596957"/>
                </a:solidFill>
                <a:latin typeface="Avenir Next"/>
                <a:ea typeface="Avenir Next"/>
                <a:cs typeface="Avenir Next"/>
              </a:defRPr>
            </a:lvl6pPr>
            <a:lvl7pPr>
              <a:defRPr sz="1500" b="0">
                <a:solidFill>
                  <a:srgbClr val="596957"/>
                </a:solidFill>
                <a:latin typeface="Avenir Next"/>
                <a:ea typeface="Avenir Next"/>
                <a:cs typeface="Avenir Next"/>
              </a:defRPr>
            </a:lvl7pPr>
            <a:lvl8pPr>
              <a:defRPr sz="1500" b="0">
                <a:solidFill>
                  <a:srgbClr val="596957"/>
                </a:solidFill>
                <a:latin typeface="Avenir Next"/>
                <a:ea typeface="Avenir Next"/>
                <a:cs typeface="Avenir Next"/>
              </a:defRPr>
            </a:lvl8pPr>
            <a:lvl9pPr>
              <a:defRPr sz="1500" b="0">
                <a:solidFill>
                  <a:srgbClr val="596957"/>
                </a:solidFill>
                <a:latin typeface="Avenir Next"/>
                <a:ea typeface="Avenir Next"/>
                <a:cs typeface="Avenir Next"/>
              </a:defRPr>
            </a:lvl9pPr>
          </a:lstStyle>
          <a:p xmlns:a="http://schemas.openxmlformats.org/drawingml/2006/main">
            <a:pPr>
              <a:defRPr sz="1500" b="0">
                <a:solidFill>
                  <a:srgbClr val="596957"/>
                </a:solidFill>
                <a:latin typeface="Avenir Next"/>
                <a:ea typeface="Avenir Next"/>
                <a:cs typeface="Avenir Next"/>
              </a:defRPr>
            </a:pPr>
            <a:r>
              <a:rPr sz="1500" b="0">
                <a:solidFill>
                  <a:srgbClr val="596957"/>
                </a:solidFill>
                <a:latin typeface="Avenir Next"/>
                <a:ea typeface="Avenir Next"/>
                <a:cs typeface="Avenir Next"/>
              </a:rPr>
              <a:t>Evaluación: 399 fotografías reales</a:t>
            </a:r>
          </a:p>
        </p:txBody>
      </p:sp>
    </p:spTree>
    <p:extLst>
      <p:ext uri="{BB962C8B-B14F-4D97-AF65-F5344CB8AC3E}">
        <p14:creationId xmlns:p14="http://schemas.microsoft.com/office/powerpoint/2010/main" val="1558733784"/>
      </p:ext>
    </p:extLst>
  </p:cSld>
</p:sld>
</file>

<file path=ppt/slides/slide3.xml><?xml version="1.0" encoding="utf-8"?>
<p:sld xmlns:p="http://schemas.openxmlformats.org/presentationml/2006/main">
  <p:cSld>
    <p:bg>
      <p:bgPr>
        <a:solidFill xmlns:a="http://schemas.openxmlformats.org/drawingml/2006/main">
          <a:srgbClr val="F5F3E9"/>
        </a:solidFill>
      </p:bgPr>
    </p:bg>
    <p:spTree>
      <p:nvGrpSpPr>
        <p:cNvPr id="1" name=""/>
        <p:cNvGrpSpPr/>
        <p:nvPr/>
      </p:nvGrpSpPr>
      <p:grpSpPr>
        <a:xfrm xmlns:a="http://schemas.openxmlformats.org/drawingml/2006/main"/>
      </p:grpSpPr>
      <p:sp>
        <p:nvSpPr>
          <p:cNvPr id="8" name="Tecnología para agricultores como Pedro">
            <a:extLst xmlns:a="http://schemas.openxmlformats.org/drawingml/2006/main">
              <a:ext uri="{FF2B5EF4-FFF2-40B4-BE49-F238E27FC236}">
                <a16:creationId xmlns:a16="http://schemas.microsoft.com/office/drawing/2014/main" id="{DACAD58B-6EAE-472A-AB35-99E04A687454}"/>
              </a:ext>
            </a:extLst>
          </p:cNvPr>
          <p:cNvSpPr>
            <a:spLocks xmlns:a="http://schemas.openxmlformats.org/drawingml/2006/main" noGrp="1"/>
          </p:cNvSpPr>
          <p:nvPr/>
        </p:nvSpPr>
        <p:spPr>
          <a:xfrm xmlns:a="http://schemas.openxmlformats.org/drawingml/2006/main">
            <a:off x="609600" y="51435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233B2B"/>
                </a:solidFill>
                <a:latin typeface="Avenir Next"/>
                <a:ea typeface="Avenir Next"/>
                <a:cs typeface="Avenir Next"/>
              </a:defRPr>
            </a:defPPr>
            <a:lvl1pPr>
              <a:defRPr sz="3450" b="1">
                <a:solidFill>
                  <a:srgbClr val="233B2B"/>
                </a:solidFill>
                <a:latin typeface="Avenir Next"/>
                <a:ea typeface="Avenir Next"/>
                <a:cs typeface="Avenir Next"/>
              </a:defRPr>
            </a:lvl1pPr>
            <a:lvl2pPr>
              <a:defRPr sz="3450" b="1">
                <a:solidFill>
                  <a:srgbClr val="233B2B"/>
                </a:solidFill>
                <a:latin typeface="Avenir Next"/>
                <a:ea typeface="Avenir Next"/>
                <a:cs typeface="Avenir Next"/>
              </a:defRPr>
            </a:lvl2pPr>
            <a:lvl3pPr>
              <a:defRPr sz="3450" b="1">
                <a:solidFill>
                  <a:srgbClr val="233B2B"/>
                </a:solidFill>
                <a:latin typeface="Avenir Next"/>
                <a:ea typeface="Avenir Next"/>
                <a:cs typeface="Avenir Next"/>
              </a:defRPr>
            </a:lvl3pPr>
            <a:lvl4pPr>
              <a:defRPr sz="3450" b="1">
                <a:solidFill>
                  <a:srgbClr val="233B2B"/>
                </a:solidFill>
                <a:latin typeface="Avenir Next"/>
                <a:ea typeface="Avenir Next"/>
                <a:cs typeface="Avenir Next"/>
              </a:defRPr>
            </a:lvl4pPr>
            <a:lvl5pPr>
              <a:defRPr sz="3450" b="1">
                <a:solidFill>
                  <a:srgbClr val="233B2B"/>
                </a:solidFill>
                <a:latin typeface="Avenir Next"/>
                <a:ea typeface="Avenir Next"/>
                <a:cs typeface="Avenir Next"/>
              </a:defRPr>
            </a:lvl5pPr>
            <a:lvl6pPr>
              <a:defRPr sz="3450" b="1">
                <a:solidFill>
                  <a:srgbClr val="233B2B"/>
                </a:solidFill>
                <a:latin typeface="Avenir Next"/>
                <a:ea typeface="Avenir Next"/>
                <a:cs typeface="Avenir Next"/>
              </a:defRPr>
            </a:lvl6pPr>
            <a:lvl7pPr>
              <a:defRPr sz="3450" b="1">
                <a:solidFill>
                  <a:srgbClr val="233B2B"/>
                </a:solidFill>
                <a:latin typeface="Avenir Next"/>
                <a:ea typeface="Avenir Next"/>
                <a:cs typeface="Avenir Next"/>
              </a:defRPr>
            </a:lvl7pPr>
            <a:lvl8pPr>
              <a:defRPr sz="3450" b="1">
                <a:solidFill>
                  <a:srgbClr val="233B2B"/>
                </a:solidFill>
                <a:latin typeface="Avenir Next"/>
                <a:ea typeface="Avenir Next"/>
                <a:cs typeface="Avenir Next"/>
              </a:defRPr>
            </a:lvl8pPr>
            <a:lvl9pPr>
              <a:defRPr sz="3450" b="1">
                <a:solidFill>
                  <a:srgbClr val="233B2B"/>
                </a:solidFill>
                <a:latin typeface="Avenir Next"/>
                <a:ea typeface="Avenir Next"/>
                <a:cs typeface="Avenir Next"/>
              </a:defRPr>
            </a:lvl9pPr>
          </a:lstStyle>
          <a:p xmlns:a="http://schemas.openxmlformats.org/drawingml/2006/main">
            <a:pPr>
              <a:defRPr sz="3450" b="1">
                <a:solidFill>
                  <a:srgbClr val="233B2B"/>
                </a:solidFill>
                <a:latin typeface="Avenir Next"/>
                <a:ea typeface="Avenir Next"/>
                <a:cs typeface="Avenir Next"/>
              </a:defRPr>
            </a:pPr>
            <a:r>
              <a:rPr sz="3450" b="1">
                <a:solidFill>
                  <a:srgbClr val="233B2B"/>
                </a:solidFill>
                <a:latin typeface="Avenir Next"/>
                <a:ea typeface="Avenir Next"/>
                <a:cs typeface="Avenir Next"/>
              </a:rPr>
              <a:t>Tecnología para agricultores como Pedro</a:t>
            </a:r>
          </a:p>
        </p:txBody>
      </p:sp>
      <p:sp>
        <p:nvSpPr>
          <p:cNvPr id="2" name="El mismo modelo analiza la cámara virtual">
            <a:extLst xmlns:a="http://schemas.openxmlformats.org/drawingml/2006/main">
              <a:ext uri="{FF2B5EF4-FFF2-40B4-BE49-F238E27FC236}">
                <a16:creationId xmlns:a16="http://schemas.microsoft.com/office/drawing/2014/main" id="{97901C50-461E-475C-8462-F64FD8DC04CA}"/>
              </a:ext>
            </a:extLst>
          </p:cNvPr>
          <p:cNvSpPr>
            <a:spLocks xmlns:a="http://schemas.openxmlformats.org/drawingml/2006/main" noGrp="1"/>
          </p:cNvSpPr>
          <p:nvPr/>
        </p:nvSpPr>
        <p:spPr>
          <a:xfrm xmlns:a="http://schemas.openxmlformats.org/drawingml/2006/main">
            <a:off x="609600" y="14859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233B2B"/>
                </a:solidFill>
                <a:latin typeface="Avenir Next"/>
                <a:ea typeface="Avenir Next"/>
                <a:cs typeface="Avenir Next"/>
              </a:defRPr>
            </a:defPPr>
            <a:lvl1pPr>
              <a:defRPr sz="2175" b="0">
                <a:solidFill>
                  <a:srgbClr val="233B2B"/>
                </a:solidFill>
                <a:latin typeface="Avenir Next"/>
                <a:ea typeface="Avenir Next"/>
                <a:cs typeface="Avenir Next"/>
              </a:defRPr>
            </a:lvl1pPr>
            <a:lvl2pPr>
              <a:defRPr sz="2175" b="0">
                <a:solidFill>
                  <a:srgbClr val="233B2B"/>
                </a:solidFill>
                <a:latin typeface="Avenir Next"/>
                <a:ea typeface="Avenir Next"/>
                <a:cs typeface="Avenir Next"/>
              </a:defRPr>
            </a:lvl2pPr>
            <a:lvl3pPr>
              <a:defRPr sz="2175" b="0">
                <a:solidFill>
                  <a:srgbClr val="233B2B"/>
                </a:solidFill>
                <a:latin typeface="Avenir Next"/>
                <a:ea typeface="Avenir Next"/>
                <a:cs typeface="Avenir Next"/>
              </a:defRPr>
            </a:lvl3pPr>
            <a:lvl4pPr>
              <a:defRPr sz="2175" b="0">
                <a:solidFill>
                  <a:srgbClr val="233B2B"/>
                </a:solidFill>
                <a:latin typeface="Avenir Next"/>
                <a:ea typeface="Avenir Next"/>
                <a:cs typeface="Avenir Next"/>
              </a:defRPr>
            </a:lvl4pPr>
            <a:lvl5pPr>
              <a:defRPr sz="2175" b="0">
                <a:solidFill>
                  <a:srgbClr val="233B2B"/>
                </a:solidFill>
                <a:latin typeface="Avenir Next"/>
                <a:ea typeface="Avenir Next"/>
                <a:cs typeface="Avenir Next"/>
              </a:defRPr>
            </a:lvl5pPr>
            <a:lvl6pPr>
              <a:defRPr sz="2175" b="0">
                <a:solidFill>
                  <a:srgbClr val="233B2B"/>
                </a:solidFill>
                <a:latin typeface="Avenir Next"/>
                <a:ea typeface="Avenir Next"/>
                <a:cs typeface="Avenir Next"/>
              </a:defRPr>
            </a:lvl6pPr>
            <a:lvl7pPr>
              <a:defRPr sz="2175" b="0">
                <a:solidFill>
                  <a:srgbClr val="233B2B"/>
                </a:solidFill>
                <a:latin typeface="Avenir Next"/>
                <a:ea typeface="Avenir Next"/>
                <a:cs typeface="Avenir Next"/>
              </a:defRPr>
            </a:lvl7pPr>
            <a:lvl8pPr>
              <a:defRPr sz="2175" b="0">
                <a:solidFill>
                  <a:srgbClr val="233B2B"/>
                </a:solidFill>
                <a:latin typeface="Avenir Next"/>
                <a:ea typeface="Avenir Next"/>
                <a:cs typeface="Avenir Next"/>
              </a:defRPr>
            </a:lvl8pPr>
            <a:lvl9pPr>
              <a:defRPr sz="2175" b="0">
                <a:solidFill>
                  <a:srgbClr val="233B2B"/>
                </a:solidFill>
                <a:latin typeface="Avenir Next"/>
                <a:ea typeface="Avenir Next"/>
                <a:cs typeface="Avenir Next"/>
              </a:defRPr>
            </a:lvl9pPr>
          </a:lstStyle>
          <a:p xmlns:a="http://schemas.openxmlformats.org/drawingml/2006/main">
            <a:pPr>
              <a:defRPr sz="2175" b="0">
                <a:solidFill>
                  <a:srgbClr val="233B2B"/>
                </a:solidFill>
                <a:latin typeface="Avenir Next"/>
                <a:ea typeface="Avenir Next"/>
                <a:cs typeface="Avenir Next"/>
              </a:defRPr>
            </a:pPr>
            <a:r>
              <a:rPr sz="2175" b="0">
                <a:solidFill>
                  <a:srgbClr val="233B2B"/>
                </a:solidFill>
                <a:latin typeface="Avenir Next"/>
                <a:ea typeface="Avenir Next"/>
                <a:cs typeface="Avenir Next"/>
              </a:rPr>
              <a:t>El mismo modelo analiza la cámara virtual</a:t>
            </a:r>
          </a:p>
        </p:txBody>
      </p:sp>
      <p:pic>
        <p:nvPicPr>
          <p:cNvPr id="3" name="">
            <a:extLst xmlns:a="http://schemas.openxmlformats.org/drawingml/2006/main">
              <a:ext uri="{FF2B5EF4-FFF2-40B4-BE49-F238E27FC236}">
                <a16:creationId xmlns:a16="http://schemas.microsoft.com/office/drawing/2014/main" id="{C847203F-E6AC-4D17-AA95-A73BCD1F73F2}"/>
              </a:ext>
            </a:extLst>
          </p:cNvPr>
          <p:cNvPicPr>
            <a:picLocks xmlns:a="http://schemas.openxmlformats.org/drawingml/2006/main" noChangeAspect="1"/>
          </p:cNvPicPr>
          <p:nvPr/>
        </p:nvPicPr>
        <p:blipFill>
          <a:blip xmlns:r="http://schemas.openxmlformats.org/officeDocument/2006/relationships" xmlns:a="http://schemas.openxmlformats.org/drawingml/2006/main" r:embed="R412e1e2800584018"/>
          <a:stretch xmlns:a="http://schemas.openxmlformats.org/drawingml/2006/main"/>
        </p:blipFill>
        <p:spPr>
          <a:xfrm xmlns:a="http://schemas.openxmlformats.org/drawingml/2006/main">
            <a:off x="610522" y="2400300"/>
            <a:ext cx="4913056" cy="2762250"/>
          </a:xfrm>
          <a:prstGeom xmlns:a="http://schemas.openxmlformats.org/drawingml/2006/main" prst="rect">
            <a:avLst/>
          </a:prstGeom>
        </p:spPr>
      </p:pic>
      <p:pic>
        <p:nvPicPr>
          <p:cNvPr id="4" name="">
            <a:extLst xmlns:a="http://schemas.openxmlformats.org/drawingml/2006/main">
              <a:ext uri="{FF2B5EF4-FFF2-40B4-BE49-F238E27FC236}">
                <a16:creationId xmlns:a16="http://schemas.microsoft.com/office/drawing/2014/main" id="{3C4CBA97-D135-414F-9CBC-7479EE4B661A}"/>
              </a:ext>
            </a:extLst>
          </p:cNvPr>
          <p:cNvPicPr>
            <a:picLocks xmlns:a="http://schemas.openxmlformats.org/drawingml/2006/main" noChangeAspect="1"/>
          </p:cNvPicPr>
          <p:nvPr/>
        </p:nvPicPr>
        <p:blipFill>
          <a:blip xmlns:r="http://schemas.openxmlformats.org/officeDocument/2006/relationships" xmlns:a="http://schemas.openxmlformats.org/drawingml/2006/main" r:embed="Rf9bbcaaabea7426c"/>
          <a:stretch xmlns:a="http://schemas.openxmlformats.org/drawingml/2006/main"/>
        </p:blipFill>
        <p:spPr>
          <a:xfrm xmlns:a="http://schemas.openxmlformats.org/drawingml/2006/main">
            <a:off x="5943600" y="2306122"/>
            <a:ext cx="5638800" cy="2845832"/>
          </a:xfrm>
          <a:prstGeom xmlns:a="http://schemas.openxmlformats.org/drawingml/2006/main" prst="rect">
            <a:avLst/>
          </a:prstGeom>
        </p:spPr>
      </p:pic>
      <p:sp>
        <p:nvSpPr>
          <p:cNvPr id="5" name="Pedro Paredes, saliendo de su chacra">
            <a:extLst xmlns:a="http://schemas.openxmlformats.org/drawingml/2006/main">
              <a:ext uri="{FF2B5EF4-FFF2-40B4-BE49-F238E27FC236}">
                <a16:creationId xmlns:a16="http://schemas.microsoft.com/office/drawing/2014/main" id="{8F8A01A4-BF7E-4F2E-8CD4-E2671CF163D3}"/>
              </a:ext>
            </a:extLst>
          </p:cNvPr>
          <p:cNvSpPr>
            <a:spLocks xmlns:a="http://schemas.openxmlformats.org/drawingml/2006/main" noGrp="1"/>
          </p:cNvSpPr>
          <p:nvPr/>
        </p:nvSpPr>
        <p:spPr>
          <a:xfrm xmlns:a="http://schemas.openxmlformats.org/drawingml/2006/main">
            <a:off x="609600" y="5476875"/>
            <a:ext cx="49149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96957"/>
                </a:solidFill>
                <a:latin typeface="Avenir Next"/>
                <a:ea typeface="Avenir Next"/>
                <a:cs typeface="Avenir Next"/>
              </a:defRPr>
            </a:defPPr>
            <a:lvl1pPr>
              <a:defRPr sz="1650" b="0">
                <a:solidFill>
                  <a:srgbClr val="596957"/>
                </a:solidFill>
                <a:latin typeface="Avenir Next"/>
                <a:ea typeface="Avenir Next"/>
                <a:cs typeface="Avenir Next"/>
              </a:defRPr>
            </a:lvl1pPr>
            <a:lvl2pPr>
              <a:defRPr sz="1650" b="0">
                <a:solidFill>
                  <a:srgbClr val="596957"/>
                </a:solidFill>
                <a:latin typeface="Avenir Next"/>
                <a:ea typeface="Avenir Next"/>
                <a:cs typeface="Avenir Next"/>
              </a:defRPr>
            </a:lvl2pPr>
            <a:lvl3pPr>
              <a:defRPr sz="1650" b="0">
                <a:solidFill>
                  <a:srgbClr val="596957"/>
                </a:solidFill>
                <a:latin typeface="Avenir Next"/>
                <a:ea typeface="Avenir Next"/>
                <a:cs typeface="Avenir Next"/>
              </a:defRPr>
            </a:lvl3pPr>
            <a:lvl4pPr>
              <a:defRPr sz="1650" b="0">
                <a:solidFill>
                  <a:srgbClr val="596957"/>
                </a:solidFill>
                <a:latin typeface="Avenir Next"/>
                <a:ea typeface="Avenir Next"/>
                <a:cs typeface="Avenir Next"/>
              </a:defRPr>
            </a:lvl4pPr>
            <a:lvl5pPr>
              <a:defRPr sz="1650" b="0">
                <a:solidFill>
                  <a:srgbClr val="596957"/>
                </a:solidFill>
                <a:latin typeface="Avenir Next"/>
                <a:ea typeface="Avenir Next"/>
                <a:cs typeface="Avenir Next"/>
              </a:defRPr>
            </a:lvl5pPr>
            <a:lvl6pPr>
              <a:defRPr sz="1650" b="0">
                <a:solidFill>
                  <a:srgbClr val="596957"/>
                </a:solidFill>
                <a:latin typeface="Avenir Next"/>
                <a:ea typeface="Avenir Next"/>
                <a:cs typeface="Avenir Next"/>
              </a:defRPr>
            </a:lvl6pPr>
            <a:lvl7pPr>
              <a:defRPr sz="1650" b="0">
                <a:solidFill>
                  <a:srgbClr val="596957"/>
                </a:solidFill>
                <a:latin typeface="Avenir Next"/>
                <a:ea typeface="Avenir Next"/>
                <a:cs typeface="Avenir Next"/>
              </a:defRPr>
            </a:lvl7pPr>
            <a:lvl8pPr>
              <a:defRPr sz="1650" b="0">
                <a:solidFill>
                  <a:srgbClr val="596957"/>
                </a:solidFill>
                <a:latin typeface="Avenir Next"/>
                <a:ea typeface="Avenir Next"/>
                <a:cs typeface="Avenir Next"/>
              </a:defRPr>
            </a:lvl8pPr>
            <a:lvl9pPr>
              <a:defRPr sz="1650" b="0">
                <a:solidFill>
                  <a:srgbClr val="596957"/>
                </a:solidFill>
                <a:latin typeface="Avenir Next"/>
                <a:ea typeface="Avenir Next"/>
                <a:cs typeface="Avenir Next"/>
              </a:defRPr>
            </a:lvl9pPr>
          </a:lstStyle>
          <a:p xmlns:a="http://schemas.openxmlformats.org/drawingml/2006/main">
            <a:pPr>
              <a:defRPr sz="1650" b="0">
                <a:solidFill>
                  <a:srgbClr val="596957"/>
                </a:solidFill>
                <a:latin typeface="Avenir Next"/>
                <a:ea typeface="Avenir Next"/>
                <a:cs typeface="Avenir Next"/>
              </a:defRPr>
            </a:pPr>
            <a:r>
              <a:rPr sz="1650" b="0">
                <a:solidFill>
                  <a:srgbClr val="596957"/>
                </a:solidFill>
                <a:latin typeface="Avenir Next"/>
                <a:ea typeface="Avenir Next"/>
                <a:cs typeface="Avenir Next"/>
              </a:rPr>
              <a:t>Pedro Paredes, saliendo de su chacra</a:t>
            </a:r>
          </a:p>
        </p:txBody>
      </p:sp>
      <p:sp>
        <p:nvSpPr>
          <p:cNvPr id="6" name="Simulación con visión artificial">
            <a:extLst xmlns:a="http://schemas.openxmlformats.org/drawingml/2006/main">
              <a:ext uri="{FF2B5EF4-FFF2-40B4-BE49-F238E27FC236}">
                <a16:creationId xmlns:a16="http://schemas.microsoft.com/office/drawing/2014/main" id="{CBCCD1F5-45F3-4FDC-AFE0-940DA3D8BEAE}"/>
              </a:ext>
            </a:extLst>
          </p:cNvPr>
          <p:cNvSpPr>
            <a:spLocks xmlns:a="http://schemas.openxmlformats.org/drawingml/2006/main" noGrp="1"/>
          </p:cNvSpPr>
          <p:nvPr/>
        </p:nvSpPr>
        <p:spPr>
          <a:xfrm xmlns:a="http://schemas.openxmlformats.org/drawingml/2006/main">
            <a:off x="5943600" y="5476875"/>
            <a:ext cx="5638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233B2B"/>
                </a:solidFill>
                <a:latin typeface="Avenir Next"/>
                <a:ea typeface="Avenir Next"/>
                <a:cs typeface="Avenir Next"/>
              </a:defRPr>
            </a:defPPr>
            <a:lvl1pPr>
              <a:defRPr sz="1725" b="1">
                <a:solidFill>
                  <a:srgbClr val="233B2B"/>
                </a:solidFill>
                <a:latin typeface="Avenir Next"/>
                <a:ea typeface="Avenir Next"/>
                <a:cs typeface="Avenir Next"/>
              </a:defRPr>
            </a:lvl1pPr>
            <a:lvl2pPr>
              <a:defRPr sz="1725" b="1">
                <a:solidFill>
                  <a:srgbClr val="233B2B"/>
                </a:solidFill>
                <a:latin typeface="Avenir Next"/>
                <a:ea typeface="Avenir Next"/>
                <a:cs typeface="Avenir Next"/>
              </a:defRPr>
            </a:lvl2pPr>
            <a:lvl3pPr>
              <a:defRPr sz="1725" b="1">
                <a:solidFill>
                  <a:srgbClr val="233B2B"/>
                </a:solidFill>
                <a:latin typeface="Avenir Next"/>
                <a:ea typeface="Avenir Next"/>
                <a:cs typeface="Avenir Next"/>
              </a:defRPr>
            </a:lvl3pPr>
            <a:lvl4pPr>
              <a:defRPr sz="1725" b="1">
                <a:solidFill>
                  <a:srgbClr val="233B2B"/>
                </a:solidFill>
                <a:latin typeface="Avenir Next"/>
                <a:ea typeface="Avenir Next"/>
                <a:cs typeface="Avenir Next"/>
              </a:defRPr>
            </a:lvl4pPr>
            <a:lvl5pPr>
              <a:defRPr sz="1725" b="1">
                <a:solidFill>
                  <a:srgbClr val="233B2B"/>
                </a:solidFill>
                <a:latin typeface="Avenir Next"/>
                <a:ea typeface="Avenir Next"/>
                <a:cs typeface="Avenir Next"/>
              </a:defRPr>
            </a:lvl5pPr>
            <a:lvl6pPr>
              <a:defRPr sz="1725" b="1">
                <a:solidFill>
                  <a:srgbClr val="233B2B"/>
                </a:solidFill>
                <a:latin typeface="Avenir Next"/>
                <a:ea typeface="Avenir Next"/>
                <a:cs typeface="Avenir Next"/>
              </a:defRPr>
            </a:lvl6pPr>
            <a:lvl7pPr>
              <a:defRPr sz="1725" b="1">
                <a:solidFill>
                  <a:srgbClr val="233B2B"/>
                </a:solidFill>
                <a:latin typeface="Avenir Next"/>
                <a:ea typeface="Avenir Next"/>
                <a:cs typeface="Avenir Next"/>
              </a:defRPr>
            </a:lvl7pPr>
            <a:lvl8pPr>
              <a:defRPr sz="1725" b="1">
                <a:solidFill>
                  <a:srgbClr val="233B2B"/>
                </a:solidFill>
                <a:latin typeface="Avenir Next"/>
                <a:ea typeface="Avenir Next"/>
                <a:cs typeface="Avenir Next"/>
              </a:defRPr>
            </a:lvl8pPr>
            <a:lvl9pPr>
              <a:defRPr sz="1725" b="1">
                <a:solidFill>
                  <a:srgbClr val="233B2B"/>
                </a:solidFill>
                <a:latin typeface="Avenir Next"/>
                <a:ea typeface="Avenir Next"/>
                <a:cs typeface="Avenir Next"/>
              </a:defRPr>
            </a:lvl9pPr>
          </a:lstStyle>
          <a:p xmlns:a="http://schemas.openxmlformats.org/drawingml/2006/main">
            <a:pPr>
              <a:defRPr sz="1725" b="1">
                <a:solidFill>
                  <a:srgbClr val="233B2B"/>
                </a:solidFill>
                <a:latin typeface="Avenir Next"/>
                <a:ea typeface="Avenir Next"/>
                <a:cs typeface="Avenir Next"/>
              </a:defRPr>
            </a:pPr>
            <a:r>
              <a:rPr sz="1725" b="1">
                <a:solidFill>
                  <a:srgbClr val="233B2B"/>
                </a:solidFill>
                <a:latin typeface="Avenir Next"/>
                <a:ea typeface="Avenir Next"/>
                <a:cs typeface="Avenir Next"/>
              </a:rPr>
              <a:t>Simulación con visión artificial</a:t>
            </a:r>
          </a:p>
        </p:txBody>
      </p:sp>
      <p:sp>
        <p:nvSpPr>
          <p:cNvPr id="7" name="Detección, batería y regreso a la base">
            <a:extLst xmlns:a="http://schemas.openxmlformats.org/drawingml/2006/main">
              <a:ext uri="{FF2B5EF4-FFF2-40B4-BE49-F238E27FC236}">
                <a16:creationId xmlns:a16="http://schemas.microsoft.com/office/drawing/2014/main" id="{E9B2C2B8-8660-47ED-8EEA-27668F2D9E3C}"/>
              </a:ext>
            </a:extLst>
          </p:cNvPr>
          <p:cNvSpPr>
            <a:spLocks xmlns:a="http://schemas.openxmlformats.org/drawingml/2006/main" noGrp="1"/>
          </p:cNvSpPr>
          <p:nvPr/>
        </p:nvSpPr>
        <p:spPr>
          <a:xfrm xmlns:a="http://schemas.openxmlformats.org/drawingml/2006/main">
            <a:off x="5943600" y="6048375"/>
            <a:ext cx="5638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96957"/>
                </a:solidFill>
                <a:latin typeface="Avenir Next"/>
                <a:ea typeface="Avenir Next"/>
                <a:cs typeface="Avenir Next"/>
              </a:defRPr>
            </a:defPPr>
            <a:lvl1pPr>
              <a:defRPr sz="1725" b="0">
                <a:solidFill>
                  <a:srgbClr val="596957"/>
                </a:solidFill>
                <a:latin typeface="Avenir Next"/>
                <a:ea typeface="Avenir Next"/>
                <a:cs typeface="Avenir Next"/>
              </a:defRPr>
            </a:lvl1pPr>
            <a:lvl2pPr>
              <a:defRPr sz="1725" b="0">
                <a:solidFill>
                  <a:srgbClr val="596957"/>
                </a:solidFill>
                <a:latin typeface="Avenir Next"/>
                <a:ea typeface="Avenir Next"/>
                <a:cs typeface="Avenir Next"/>
              </a:defRPr>
            </a:lvl2pPr>
            <a:lvl3pPr>
              <a:defRPr sz="1725" b="0">
                <a:solidFill>
                  <a:srgbClr val="596957"/>
                </a:solidFill>
                <a:latin typeface="Avenir Next"/>
                <a:ea typeface="Avenir Next"/>
                <a:cs typeface="Avenir Next"/>
              </a:defRPr>
            </a:lvl3pPr>
            <a:lvl4pPr>
              <a:defRPr sz="1725" b="0">
                <a:solidFill>
                  <a:srgbClr val="596957"/>
                </a:solidFill>
                <a:latin typeface="Avenir Next"/>
                <a:ea typeface="Avenir Next"/>
                <a:cs typeface="Avenir Next"/>
              </a:defRPr>
            </a:lvl4pPr>
            <a:lvl5pPr>
              <a:defRPr sz="1725" b="0">
                <a:solidFill>
                  <a:srgbClr val="596957"/>
                </a:solidFill>
                <a:latin typeface="Avenir Next"/>
                <a:ea typeface="Avenir Next"/>
                <a:cs typeface="Avenir Next"/>
              </a:defRPr>
            </a:lvl5pPr>
            <a:lvl6pPr>
              <a:defRPr sz="1725" b="0">
                <a:solidFill>
                  <a:srgbClr val="596957"/>
                </a:solidFill>
                <a:latin typeface="Avenir Next"/>
                <a:ea typeface="Avenir Next"/>
                <a:cs typeface="Avenir Next"/>
              </a:defRPr>
            </a:lvl6pPr>
            <a:lvl7pPr>
              <a:defRPr sz="1725" b="0">
                <a:solidFill>
                  <a:srgbClr val="596957"/>
                </a:solidFill>
                <a:latin typeface="Avenir Next"/>
                <a:ea typeface="Avenir Next"/>
                <a:cs typeface="Avenir Next"/>
              </a:defRPr>
            </a:lvl7pPr>
            <a:lvl8pPr>
              <a:defRPr sz="1725" b="0">
                <a:solidFill>
                  <a:srgbClr val="596957"/>
                </a:solidFill>
                <a:latin typeface="Avenir Next"/>
                <a:ea typeface="Avenir Next"/>
                <a:cs typeface="Avenir Next"/>
              </a:defRPr>
            </a:lvl8pPr>
            <a:lvl9pPr>
              <a:defRPr sz="1725" b="0">
                <a:solidFill>
                  <a:srgbClr val="596957"/>
                </a:solidFill>
                <a:latin typeface="Avenir Next"/>
                <a:ea typeface="Avenir Next"/>
                <a:cs typeface="Avenir Next"/>
              </a:defRPr>
            </a:lvl9pPr>
          </a:lstStyle>
          <a:p xmlns:a="http://schemas.openxmlformats.org/drawingml/2006/main">
            <a:pPr>
              <a:defRPr sz="1725" b="0">
                <a:solidFill>
                  <a:srgbClr val="596957"/>
                </a:solidFill>
                <a:latin typeface="Avenir Next"/>
                <a:ea typeface="Avenir Next"/>
                <a:cs typeface="Avenir Next"/>
              </a:defRPr>
            </a:pPr>
            <a:r>
              <a:rPr sz="1725" b="0">
                <a:solidFill>
                  <a:srgbClr val="596957"/>
                </a:solidFill>
                <a:latin typeface="Avenir Next"/>
                <a:ea typeface="Avenir Next"/>
                <a:cs typeface="Avenir Next"/>
              </a:rPr>
              <a:t>Detección, batería y regreso a la base</a:t>
            </a:r>
          </a:p>
        </p:txBody>
      </p:sp>
    </p:spTree>
    <p:extLst>
      <p:ext uri="{BB962C8B-B14F-4D97-AF65-F5344CB8AC3E}">
        <p14:creationId xmlns:p14="http://schemas.microsoft.com/office/powerpoint/2010/main" val="45291303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2026-10-18T13:56:12.3510000Z</dcterms:created>
  <dcterms:modified xsi:type="dcterms:W3CDTF">2026-10-18T13:56:12.3510000Z</dcterms:modified>
</coreProperties>
</file>