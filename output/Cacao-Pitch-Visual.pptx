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6b226737e846c0" /><Relationship Type="http://schemas.openxmlformats.org/officeDocument/2006/relationships/extended-properties" Target="/docProps/app.xml" Id="R643402b576664c9d" /><Relationship Type="http://schemas.openxmlformats.org/officeDocument/2006/relationships/officeDocument" Target="/ppt/presentation.xml" Id="Rddd19f726f894641" /></Relationships>
</file>

<file path=ppt/presentation.xml><?xml version="1.0" encoding="utf-8"?>
<p:presentation xmlns:p="http://schemas.openxmlformats.org/presentationml/2006/main">
  <p:sldMasterIdLst>
    <p:sldMasterId xmlns:r="http://schemas.openxmlformats.org/officeDocument/2006/relationships" id="2147483648" r:id="R7482f0e680244291"/>
  </p:sldMasterIdLst>
  <p:notesMasterIdLst>
    <p:notesMasterId xmlns:r="http://schemas.openxmlformats.org/officeDocument/2006/relationships" r:id="Rb31f65767fb94e8e"/>
  </p:notesMasterIdLst>
  <p:sldIdLst>
    <p:sldId xmlns:r="http://schemas.openxmlformats.org/officeDocument/2006/relationships" id="256" r:id="R0b6348ce9cac4638"/>
    <p:sldId xmlns:r="http://schemas.openxmlformats.org/officeDocument/2006/relationships" id="257" r:id="R8ff0a59040784495"/>
    <p:sldId xmlns:r="http://schemas.openxmlformats.org/officeDocument/2006/relationships" id="258" r:id="Re3a13c6673c844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dd69ce04094537" /><Relationship Type="http://schemas.openxmlformats.org/officeDocument/2006/relationships/slideMaster" Target="/ppt/slideMasters/slideMaster1.xml" Id="R7482f0e680244291" /><Relationship Type="http://schemas.openxmlformats.org/officeDocument/2006/relationships/notesMaster" Target="/ppt/notesMasters/notesMaster1.xml" Id="Rb31f65767fb94e8e" /><Relationship Type="http://schemas.openxmlformats.org/officeDocument/2006/relationships/presProps" Target="/ppt/presProps.xml" Id="R866ac620339c44c0" /><Relationship Type="http://schemas.openxmlformats.org/officeDocument/2006/relationships/tableStyles" Target="/ppt/tableStyles.xml" Id="R93965950618644da" /><Relationship Type="http://schemas.openxmlformats.org/officeDocument/2006/relationships/slide" Target="/ppt/slides/slide1.xml" Id="R0b6348ce9cac4638" /><Relationship Type="http://schemas.openxmlformats.org/officeDocument/2006/relationships/slide" Target="/ppt/slides/slide2.xml" Id="R8ff0a59040784495" /><Relationship Type="http://schemas.openxmlformats.org/officeDocument/2006/relationships/slide" Target="/ppt/slides/slide3.xml" Id="Re3a13c6673c844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d01d01ac4d4c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86a6e13eae4f23" /><Relationship Type="http://schemas.openxmlformats.org/officeDocument/2006/relationships/notesMaster" Target="/ppt/notesMasters/notesMaster1.xml" Id="R6979dfa8b0b94e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fe1dfc38a44994" /><Relationship Type="http://schemas.openxmlformats.org/officeDocument/2006/relationships/notesMaster" Target="/ppt/notesMasters/notesMaster1.xml" Id="R2f630147bff841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29d1c63ca64e33" /><Relationship Type="http://schemas.openxmlformats.org/officeDocument/2006/relationships/notesMaster" Target="/ppt/notesMasters/notesMaster1.xml" Id="R5552e0a0ff824a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Historia real proporcionada por Kevin: a partir del track Clima y Territorio investigó problemas agrícolas, se interesó por el cacao como cultivo importante y por cómo El Niño puede agravar riesgos. No se inventan entrevistas, visitas ni contacto previo con productores. La oportunidad propuesta es apoyar la detección y localización de frutos sospechosos para facilitar el manejo, no afirmar que no existe solución. Ya existen prácticas agronómicas de manejo integrado. La moniliasis es la enfermedad causada por el hongo Moniliophthora roreri y afecta a las mazorcas, cuyos granos se aprovechan para producir chocolate. Sus esporas pueden alcanzar otros frutos. SENASA: https://repositorio.senasa.gob.pe/items/de2bff13-0641-4050-a147-05e963efe8a4 . SENAMHI advirtió en julio de 2026 que mayor humedad puede favorecer la moniliasis: https://www.gob.pe/institucion/senamhi/noticias/1408538-condiciones-agrometeorologicas-influirian-en-cultivos-y-crianzas-en-costa-sierra-centro-y-selva-sur . El Niño altera condiciones climáticas y sus efectos sobre cacao dependen de región y estación. No se afirma que cause la enfermedad ni aumente siempre su incidencia, ni se atribuyen pérdidas actuales a un evento sin medición. Referencia de riesgo agroclimático 2023: https://www.senamhi.gob.pe/load/file/02966SENA-1.pdf . Track oficial: https://hacktheandes.com/guide incluye agricultura y alertas de plagas. PRODUCE informa US$1619 millones de exportaciones peruanas de cacao y derivados en 2025, publicados 17 julio 2026: https://www.gob.pe/institucion/produce/noticias/1420398-cadena-del-cacao-genero-mas-de-1-3-millones-de-empleos-y-alcanzo-una-produccion-de-mas-de-172-mil-toneladas-en-2025 . Es valor exportado, no ingreso en chacra, pérdida por moniliasis, mercado disponible íntegro ni ahorro del producto. INIA documenta un rango de pérdidas del 30 al 80% en un plegable de noviembre de 2011: https://pgc-snia.inia.gob.pe/server/api/core/bitstreams/388ed816-590d-47f4-ae22-d728d046f71a/content . Rango histórico de producción, no media actual ni tasa aplicable a todas las exportaciones. No multiplicar ese porcentaje por el valor exportado como estimación de daño nacional. Foto real de prueba ID017fa25b2cde2609b042a85e, etiqueta a nivel de imagen del dataset, sin diagnóstico nuestro de laboratorio. Fuente y licencia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585f6beeb348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bf78c0ddeb41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6ba6d5299e49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9df00aec2049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54c8d0858545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c0a128ff2c40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0E7798-52D5-4A1D-BF70-16543F5EACE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F643BA-CFD8-45E0-ADF2-D04854F2B5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BDBB79-75BA-4D80-93BF-D4313F9DF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81CC91-C59A-4791-AAC6-C05C1D647C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F28946-3F1B-4D19-A04E-B0595E424E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78A6FD-3A8F-463D-A1CA-5B2F060394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C881CE-26D1-421C-ABD7-9BD3973BA5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053BE2-6E63-43D4-AC0A-0DF018EA3B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07263-F8BC-40BE-AEBD-0F7A8FE34B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2472F5-D8BF-4166-B613-F57FA96673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df37ccd3dd4ef2" /><Relationship Type="http://schemas.openxmlformats.org/officeDocument/2006/relationships/slideLayout" Target="/ppt/slideLayouts/slideLayout1.xml" Id="R96b053b870d040e1" /><Relationship Type="http://schemas.openxmlformats.org/officeDocument/2006/relationships/slideLayout" Target="/ppt/slideLayouts/slideLayout2.xml" Id="R41acd95c538f47b8" /><Relationship Type="http://schemas.openxmlformats.org/officeDocument/2006/relationships/slideLayout" Target="/ppt/slideLayouts/slideLayout3.xml" Id="Re5a93168e46947ec" /><Relationship Type="http://schemas.openxmlformats.org/officeDocument/2006/relationships/slideLayout" Target="/ppt/slideLayouts/slideLayout4.xml" Id="R724c3ae98981431d" /><Relationship Type="http://schemas.openxmlformats.org/officeDocument/2006/relationships/slideLayout" Target="/ppt/slideLayouts/slideLayout5.xml" Id="Rd0ecfdcb7151464c" /><Relationship Type="http://schemas.openxmlformats.org/officeDocument/2006/relationships/slideLayout" Target="/ppt/slideLayouts/slideLayout6.xml" Id="R87e2a3fd0e91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b053b870d040e1"/>
    <p:sldLayoutId xmlns:r="http://schemas.openxmlformats.org/officeDocument/2006/relationships" id="2147483650" r:id="R41acd95c538f47b8"/>
    <p:sldLayoutId xmlns:r="http://schemas.openxmlformats.org/officeDocument/2006/relationships" id="2147483651" r:id="Re5a93168e46947ec"/>
    <p:sldLayoutId xmlns:r="http://schemas.openxmlformats.org/officeDocument/2006/relationships" id="2147483652" r:id="R724c3ae98981431d"/>
    <p:sldLayoutId xmlns:r="http://schemas.openxmlformats.org/officeDocument/2006/relationships" id="2147483653" r:id="Rd0ecfdcb7151464c"/>
    <p:sldLayoutId xmlns:r="http://schemas.openxmlformats.org/officeDocument/2006/relationships" id="2147483654" r:id="R87e2a3fd0e9149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7124dd115e4ade" /><Relationship Type="http://schemas.openxmlformats.org/officeDocument/2006/relationships/image" Target="/ppt/media/image.jpeg" Id="R572e7770f58048b8" /><Relationship Type="http://schemas.openxmlformats.org/officeDocument/2006/relationships/notesSlide" Target="/ppt/notesSlides/notesSlide1.xml" Id="R3b1058871b2643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f3462995604419" /><Relationship Type="http://schemas.openxmlformats.org/officeDocument/2006/relationships/image" Target="/ppt/media/image.png" Id="R39d6e4192e314b08" /><Relationship Type="http://schemas.openxmlformats.org/officeDocument/2006/relationships/notesSlide" Target="/ppt/notesSlides/notesSlide2.xml" Id="Rd8e4468c4edb4b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481233f9e241f8" /><Relationship Type="http://schemas.openxmlformats.org/officeDocument/2006/relationships/image" Target="/ppt/media/image2.jpeg" Id="R814a3e0604cc4663" /><Relationship Type="http://schemas.openxmlformats.org/officeDocument/2006/relationships/notesSlide" Target="/ppt/notesSlides/notesSlide3.xml" Id="R8e12becb89a44234"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Moniliasis del cacao">
            <a:extLst xmlns:a="http://schemas.openxmlformats.org/drawingml/2006/main">
              <a:ext uri="{FF2B5EF4-FFF2-40B4-BE49-F238E27FC236}">
                <a16:creationId xmlns:a16="http://schemas.microsoft.com/office/drawing/2014/main" id="{F1FA033F-9664-4351-8895-2C4D18A37363}"/>
              </a:ext>
            </a:extLst>
          </p:cNvPr>
          <p:cNvSpPr>
            <a:spLocks xmlns:a="http://schemas.openxmlformats.org/drawingml/2006/main" noGrp="1"/>
          </p:cNvSpPr>
          <p:nvPr/>
        </p:nvSpPr>
        <p:spPr>
          <a:xfrm xmlns:a="http://schemas.openxmlformats.org/drawingml/2006/main">
            <a:off x="609600" y="542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5F3E9"/>
                </a:solidFill>
                <a:latin typeface="Avenir Next"/>
                <a:ea typeface="Avenir Next"/>
                <a:cs typeface="Avenir Next"/>
              </a:defRPr>
            </a:defPPr>
            <a:lvl1pPr>
              <a:defRPr sz="3900" b="1">
                <a:solidFill>
                  <a:srgbClr val="F5F3E9"/>
                </a:solidFill>
                <a:latin typeface="Avenir Next"/>
                <a:ea typeface="Avenir Next"/>
                <a:cs typeface="Avenir Next"/>
              </a:defRPr>
            </a:lvl1pPr>
            <a:lvl2pPr>
              <a:defRPr sz="3900" b="1">
                <a:solidFill>
                  <a:srgbClr val="F5F3E9"/>
                </a:solidFill>
                <a:latin typeface="Avenir Next"/>
                <a:ea typeface="Avenir Next"/>
                <a:cs typeface="Avenir Next"/>
              </a:defRPr>
            </a:lvl2pPr>
            <a:lvl3pPr>
              <a:defRPr sz="3900" b="1">
                <a:solidFill>
                  <a:srgbClr val="F5F3E9"/>
                </a:solidFill>
                <a:latin typeface="Avenir Next"/>
                <a:ea typeface="Avenir Next"/>
                <a:cs typeface="Avenir Next"/>
              </a:defRPr>
            </a:lvl3pPr>
            <a:lvl4pPr>
              <a:defRPr sz="3900" b="1">
                <a:solidFill>
                  <a:srgbClr val="F5F3E9"/>
                </a:solidFill>
                <a:latin typeface="Avenir Next"/>
                <a:ea typeface="Avenir Next"/>
                <a:cs typeface="Avenir Next"/>
              </a:defRPr>
            </a:lvl4pPr>
            <a:lvl5pPr>
              <a:defRPr sz="3900" b="1">
                <a:solidFill>
                  <a:srgbClr val="F5F3E9"/>
                </a:solidFill>
                <a:latin typeface="Avenir Next"/>
                <a:ea typeface="Avenir Next"/>
                <a:cs typeface="Avenir Next"/>
              </a:defRPr>
            </a:lvl5pPr>
            <a:lvl6pPr>
              <a:defRPr sz="3900" b="1">
                <a:solidFill>
                  <a:srgbClr val="F5F3E9"/>
                </a:solidFill>
                <a:latin typeface="Avenir Next"/>
                <a:ea typeface="Avenir Next"/>
                <a:cs typeface="Avenir Next"/>
              </a:defRPr>
            </a:lvl6pPr>
            <a:lvl7pPr>
              <a:defRPr sz="3900" b="1">
                <a:solidFill>
                  <a:srgbClr val="F5F3E9"/>
                </a:solidFill>
                <a:latin typeface="Avenir Next"/>
                <a:ea typeface="Avenir Next"/>
                <a:cs typeface="Avenir Next"/>
              </a:defRPr>
            </a:lvl7pPr>
            <a:lvl8pPr>
              <a:defRPr sz="3900" b="1">
                <a:solidFill>
                  <a:srgbClr val="F5F3E9"/>
                </a:solidFill>
                <a:latin typeface="Avenir Next"/>
                <a:ea typeface="Avenir Next"/>
                <a:cs typeface="Avenir Next"/>
              </a:defRPr>
            </a:lvl8pPr>
            <a:lvl9pPr>
              <a:defRPr sz="3900" b="1">
                <a:solidFill>
                  <a:srgbClr val="F5F3E9"/>
                </a:solidFill>
                <a:latin typeface="Avenir Next"/>
                <a:ea typeface="Avenir Next"/>
                <a:cs typeface="Avenir Next"/>
              </a:defRPr>
            </a:lvl9pPr>
          </a:lstStyle>
          <a:p xmlns:a="http://schemas.openxmlformats.org/drawingml/2006/main">
            <a:pPr>
              <a:defRPr sz="3900" b="1">
                <a:solidFill>
                  <a:srgbClr val="F5F3E9"/>
                </a:solidFill>
                <a:latin typeface="Avenir Next"/>
                <a:ea typeface="Avenir Next"/>
                <a:cs typeface="Avenir Next"/>
              </a:defRPr>
            </a:pPr>
            <a:r>
              <a:rPr sz="3900" b="1">
                <a:solidFill>
                  <a:srgbClr val="F5F3E9"/>
                </a:solidFill>
                <a:latin typeface="Avenir Next"/>
                <a:ea typeface="Avenir Next"/>
                <a:cs typeface="Avenir Next"/>
              </a:rPr>
              <a:t>Moniliasis del cacao</a:t>
            </a:r>
          </a:p>
        </p:txBody>
      </p:sp>
      <p:sp>
        <p:nvSpPr>
          <p:cNvPr id="2" name="Clima y Territorio">
            <a:extLst xmlns:a="http://schemas.openxmlformats.org/drawingml/2006/main">
              <a:ext uri="{FF2B5EF4-FFF2-40B4-BE49-F238E27FC236}">
                <a16:creationId xmlns:a16="http://schemas.microsoft.com/office/drawing/2014/main" id="{5C76B64B-4D81-4DA2-B170-7A1EE452922A}"/>
              </a:ext>
            </a:extLst>
          </p:cNvPr>
          <p:cNvSpPr>
            <a:spLocks xmlns:a="http://schemas.openxmlformats.org/drawingml/2006/main" noGrp="1"/>
          </p:cNvSpPr>
          <p:nvPr/>
        </p:nvSpPr>
        <p:spPr>
          <a:xfrm xmlns:a="http://schemas.openxmlformats.org/drawingml/2006/main">
            <a:off x="609600" y="1514475"/>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5E4AD"/>
                </a:solidFill>
                <a:latin typeface="Avenir Next"/>
                <a:ea typeface="Avenir Next"/>
                <a:cs typeface="Avenir Next"/>
              </a:defRPr>
            </a:defPPr>
            <a:lvl1pPr>
              <a:defRPr sz="1725" b="1">
                <a:solidFill>
                  <a:srgbClr val="D5E4AD"/>
                </a:solidFill>
                <a:latin typeface="Avenir Next"/>
                <a:ea typeface="Avenir Next"/>
                <a:cs typeface="Avenir Next"/>
              </a:defRPr>
            </a:lvl1pPr>
            <a:lvl2pPr>
              <a:defRPr sz="1725" b="1">
                <a:solidFill>
                  <a:srgbClr val="D5E4AD"/>
                </a:solidFill>
                <a:latin typeface="Avenir Next"/>
                <a:ea typeface="Avenir Next"/>
                <a:cs typeface="Avenir Next"/>
              </a:defRPr>
            </a:lvl2pPr>
            <a:lvl3pPr>
              <a:defRPr sz="1725" b="1">
                <a:solidFill>
                  <a:srgbClr val="D5E4AD"/>
                </a:solidFill>
                <a:latin typeface="Avenir Next"/>
                <a:ea typeface="Avenir Next"/>
                <a:cs typeface="Avenir Next"/>
              </a:defRPr>
            </a:lvl3pPr>
            <a:lvl4pPr>
              <a:defRPr sz="1725" b="1">
                <a:solidFill>
                  <a:srgbClr val="D5E4AD"/>
                </a:solidFill>
                <a:latin typeface="Avenir Next"/>
                <a:ea typeface="Avenir Next"/>
                <a:cs typeface="Avenir Next"/>
              </a:defRPr>
            </a:lvl4pPr>
            <a:lvl5pPr>
              <a:defRPr sz="1725" b="1">
                <a:solidFill>
                  <a:srgbClr val="D5E4AD"/>
                </a:solidFill>
                <a:latin typeface="Avenir Next"/>
                <a:ea typeface="Avenir Next"/>
                <a:cs typeface="Avenir Next"/>
              </a:defRPr>
            </a:lvl5pPr>
            <a:lvl6pPr>
              <a:defRPr sz="1725" b="1">
                <a:solidFill>
                  <a:srgbClr val="D5E4AD"/>
                </a:solidFill>
                <a:latin typeface="Avenir Next"/>
                <a:ea typeface="Avenir Next"/>
                <a:cs typeface="Avenir Next"/>
              </a:defRPr>
            </a:lvl6pPr>
            <a:lvl7pPr>
              <a:defRPr sz="1725" b="1">
                <a:solidFill>
                  <a:srgbClr val="D5E4AD"/>
                </a:solidFill>
                <a:latin typeface="Avenir Next"/>
                <a:ea typeface="Avenir Next"/>
                <a:cs typeface="Avenir Next"/>
              </a:defRPr>
            </a:lvl7pPr>
            <a:lvl8pPr>
              <a:defRPr sz="1725" b="1">
                <a:solidFill>
                  <a:srgbClr val="D5E4AD"/>
                </a:solidFill>
                <a:latin typeface="Avenir Next"/>
                <a:ea typeface="Avenir Next"/>
                <a:cs typeface="Avenir Next"/>
              </a:defRPr>
            </a:lvl8pPr>
            <a:lvl9pPr>
              <a:defRPr sz="1725" b="1">
                <a:solidFill>
                  <a:srgbClr val="D5E4AD"/>
                </a:solidFill>
                <a:latin typeface="Avenir Next"/>
                <a:ea typeface="Avenir Next"/>
                <a:cs typeface="Avenir Next"/>
              </a:defRPr>
            </a:lvl9pPr>
          </a:lstStyle>
          <a:p xmlns:a="http://schemas.openxmlformats.org/drawingml/2006/main">
            <a:pPr>
              <a:defRPr sz="1725" b="1">
                <a:solidFill>
                  <a:srgbClr val="D5E4AD"/>
                </a:solidFill>
                <a:latin typeface="Avenir Next"/>
                <a:ea typeface="Avenir Next"/>
                <a:cs typeface="Avenir Next"/>
              </a:defRPr>
            </a:pPr>
            <a:r>
              <a:rPr sz="1725" b="1">
                <a:solidFill>
                  <a:srgbClr val="D5E4AD"/>
                </a:solidFill>
                <a:latin typeface="Avenir Next"/>
                <a:ea typeface="Avenir Next"/>
                <a:cs typeface="Avenir Next"/>
              </a:rPr>
              <a:t>Clima y Territorio</a:t>
            </a:r>
          </a:p>
        </p:txBody>
      </p:sp>
      <p:sp>
        <p:nvSpPr>
          <p:cNvPr id="3" name="Un hongo daña el fruto.&#10;La humedad favorece s">
            <a:extLst xmlns:a="http://schemas.openxmlformats.org/drawingml/2006/main">
              <a:ext uri="{FF2B5EF4-FFF2-40B4-BE49-F238E27FC236}">
                <a16:creationId xmlns:a16="http://schemas.microsoft.com/office/drawing/2014/main" id="{47235C9A-1FB5-4641-8893-8716653F3E03}"/>
              </a:ext>
            </a:extLst>
          </p:cNvPr>
          <p:cNvSpPr>
            <a:spLocks xmlns:a="http://schemas.openxmlformats.org/drawingml/2006/main" noGrp="1"/>
          </p:cNvSpPr>
          <p:nvPr/>
        </p:nvSpPr>
        <p:spPr>
          <a:xfrm xmlns:a="http://schemas.openxmlformats.org/drawingml/2006/main">
            <a:off x="609600" y="2162175"/>
            <a:ext cx="704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3E9"/>
                </a:solidFill>
                <a:latin typeface="Avenir Next"/>
                <a:ea typeface="Avenir Next"/>
                <a:cs typeface="Avenir Next"/>
              </a:defRPr>
            </a:defPPr>
            <a:lvl1pPr>
              <a:defRPr sz="2400" b="0">
                <a:solidFill>
                  <a:srgbClr val="F5F3E9"/>
                </a:solidFill>
                <a:latin typeface="Avenir Next"/>
                <a:ea typeface="Avenir Next"/>
                <a:cs typeface="Avenir Next"/>
              </a:defRPr>
            </a:lvl1pPr>
            <a:lvl2pPr>
              <a:defRPr sz="2400" b="0">
                <a:solidFill>
                  <a:srgbClr val="F5F3E9"/>
                </a:solidFill>
                <a:latin typeface="Avenir Next"/>
                <a:ea typeface="Avenir Next"/>
                <a:cs typeface="Avenir Next"/>
              </a:defRPr>
            </a:lvl2pPr>
            <a:lvl3pPr>
              <a:defRPr sz="2400" b="0">
                <a:solidFill>
                  <a:srgbClr val="F5F3E9"/>
                </a:solidFill>
                <a:latin typeface="Avenir Next"/>
                <a:ea typeface="Avenir Next"/>
                <a:cs typeface="Avenir Next"/>
              </a:defRPr>
            </a:lvl3pPr>
            <a:lvl4pPr>
              <a:defRPr sz="2400" b="0">
                <a:solidFill>
                  <a:srgbClr val="F5F3E9"/>
                </a:solidFill>
                <a:latin typeface="Avenir Next"/>
                <a:ea typeface="Avenir Next"/>
                <a:cs typeface="Avenir Next"/>
              </a:defRPr>
            </a:lvl4pPr>
            <a:lvl5pPr>
              <a:defRPr sz="2400" b="0">
                <a:solidFill>
                  <a:srgbClr val="F5F3E9"/>
                </a:solidFill>
                <a:latin typeface="Avenir Next"/>
                <a:ea typeface="Avenir Next"/>
                <a:cs typeface="Avenir Next"/>
              </a:defRPr>
            </a:lvl5pPr>
            <a:lvl6pPr>
              <a:defRPr sz="2400" b="0">
                <a:solidFill>
                  <a:srgbClr val="F5F3E9"/>
                </a:solidFill>
                <a:latin typeface="Avenir Next"/>
                <a:ea typeface="Avenir Next"/>
                <a:cs typeface="Avenir Next"/>
              </a:defRPr>
            </a:lvl6pPr>
            <a:lvl7pPr>
              <a:defRPr sz="2400" b="0">
                <a:solidFill>
                  <a:srgbClr val="F5F3E9"/>
                </a:solidFill>
                <a:latin typeface="Avenir Next"/>
                <a:ea typeface="Avenir Next"/>
                <a:cs typeface="Avenir Next"/>
              </a:defRPr>
            </a:lvl7pPr>
            <a:lvl8pPr>
              <a:defRPr sz="2400" b="0">
                <a:solidFill>
                  <a:srgbClr val="F5F3E9"/>
                </a:solidFill>
                <a:latin typeface="Avenir Next"/>
                <a:ea typeface="Avenir Next"/>
                <a:cs typeface="Avenir Next"/>
              </a:defRPr>
            </a:lvl8pPr>
            <a:lvl9pPr>
              <a:defRPr sz="2400" b="0">
                <a:solidFill>
                  <a:srgbClr val="F5F3E9"/>
                </a:solidFill>
                <a:latin typeface="Avenir Next"/>
                <a:ea typeface="Avenir Next"/>
                <a:cs typeface="Avenir Next"/>
              </a:defRPr>
            </a:lvl9pPr>
          </a:lstStyle>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Un hongo daña el fruto.</a:t>
            </a:r>
          </a:p>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La humedad favorece su desarrollo.</a:t>
            </a:r>
          </a:p>
        </p:txBody>
      </p:sp>
      <p:sp>
        <p:nvSpPr>
          <p:cNvPr id="4" name="US$ 1,619 millones">
            <a:extLst xmlns:a="http://schemas.openxmlformats.org/drawingml/2006/main">
              <a:ext uri="{FF2B5EF4-FFF2-40B4-BE49-F238E27FC236}">
                <a16:creationId xmlns:a16="http://schemas.microsoft.com/office/drawing/2014/main" id="{79626E0E-E752-459A-8FD2-5BCBECCB0307}"/>
              </a:ext>
            </a:extLst>
          </p:cNvPr>
          <p:cNvSpPr>
            <a:spLocks xmlns:a="http://schemas.openxmlformats.org/drawingml/2006/main" noGrp="1"/>
          </p:cNvSpPr>
          <p:nvPr/>
        </p:nvSpPr>
        <p:spPr>
          <a:xfrm xmlns:a="http://schemas.openxmlformats.org/drawingml/2006/main">
            <a:off x="609600" y="3590925"/>
            <a:ext cx="7429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D5E4AD"/>
                </a:solidFill>
                <a:latin typeface="Avenir Next"/>
                <a:ea typeface="Avenir Next"/>
                <a:cs typeface="Avenir Next"/>
              </a:defRPr>
            </a:defPPr>
            <a:lvl1pPr>
              <a:defRPr sz="4650" b="1">
                <a:solidFill>
                  <a:srgbClr val="D5E4AD"/>
                </a:solidFill>
                <a:latin typeface="Avenir Next"/>
                <a:ea typeface="Avenir Next"/>
                <a:cs typeface="Avenir Next"/>
              </a:defRPr>
            </a:lvl1pPr>
            <a:lvl2pPr>
              <a:defRPr sz="4650" b="1">
                <a:solidFill>
                  <a:srgbClr val="D5E4AD"/>
                </a:solidFill>
                <a:latin typeface="Avenir Next"/>
                <a:ea typeface="Avenir Next"/>
                <a:cs typeface="Avenir Next"/>
              </a:defRPr>
            </a:lvl2pPr>
            <a:lvl3pPr>
              <a:defRPr sz="4650" b="1">
                <a:solidFill>
                  <a:srgbClr val="D5E4AD"/>
                </a:solidFill>
                <a:latin typeface="Avenir Next"/>
                <a:ea typeface="Avenir Next"/>
                <a:cs typeface="Avenir Next"/>
              </a:defRPr>
            </a:lvl3pPr>
            <a:lvl4pPr>
              <a:defRPr sz="4650" b="1">
                <a:solidFill>
                  <a:srgbClr val="D5E4AD"/>
                </a:solidFill>
                <a:latin typeface="Avenir Next"/>
                <a:ea typeface="Avenir Next"/>
                <a:cs typeface="Avenir Next"/>
              </a:defRPr>
            </a:lvl4pPr>
            <a:lvl5pPr>
              <a:defRPr sz="4650" b="1">
                <a:solidFill>
                  <a:srgbClr val="D5E4AD"/>
                </a:solidFill>
                <a:latin typeface="Avenir Next"/>
                <a:ea typeface="Avenir Next"/>
                <a:cs typeface="Avenir Next"/>
              </a:defRPr>
            </a:lvl5pPr>
            <a:lvl6pPr>
              <a:defRPr sz="4650" b="1">
                <a:solidFill>
                  <a:srgbClr val="D5E4AD"/>
                </a:solidFill>
                <a:latin typeface="Avenir Next"/>
                <a:ea typeface="Avenir Next"/>
                <a:cs typeface="Avenir Next"/>
              </a:defRPr>
            </a:lvl6pPr>
            <a:lvl7pPr>
              <a:defRPr sz="4650" b="1">
                <a:solidFill>
                  <a:srgbClr val="D5E4AD"/>
                </a:solidFill>
                <a:latin typeface="Avenir Next"/>
                <a:ea typeface="Avenir Next"/>
                <a:cs typeface="Avenir Next"/>
              </a:defRPr>
            </a:lvl7pPr>
            <a:lvl8pPr>
              <a:defRPr sz="4650" b="1">
                <a:solidFill>
                  <a:srgbClr val="D5E4AD"/>
                </a:solidFill>
                <a:latin typeface="Avenir Next"/>
                <a:ea typeface="Avenir Next"/>
                <a:cs typeface="Avenir Next"/>
              </a:defRPr>
            </a:lvl8pPr>
            <a:lvl9pPr>
              <a:defRPr sz="4650" b="1">
                <a:solidFill>
                  <a:srgbClr val="D5E4AD"/>
                </a:solidFill>
                <a:latin typeface="Avenir Next"/>
                <a:ea typeface="Avenir Next"/>
                <a:cs typeface="Avenir Next"/>
              </a:defRPr>
            </a:lvl9pPr>
          </a:lstStyle>
          <a:p xmlns:a="http://schemas.openxmlformats.org/drawingml/2006/main">
            <a:pPr>
              <a:defRPr sz="4650" b="1">
                <a:solidFill>
                  <a:srgbClr val="D5E4AD"/>
                </a:solidFill>
                <a:latin typeface="Avenir Next"/>
                <a:ea typeface="Avenir Next"/>
                <a:cs typeface="Avenir Next"/>
              </a:defRPr>
            </a:pPr>
            <a:r>
              <a:rPr sz="4650" b="1">
                <a:solidFill>
                  <a:srgbClr val="D5E4AD"/>
                </a:solidFill>
                <a:latin typeface="Avenir Next"/>
                <a:ea typeface="Avenir Next"/>
                <a:cs typeface="Avenir Next"/>
              </a:rPr>
              <a:t>US$ 1,619 millones</a:t>
            </a:r>
          </a:p>
        </p:txBody>
      </p:sp>
      <p:sp>
        <p:nvSpPr>
          <p:cNvPr id="5" name="Exportaciones de cacao y derivados&#10;Perú, 2025">
            <a:extLst xmlns:a="http://schemas.openxmlformats.org/drawingml/2006/main">
              <a:ext uri="{FF2B5EF4-FFF2-40B4-BE49-F238E27FC236}">
                <a16:creationId xmlns:a16="http://schemas.microsoft.com/office/drawing/2014/main" id="{FFC6FEEB-1414-417B-9B28-5A207BBC5FDC}"/>
              </a:ext>
            </a:extLst>
          </p:cNvPr>
          <p:cNvSpPr>
            <a:spLocks xmlns:a="http://schemas.openxmlformats.org/drawingml/2006/main" noGrp="1"/>
          </p:cNvSpPr>
          <p:nvPr/>
        </p:nvSpPr>
        <p:spPr>
          <a:xfrm xmlns:a="http://schemas.openxmlformats.org/drawingml/2006/main">
            <a:off x="609600" y="4648200"/>
            <a:ext cx="714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3E9"/>
                </a:solidFill>
                <a:latin typeface="Avenir Next"/>
                <a:ea typeface="Avenir Next"/>
                <a:cs typeface="Avenir Next"/>
              </a:defRPr>
            </a:defPPr>
            <a:lvl1pPr>
              <a:defRPr sz="2025" b="0">
                <a:solidFill>
                  <a:srgbClr val="F5F3E9"/>
                </a:solidFill>
                <a:latin typeface="Avenir Next"/>
                <a:ea typeface="Avenir Next"/>
                <a:cs typeface="Avenir Next"/>
              </a:defRPr>
            </a:lvl1pPr>
            <a:lvl2pPr>
              <a:defRPr sz="2025" b="0">
                <a:solidFill>
                  <a:srgbClr val="F5F3E9"/>
                </a:solidFill>
                <a:latin typeface="Avenir Next"/>
                <a:ea typeface="Avenir Next"/>
                <a:cs typeface="Avenir Next"/>
              </a:defRPr>
            </a:lvl2pPr>
            <a:lvl3pPr>
              <a:defRPr sz="2025" b="0">
                <a:solidFill>
                  <a:srgbClr val="F5F3E9"/>
                </a:solidFill>
                <a:latin typeface="Avenir Next"/>
                <a:ea typeface="Avenir Next"/>
                <a:cs typeface="Avenir Next"/>
              </a:defRPr>
            </a:lvl3pPr>
            <a:lvl4pPr>
              <a:defRPr sz="2025" b="0">
                <a:solidFill>
                  <a:srgbClr val="F5F3E9"/>
                </a:solidFill>
                <a:latin typeface="Avenir Next"/>
                <a:ea typeface="Avenir Next"/>
                <a:cs typeface="Avenir Next"/>
              </a:defRPr>
            </a:lvl4pPr>
            <a:lvl5pPr>
              <a:defRPr sz="2025" b="0">
                <a:solidFill>
                  <a:srgbClr val="F5F3E9"/>
                </a:solidFill>
                <a:latin typeface="Avenir Next"/>
                <a:ea typeface="Avenir Next"/>
                <a:cs typeface="Avenir Next"/>
              </a:defRPr>
            </a:lvl5pPr>
            <a:lvl6pPr>
              <a:defRPr sz="2025" b="0">
                <a:solidFill>
                  <a:srgbClr val="F5F3E9"/>
                </a:solidFill>
                <a:latin typeface="Avenir Next"/>
                <a:ea typeface="Avenir Next"/>
                <a:cs typeface="Avenir Next"/>
              </a:defRPr>
            </a:lvl6pPr>
            <a:lvl7pPr>
              <a:defRPr sz="2025" b="0">
                <a:solidFill>
                  <a:srgbClr val="F5F3E9"/>
                </a:solidFill>
                <a:latin typeface="Avenir Next"/>
                <a:ea typeface="Avenir Next"/>
                <a:cs typeface="Avenir Next"/>
              </a:defRPr>
            </a:lvl7pPr>
            <a:lvl8pPr>
              <a:defRPr sz="2025" b="0">
                <a:solidFill>
                  <a:srgbClr val="F5F3E9"/>
                </a:solidFill>
                <a:latin typeface="Avenir Next"/>
                <a:ea typeface="Avenir Next"/>
                <a:cs typeface="Avenir Next"/>
              </a:defRPr>
            </a:lvl8pPr>
            <a:lvl9pPr>
              <a:defRPr sz="2025" b="0">
                <a:solidFill>
                  <a:srgbClr val="F5F3E9"/>
                </a:solidFill>
                <a:latin typeface="Avenir Next"/>
                <a:ea typeface="Avenir Next"/>
                <a:cs typeface="Avenir Next"/>
              </a:defRPr>
            </a:lvl9pPr>
          </a:lstStyle>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Exportaciones de cacao y derivados</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Perú, 2025</a:t>
            </a:r>
          </a:p>
        </p:txBody>
      </p:sp>
      <p:sp>
        <p:nvSpPr>
          <p:cNvPr id="6" name="30–80%">
            <a:extLst xmlns:a="http://schemas.openxmlformats.org/drawingml/2006/main">
              <a:ext uri="{FF2B5EF4-FFF2-40B4-BE49-F238E27FC236}">
                <a16:creationId xmlns:a16="http://schemas.microsoft.com/office/drawing/2014/main" id="{321F498E-5AA4-4EE0-AC76-2D7B7F9342B1}"/>
              </a:ext>
            </a:extLst>
          </p:cNvPr>
          <p:cNvSpPr>
            <a:spLocks xmlns:a="http://schemas.openxmlformats.org/drawingml/2006/main" noGrp="1"/>
          </p:cNvSpPr>
          <p:nvPr/>
        </p:nvSpPr>
        <p:spPr>
          <a:xfrm xmlns:a="http://schemas.openxmlformats.org/drawingml/2006/main">
            <a:off x="609600" y="5800725"/>
            <a:ext cx="2514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D5E4AD"/>
                </a:solidFill>
                <a:latin typeface="Avenir Next"/>
                <a:ea typeface="Avenir Next"/>
                <a:cs typeface="Avenir Next"/>
              </a:defRPr>
            </a:defPPr>
            <a:lvl1pPr>
              <a:defRPr sz="3675" b="1">
                <a:solidFill>
                  <a:srgbClr val="D5E4AD"/>
                </a:solidFill>
                <a:latin typeface="Avenir Next"/>
                <a:ea typeface="Avenir Next"/>
                <a:cs typeface="Avenir Next"/>
              </a:defRPr>
            </a:lvl1pPr>
            <a:lvl2pPr>
              <a:defRPr sz="3675" b="1">
                <a:solidFill>
                  <a:srgbClr val="D5E4AD"/>
                </a:solidFill>
                <a:latin typeface="Avenir Next"/>
                <a:ea typeface="Avenir Next"/>
                <a:cs typeface="Avenir Next"/>
              </a:defRPr>
            </a:lvl2pPr>
            <a:lvl3pPr>
              <a:defRPr sz="3675" b="1">
                <a:solidFill>
                  <a:srgbClr val="D5E4AD"/>
                </a:solidFill>
                <a:latin typeface="Avenir Next"/>
                <a:ea typeface="Avenir Next"/>
                <a:cs typeface="Avenir Next"/>
              </a:defRPr>
            </a:lvl3pPr>
            <a:lvl4pPr>
              <a:defRPr sz="3675" b="1">
                <a:solidFill>
                  <a:srgbClr val="D5E4AD"/>
                </a:solidFill>
                <a:latin typeface="Avenir Next"/>
                <a:ea typeface="Avenir Next"/>
                <a:cs typeface="Avenir Next"/>
              </a:defRPr>
            </a:lvl4pPr>
            <a:lvl5pPr>
              <a:defRPr sz="3675" b="1">
                <a:solidFill>
                  <a:srgbClr val="D5E4AD"/>
                </a:solidFill>
                <a:latin typeface="Avenir Next"/>
                <a:ea typeface="Avenir Next"/>
                <a:cs typeface="Avenir Next"/>
              </a:defRPr>
            </a:lvl5pPr>
            <a:lvl6pPr>
              <a:defRPr sz="3675" b="1">
                <a:solidFill>
                  <a:srgbClr val="D5E4AD"/>
                </a:solidFill>
                <a:latin typeface="Avenir Next"/>
                <a:ea typeface="Avenir Next"/>
                <a:cs typeface="Avenir Next"/>
              </a:defRPr>
            </a:lvl6pPr>
            <a:lvl7pPr>
              <a:defRPr sz="3675" b="1">
                <a:solidFill>
                  <a:srgbClr val="D5E4AD"/>
                </a:solidFill>
                <a:latin typeface="Avenir Next"/>
                <a:ea typeface="Avenir Next"/>
                <a:cs typeface="Avenir Next"/>
              </a:defRPr>
            </a:lvl7pPr>
            <a:lvl8pPr>
              <a:defRPr sz="3675" b="1">
                <a:solidFill>
                  <a:srgbClr val="D5E4AD"/>
                </a:solidFill>
                <a:latin typeface="Avenir Next"/>
                <a:ea typeface="Avenir Next"/>
                <a:cs typeface="Avenir Next"/>
              </a:defRPr>
            </a:lvl8pPr>
            <a:lvl9pPr>
              <a:defRPr sz="3675" b="1">
                <a:solidFill>
                  <a:srgbClr val="D5E4AD"/>
                </a:solidFill>
                <a:latin typeface="Avenir Next"/>
                <a:ea typeface="Avenir Next"/>
                <a:cs typeface="Avenir Next"/>
              </a:defRPr>
            </a:lvl9pPr>
          </a:lstStyle>
          <a:p xmlns:a="http://schemas.openxmlformats.org/drawingml/2006/main">
            <a:pPr>
              <a:defRPr sz="3675" b="1">
                <a:solidFill>
                  <a:srgbClr val="D5E4AD"/>
                </a:solidFill>
                <a:latin typeface="Avenir Next"/>
                <a:ea typeface="Avenir Next"/>
                <a:cs typeface="Avenir Next"/>
              </a:defRPr>
            </a:pPr>
            <a:r>
              <a:rPr sz="3675" b="1">
                <a:solidFill>
                  <a:srgbClr val="D5E4AD"/>
                </a:solidFill>
                <a:latin typeface="Avenir Next"/>
                <a:ea typeface="Avenir Next"/>
                <a:cs typeface="Avenir Next"/>
              </a:rPr>
              <a:t>30–80%</a:t>
            </a:r>
          </a:p>
        </p:txBody>
      </p:sp>
      <p:sp>
        <p:nvSpPr>
          <p:cNvPr id="7" name="Pérdida de producción reportada&#10;INIA, 2011. R">
            <a:extLst xmlns:a="http://schemas.openxmlformats.org/drawingml/2006/main">
              <a:ext uri="{FF2B5EF4-FFF2-40B4-BE49-F238E27FC236}">
                <a16:creationId xmlns:a16="http://schemas.microsoft.com/office/drawing/2014/main" id="{769756CC-FAFE-4E92-9265-D68730C182E4}"/>
              </a:ext>
            </a:extLst>
          </p:cNvPr>
          <p:cNvSpPr>
            <a:spLocks xmlns:a="http://schemas.openxmlformats.org/drawingml/2006/main" noGrp="1"/>
          </p:cNvSpPr>
          <p:nvPr/>
        </p:nvSpPr>
        <p:spPr>
          <a:xfrm xmlns:a="http://schemas.openxmlformats.org/drawingml/2006/main">
            <a:off x="3333750" y="59055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5F3E9"/>
                </a:solidFill>
                <a:latin typeface="Avenir Next"/>
                <a:ea typeface="Avenir Next"/>
                <a:cs typeface="Avenir Next"/>
              </a:defRPr>
            </a:defPPr>
            <a:lvl1pPr>
              <a:defRPr sz="1650" b="0">
                <a:solidFill>
                  <a:srgbClr val="F5F3E9"/>
                </a:solidFill>
                <a:latin typeface="Avenir Next"/>
                <a:ea typeface="Avenir Next"/>
                <a:cs typeface="Avenir Next"/>
              </a:defRPr>
            </a:lvl1pPr>
            <a:lvl2pPr>
              <a:defRPr sz="1650" b="0">
                <a:solidFill>
                  <a:srgbClr val="F5F3E9"/>
                </a:solidFill>
                <a:latin typeface="Avenir Next"/>
                <a:ea typeface="Avenir Next"/>
                <a:cs typeface="Avenir Next"/>
              </a:defRPr>
            </a:lvl2pPr>
            <a:lvl3pPr>
              <a:defRPr sz="1650" b="0">
                <a:solidFill>
                  <a:srgbClr val="F5F3E9"/>
                </a:solidFill>
                <a:latin typeface="Avenir Next"/>
                <a:ea typeface="Avenir Next"/>
                <a:cs typeface="Avenir Next"/>
              </a:defRPr>
            </a:lvl3pPr>
            <a:lvl4pPr>
              <a:defRPr sz="1650" b="0">
                <a:solidFill>
                  <a:srgbClr val="F5F3E9"/>
                </a:solidFill>
                <a:latin typeface="Avenir Next"/>
                <a:ea typeface="Avenir Next"/>
                <a:cs typeface="Avenir Next"/>
              </a:defRPr>
            </a:lvl4pPr>
            <a:lvl5pPr>
              <a:defRPr sz="1650" b="0">
                <a:solidFill>
                  <a:srgbClr val="F5F3E9"/>
                </a:solidFill>
                <a:latin typeface="Avenir Next"/>
                <a:ea typeface="Avenir Next"/>
                <a:cs typeface="Avenir Next"/>
              </a:defRPr>
            </a:lvl5pPr>
            <a:lvl6pPr>
              <a:defRPr sz="1650" b="0">
                <a:solidFill>
                  <a:srgbClr val="F5F3E9"/>
                </a:solidFill>
                <a:latin typeface="Avenir Next"/>
                <a:ea typeface="Avenir Next"/>
                <a:cs typeface="Avenir Next"/>
              </a:defRPr>
            </a:lvl6pPr>
            <a:lvl7pPr>
              <a:defRPr sz="1650" b="0">
                <a:solidFill>
                  <a:srgbClr val="F5F3E9"/>
                </a:solidFill>
                <a:latin typeface="Avenir Next"/>
                <a:ea typeface="Avenir Next"/>
                <a:cs typeface="Avenir Next"/>
              </a:defRPr>
            </a:lvl7pPr>
            <a:lvl8pPr>
              <a:defRPr sz="1650" b="0">
                <a:solidFill>
                  <a:srgbClr val="F5F3E9"/>
                </a:solidFill>
                <a:latin typeface="Avenir Next"/>
                <a:ea typeface="Avenir Next"/>
                <a:cs typeface="Avenir Next"/>
              </a:defRPr>
            </a:lvl8pPr>
            <a:lvl9pPr>
              <a:defRPr sz="1650" b="0">
                <a:solidFill>
                  <a:srgbClr val="F5F3E9"/>
                </a:solidFill>
                <a:latin typeface="Avenir Next"/>
                <a:ea typeface="Avenir Next"/>
                <a:cs typeface="Avenir Next"/>
              </a:defRPr>
            </a:lvl9pPr>
          </a:lstStyle>
          <a:p xmlns:a="http://schemas.openxmlformats.org/drawingml/2006/main">
            <a:pPr>
              <a:defRPr sz="1650" b="0">
                <a:solidFill>
                  <a:srgbClr val="F5F3E9"/>
                </a:solidFill>
                <a:latin typeface="Avenir Next"/>
                <a:ea typeface="Avenir Next"/>
                <a:cs typeface="Avenir Next"/>
              </a:defRPr>
            </a:pPr>
            <a:r>
              <a:rPr sz="1650" b="0">
                <a:solidFill>
                  <a:srgbClr val="F5F3E9"/>
                </a:solidFill>
                <a:latin typeface="Avenir Next"/>
                <a:ea typeface="Avenir Next"/>
                <a:cs typeface="Avenir Next"/>
              </a:rPr>
              <a:t>Pérdida de producción reportada</a:t>
            </a:r>
          </a:p>
          <a:p xmlns:a="http://schemas.openxmlformats.org/drawingml/2006/main">
            <a:pPr>
              <a:defRPr sz="1650" b="0">
                <a:solidFill>
                  <a:srgbClr val="F5F3E9"/>
                </a:solidFill>
                <a:latin typeface="Avenir Next"/>
                <a:ea typeface="Avenir Next"/>
                <a:cs typeface="Avenir Next"/>
              </a:defRPr>
            </a:pPr>
            <a:r>
              <a:rPr sz="1650" b="0">
                <a:solidFill>
                  <a:srgbClr val="F5F3E9"/>
                </a:solidFill>
                <a:latin typeface="Avenir Next"/>
                <a:ea typeface="Avenir Next"/>
                <a:cs typeface="Avenir Next"/>
              </a:rPr>
              <a:t>INIA, 2011. Rango histórico.</a:t>
            </a:r>
          </a:p>
        </p:txBody>
      </p:sp>
      <p:pic>
        <p:nvPicPr>
          <p:cNvPr id="8" name="">
            <a:extLst xmlns:a="http://schemas.openxmlformats.org/drawingml/2006/main">
              <a:ext uri="{FF2B5EF4-FFF2-40B4-BE49-F238E27FC236}">
                <a16:creationId xmlns:a16="http://schemas.microsoft.com/office/drawing/2014/main" id="{BF853D19-0643-4131-939E-CFFDBF4DB68B}"/>
              </a:ext>
            </a:extLst>
          </p:cNvPr>
          <p:cNvPicPr>
            <a:picLocks xmlns:a="http://schemas.openxmlformats.org/drawingml/2006/main" noChangeAspect="1"/>
          </p:cNvPicPr>
          <p:nvPr/>
        </p:nvPicPr>
        <p:blipFill>
          <a:blip xmlns:r="http://schemas.openxmlformats.org/officeDocument/2006/relationships" xmlns:a="http://schemas.openxmlformats.org/drawingml/2006/main" r:embed="R572e7770f58048b8"/>
          <a:stretch xmlns:a="http://schemas.openxmlformats.org/drawingml/2006/main"/>
        </p:blipFill>
        <p:spPr>
          <a:xfrm xmlns:a="http://schemas.openxmlformats.org/drawingml/2006/main">
            <a:off x="8429625" y="1771650"/>
            <a:ext cx="2857500" cy="3810000"/>
          </a:xfrm>
          <a:prstGeom xmlns:a="http://schemas.openxmlformats.org/drawingml/2006/main" prst="rect">
            <a:avLst/>
          </a:prstGeom>
        </p:spPr>
      </p:pic>
      <p:sp>
        <p:nvSpPr>
          <p:cNvPr id="9" name="Foto real. Dataset Mendeley.">
            <a:extLst xmlns:a="http://schemas.openxmlformats.org/drawingml/2006/main">
              <a:ext uri="{FF2B5EF4-FFF2-40B4-BE49-F238E27FC236}">
                <a16:creationId xmlns:a16="http://schemas.microsoft.com/office/drawing/2014/main" id="{437E6F86-371F-45DF-B454-BB7E21D1D51C}"/>
              </a:ext>
            </a:extLst>
          </p:cNvPr>
          <p:cNvSpPr>
            <a:spLocks xmlns:a="http://schemas.openxmlformats.org/drawingml/2006/main" noGrp="1"/>
          </p:cNvSpPr>
          <p:nvPr/>
        </p:nvSpPr>
        <p:spPr>
          <a:xfrm xmlns:a="http://schemas.openxmlformats.org/drawingml/2006/main">
            <a:off x="8429625" y="5838825"/>
            <a:ext cx="3152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D5E4AD"/>
                </a:solidFill>
                <a:latin typeface="Avenir Next"/>
                <a:ea typeface="Avenir Next"/>
                <a:cs typeface="Avenir Next"/>
              </a:defRPr>
            </a:defPPr>
            <a:lvl1pPr>
              <a:defRPr sz="1425" b="0">
                <a:solidFill>
                  <a:srgbClr val="D5E4AD"/>
                </a:solidFill>
                <a:latin typeface="Avenir Next"/>
                <a:ea typeface="Avenir Next"/>
                <a:cs typeface="Avenir Next"/>
              </a:defRPr>
            </a:lvl1pPr>
            <a:lvl2pPr>
              <a:defRPr sz="1425" b="0">
                <a:solidFill>
                  <a:srgbClr val="D5E4AD"/>
                </a:solidFill>
                <a:latin typeface="Avenir Next"/>
                <a:ea typeface="Avenir Next"/>
                <a:cs typeface="Avenir Next"/>
              </a:defRPr>
            </a:lvl2pPr>
            <a:lvl3pPr>
              <a:defRPr sz="1425" b="0">
                <a:solidFill>
                  <a:srgbClr val="D5E4AD"/>
                </a:solidFill>
                <a:latin typeface="Avenir Next"/>
                <a:ea typeface="Avenir Next"/>
                <a:cs typeface="Avenir Next"/>
              </a:defRPr>
            </a:lvl3pPr>
            <a:lvl4pPr>
              <a:defRPr sz="1425" b="0">
                <a:solidFill>
                  <a:srgbClr val="D5E4AD"/>
                </a:solidFill>
                <a:latin typeface="Avenir Next"/>
                <a:ea typeface="Avenir Next"/>
                <a:cs typeface="Avenir Next"/>
              </a:defRPr>
            </a:lvl4pPr>
            <a:lvl5pPr>
              <a:defRPr sz="1425" b="0">
                <a:solidFill>
                  <a:srgbClr val="D5E4AD"/>
                </a:solidFill>
                <a:latin typeface="Avenir Next"/>
                <a:ea typeface="Avenir Next"/>
                <a:cs typeface="Avenir Next"/>
              </a:defRPr>
            </a:lvl5pPr>
            <a:lvl6pPr>
              <a:defRPr sz="1425" b="0">
                <a:solidFill>
                  <a:srgbClr val="D5E4AD"/>
                </a:solidFill>
                <a:latin typeface="Avenir Next"/>
                <a:ea typeface="Avenir Next"/>
                <a:cs typeface="Avenir Next"/>
              </a:defRPr>
            </a:lvl6pPr>
            <a:lvl7pPr>
              <a:defRPr sz="1425" b="0">
                <a:solidFill>
                  <a:srgbClr val="D5E4AD"/>
                </a:solidFill>
                <a:latin typeface="Avenir Next"/>
                <a:ea typeface="Avenir Next"/>
                <a:cs typeface="Avenir Next"/>
              </a:defRPr>
            </a:lvl7pPr>
            <a:lvl8pPr>
              <a:defRPr sz="1425" b="0">
                <a:solidFill>
                  <a:srgbClr val="D5E4AD"/>
                </a:solidFill>
                <a:latin typeface="Avenir Next"/>
                <a:ea typeface="Avenir Next"/>
                <a:cs typeface="Avenir Next"/>
              </a:defRPr>
            </a:lvl8pPr>
            <a:lvl9pPr>
              <a:defRPr sz="1425" b="0">
                <a:solidFill>
                  <a:srgbClr val="D5E4AD"/>
                </a:solidFill>
                <a:latin typeface="Avenir Next"/>
                <a:ea typeface="Avenir Next"/>
                <a:cs typeface="Avenir Next"/>
              </a:defRPr>
            </a:lvl9pPr>
          </a:lstStyle>
          <a:p xmlns:a="http://schemas.openxmlformats.org/drawingml/2006/main">
            <a:pPr>
              <a:defRPr sz="1425" b="0">
                <a:solidFill>
                  <a:srgbClr val="D5E4AD"/>
                </a:solidFill>
                <a:latin typeface="Avenir Next"/>
                <a:ea typeface="Avenir Next"/>
                <a:cs typeface="Avenir Next"/>
              </a:defRPr>
            </a:pPr>
            <a:r>
              <a:rPr sz="1425" b="0">
                <a:solidFill>
                  <a:srgbClr val="D5E4AD"/>
                </a:solidFill>
                <a:latin typeface="Avenir Next"/>
                <a:ea typeface="Avenir Next"/>
                <a:cs typeface="Avenir Next"/>
              </a:rPr>
              <a:t>Foto real. Dataset Mendeley.</a:t>
            </a:r>
          </a:p>
        </p:txBody>
      </p:sp>
    </p:spTree>
    <p:extLst>
      <p:ext uri="{BB962C8B-B14F-4D97-AF65-F5344CB8AC3E}">
        <p14:creationId xmlns:p14="http://schemas.microsoft.com/office/powerpoint/2010/main" val="1521513093"/>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Visión entrenada con fotos reales">
            <a:extLst xmlns:a="http://schemas.openxmlformats.org/drawingml/2006/main">
              <a:ext uri="{FF2B5EF4-FFF2-40B4-BE49-F238E27FC236}">
                <a16:creationId xmlns:a16="http://schemas.microsoft.com/office/drawing/2014/main" id="{C3A0FB53-C6A6-4C1C-8321-C6191CF0F49A}"/>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Visión entrenada con fotos reales</a:t>
            </a:r>
          </a:p>
        </p:txBody>
      </p:sp>
      <p:sp>
        <p:nvSpPr>
          <p:cNvPr id="2" name="1,655">
            <a:extLst xmlns:a="http://schemas.openxmlformats.org/drawingml/2006/main">
              <a:ext uri="{FF2B5EF4-FFF2-40B4-BE49-F238E27FC236}">
                <a16:creationId xmlns:a16="http://schemas.microsoft.com/office/drawing/2014/main" id="{E83AAFFF-5EE3-4EC9-A7BE-DF3D0CB1D281}"/>
              </a:ext>
            </a:extLst>
          </p:cNvPr>
          <p:cNvSpPr>
            <a:spLocks xmlns:a="http://schemas.openxmlformats.org/drawingml/2006/main" noGrp="1"/>
          </p:cNvSpPr>
          <p:nvPr/>
        </p:nvSpPr>
        <p:spPr>
          <a:xfrm xmlns:a="http://schemas.openxmlformats.org/drawingml/2006/main">
            <a:off x="609600" y="175260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17392B"/>
                </a:solidFill>
                <a:latin typeface="Avenir Next"/>
                <a:ea typeface="Avenir Next"/>
                <a:cs typeface="Avenir Next"/>
              </a:defRPr>
            </a:defPPr>
            <a:lvl1pPr>
              <a:defRPr sz="6300" b="1">
                <a:solidFill>
                  <a:srgbClr val="17392B"/>
                </a:solidFill>
                <a:latin typeface="Avenir Next"/>
                <a:ea typeface="Avenir Next"/>
                <a:cs typeface="Avenir Next"/>
              </a:defRPr>
            </a:lvl1pPr>
            <a:lvl2pPr>
              <a:defRPr sz="6300" b="1">
                <a:solidFill>
                  <a:srgbClr val="17392B"/>
                </a:solidFill>
                <a:latin typeface="Avenir Next"/>
                <a:ea typeface="Avenir Next"/>
                <a:cs typeface="Avenir Next"/>
              </a:defRPr>
            </a:lvl2pPr>
            <a:lvl3pPr>
              <a:defRPr sz="6300" b="1">
                <a:solidFill>
                  <a:srgbClr val="17392B"/>
                </a:solidFill>
                <a:latin typeface="Avenir Next"/>
                <a:ea typeface="Avenir Next"/>
                <a:cs typeface="Avenir Next"/>
              </a:defRPr>
            </a:lvl3pPr>
            <a:lvl4pPr>
              <a:defRPr sz="6300" b="1">
                <a:solidFill>
                  <a:srgbClr val="17392B"/>
                </a:solidFill>
                <a:latin typeface="Avenir Next"/>
                <a:ea typeface="Avenir Next"/>
                <a:cs typeface="Avenir Next"/>
              </a:defRPr>
            </a:lvl4pPr>
            <a:lvl5pPr>
              <a:defRPr sz="6300" b="1">
                <a:solidFill>
                  <a:srgbClr val="17392B"/>
                </a:solidFill>
                <a:latin typeface="Avenir Next"/>
                <a:ea typeface="Avenir Next"/>
                <a:cs typeface="Avenir Next"/>
              </a:defRPr>
            </a:lvl5pPr>
            <a:lvl6pPr>
              <a:defRPr sz="6300" b="1">
                <a:solidFill>
                  <a:srgbClr val="17392B"/>
                </a:solidFill>
                <a:latin typeface="Avenir Next"/>
                <a:ea typeface="Avenir Next"/>
                <a:cs typeface="Avenir Next"/>
              </a:defRPr>
            </a:lvl6pPr>
            <a:lvl7pPr>
              <a:defRPr sz="6300" b="1">
                <a:solidFill>
                  <a:srgbClr val="17392B"/>
                </a:solidFill>
                <a:latin typeface="Avenir Next"/>
                <a:ea typeface="Avenir Next"/>
                <a:cs typeface="Avenir Next"/>
              </a:defRPr>
            </a:lvl7pPr>
            <a:lvl8pPr>
              <a:defRPr sz="6300" b="1">
                <a:solidFill>
                  <a:srgbClr val="17392B"/>
                </a:solidFill>
                <a:latin typeface="Avenir Next"/>
                <a:ea typeface="Avenir Next"/>
                <a:cs typeface="Avenir Next"/>
              </a:defRPr>
            </a:lvl8pPr>
            <a:lvl9pPr>
              <a:defRPr sz="6300" b="1">
                <a:solidFill>
                  <a:srgbClr val="17392B"/>
                </a:solidFill>
                <a:latin typeface="Avenir Next"/>
                <a:ea typeface="Avenir Next"/>
                <a:cs typeface="Avenir Next"/>
              </a:defRPr>
            </a:lvl9pPr>
          </a:lstStyle>
          <a:p xmlns:a="http://schemas.openxmlformats.org/drawingml/2006/main">
            <a:pPr>
              <a:defRPr sz="6300" b="1">
                <a:solidFill>
                  <a:srgbClr val="17392B"/>
                </a:solidFill>
                <a:latin typeface="Avenir Next"/>
                <a:ea typeface="Avenir Next"/>
                <a:cs typeface="Avenir Next"/>
              </a:defRPr>
            </a:pPr>
            <a:r>
              <a:rPr sz="6300" b="1">
                <a:solidFill>
                  <a:srgbClr val="17392B"/>
                </a:solidFill>
                <a:latin typeface="Avenir Next"/>
                <a:ea typeface="Avenir Next"/>
                <a:cs typeface="Avenir Next"/>
              </a:rPr>
              <a:t>1,655</a:t>
            </a:r>
          </a:p>
        </p:txBody>
      </p:sp>
      <p:sp>
        <p:nvSpPr>
          <p:cNvPr id="3" name="fotos de entrenamiento">
            <a:extLst xmlns:a="http://schemas.openxmlformats.org/drawingml/2006/main">
              <a:ext uri="{FF2B5EF4-FFF2-40B4-BE49-F238E27FC236}">
                <a16:creationId xmlns:a16="http://schemas.microsoft.com/office/drawing/2014/main" id="{5E9A0327-737A-4ACC-8C26-B740FB4F1F77}"/>
              </a:ext>
            </a:extLst>
          </p:cNvPr>
          <p:cNvSpPr>
            <a:spLocks xmlns:a="http://schemas.openxmlformats.org/drawingml/2006/main" noGrp="1"/>
          </p:cNvSpPr>
          <p:nvPr/>
        </p:nvSpPr>
        <p:spPr>
          <a:xfrm xmlns:a="http://schemas.openxmlformats.org/drawingml/2006/main">
            <a:off x="609600" y="2924175"/>
            <a:ext cx="676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B2B"/>
                </a:solidFill>
                <a:latin typeface="Avenir Next"/>
                <a:ea typeface="Avenir Next"/>
                <a:cs typeface="Avenir Next"/>
              </a:defRPr>
            </a:defPPr>
            <a:lvl1pPr>
              <a:defRPr sz="2325" b="0">
                <a:solidFill>
                  <a:srgbClr val="233B2B"/>
                </a:solidFill>
                <a:latin typeface="Avenir Next"/>
                <a:ea typeface="Avenir Next"/>
                <a:cs typeface="Avenir Next"/>
              </a:defRPr>
            </a:lvl1pPr>
            <a:lvl2pPr>
              <a:defRPr sz="2325" b="0">
                <a:solidFill>
                  <a:srgbClr val="233B2B"/>
                </a:solidFill>
                <a:latin typeface="Avenir Next"/>
                <a:ea typeface="Avenir Next"/>
                <a:cs typeface="Avenir Next"/>
              </a:defRPr>
            </a:lvl2pPr>
            <a:lvl3pPr>
              <a:defRPr sz="2325" b="0">
                <a:solidFill>
                  <a:srgbClr val="233B2B"/>
                </a:solidFill>
                <a:latin typeface="Avenir Next"/>
                <a:ea typeface="Avenir Next"/>
                <a:cs typeface="Avenir Next"/>
              </a:defRPr>
            </a:lvl3pPr>
            <a:lvl4pPr>
              <a:defRPr sz="2325" b="0">
                <a:solidFill>
                  <a:srgbClr val="233B2B"/>
                </a:solidFill>
                <a:latin typeface="Avenir Next"/>
                <a:ea typeface="Avenir Next"/>
                <a:cs typeface="Avenir Next"/>
              </a:defRPr>
            </a:lvl4pPr>
            <a:lvl5pPr>
              <a:defRPr sz="2325" b="0">
                <a:solidFill>
                  <a:srgbClr val="233B2B"/>
                </a:solidFill>
                <a:latin typeface="Avenir Next"/>
                <a:ea typeface="Avenir Next"/>
                <a:cs typeface="Avenir Next"/>
              </a:defRPr>
            </a:lvl5pPr>
            <a:lvl6pPr>
              <a:defRPr sz="2325" b="0">
                <a:solidFill>
                  <a:srgbClr val="233B2B"/>
                </a:solidFill>
                <a:latin typeface="Avenir Next"/>
                <a:ea typeface="Avenir Next"/>
                <a:cs typeface="Avenir Next"/>
              </a:defRPr>
            </a:lvl6pPr>
            <a:lvl7pPr>
              <a:defRPr sz="2325" b="0">
                <a:solidFill>
                  <a:srgbClr val="233B2B"/>
                </a:solidFill>
                <a:latin typeface="Avenir Next"/>
                <a:ea typeface="Avenir Next"/>
                <a:cs typeface="Avenir Next"/>
              </a:defRPr>
            </a:lvl7pPr>
            <a:lvl8pPr>
              <a:defRPr sz="2325" b="0">
                <a:solidFill>
                  <a:srgbClr val="233B2B"/>
                </a:solidFill>
                <a:latin typeface="Avenir Next"/>
                <a:ea typeface="Avenir Next"/>
                <a:cs typeface="Avenir Next"/>
              </a:defRPr>
            </a:lvl8pPr>
            <a:lvl9pPr>
              <a:defRPr sz="2325" b="0">
                <a:solidFill>
                  <a:srgbClr val="233B2B"/>
                </a:solidFill>
                <a:latin typeface="Avenir Next"/>
                <a:ea typeface="Avenir Next"/>
                <a:cs typeface="Avenir Next"/>
              </a:defRPr>
            </a:lvl9pPr>
          </a:lstStyle>
          <a:p xmlns:a="http://schemas.openxmlformats.org/drawingml/2006/main">
            <a:pPr>
              <a:defRPr sz="2325" b="0">
                <a:solidFill>
                  <a:srgbClr val="233B2B"/>
                </a:solidFill>
                <a:latin typeface="Avenir Next"/>
                <a:ea typeface="Avenir Next"/>
                <a:cs typeface="Avenir Next"/>
              </a:defRPr>
            </a:pPr>
            <a:r>
              <a:rPr sz="2325" b="0">
                <a:solidFill>
                  <a:srgbClr val="233B2B"/>
                </a:solidFill>
                <a:latin typeface="Avenir Next"/>
                <a:ea typeface="Avenir Next"/>
                <a:cs typeface="Avenir Next"/>
              </a:rPr>
              <a:t>fotos de entrenamiento</a:t>
            </a:r>
          </a:p>
        </p:txBody>
      </p:sp>
      <p:sp>
        <p:nvSpPr>
          <p:cNvPr id="4" name="191 / 200">
            <a:extLst xmlns:a="http://schemas.openxmlformats.org/drawingml/2006/main">
              <a:ext uri="{FF2B5EF4-FFF2-40B4-BE49-F238E27FC236}">
                <a16:creationId xmlns:a16="http://schemas.microsoft.com/office/drawing/2014/main" id="{A40F57BD-F46B-41B1-AFF2-374F28A96D3E}"/>
              </a:ext>
            </a:extLst>
          </p:cNvPr>
          <p:cNvSpPr>
            <a:spLocks xmlns:a="http://schemas.openxmlformats.org/drawingml/2006/main" noGrp="1"/>
          </p:cNvSpPr>
          <p:nvPr/>
        </p:nvSpPr>
        <p:spPr>
          <a:xfrm xmlns:a="http://schemas.openxmlformats.org/drawingml/2006/main">
            <a:off x="609600" y="3886200"/>
            <a:ext cx="676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7392B"/>
                </a:solidFill>
                <a:latin typeface="Avenir Next"/>
                <a:ea typeface="Avenir Next"/>
                <a:cs typeface="Avenir Next"/>
              </a:defRPr>
            </a:defPPr>
            <a:lvl1pPr>
              <a:defRPr sz="4875" b="1">
                <a:solidFill>
                  <a:srgbClr val="17392B"/>
                </a:solidFill>
                <a:latin typeface="Avenir Next"/>
                <a:ea typeface="Avenir Next"/>
                <a:cs typeface="Avenir Next"/>
              </a:defRPr>
            </a:lvl1pPr>
            <a:lvl2pPr>
              <a:defRPr sz="4875" b="1">
                <a:solidFill>
                  <a:srgbClr val="17392B"/>
                </a:solidFill>
                <a:latin typeface="Avenir Next"/>
                <a:ea typeface="Avenir Next"/>
                <a:cs typeface="Avenir Next"/>
              </a:defRPr>
            </a:lvl2pPr>
            <a:lvl3pPr>
              <a:defRPr sz="4875" b="1">
                <a:solidFill>
                  <a:srgbClr val="17392B"/>
                </a:solidFill>
                <a:latin typeface="Avenir Next"/>
                <a:ea typeface="Avenir Next"/>
                <a:cs typeface="Avenir Next"/>
              </a:defRPr>
            </a:lvl3pPr>
            <a:lvl4pPr>
              <a:defRPr sz="4875" b="1">
                <a:solidFill>
                  <a:srgbClr val="17392B"/>
                </a:solidFill>
                <a:latin typeface="Avenir Next"/>
                <a:ea typeface="Avenir Next"/>
                <a:cs typeface="Avenir Next"/>
              </a:defRPr>
            </a:lvl4pPr>
            <a:lvl5pPr>
              <a:defRPr sz="4875" b="1">
                <a:solidFill>
                  <a:srgbClr val="17392B"/>
                </a:solidFill>
                <a:latin typeface="Avenir Next"/>
                <a:ea typeface="Avenir Next"/>
                <a:cs typeface="Avenir Next"/>
              </a:defRPr>
            </a:lvl5pPr>
            <a:lvl6pPr>
              <a:defRPr sz="4875" b="1">
                <a:solidFill>
                  <a:srgbClr val="17392B"/>
                </a:solidFill>
                <a:latin typeface="Avenir Next"/>
                <a:ea typeface="Avenir Next"/>
                <a:cs typeface="Avenir Next"/>
              </a:defRPr>
            </a:lvl6pPr>
            <a:lvl7pPr>
              <a:defRPr sz="4875" b="1">
                <a:solidFill>
                  <a:srgbClr val="17392B"/>
                </a:solidFill>
                <a:latin typeface="Avenir Next"/>
                <a:ea typeface="Avenir Next"/>
                <a:cs typeface="Avenir Next"/>
              </a:defRPr>
            </a:lvl7pPr>
            <a:lvl8pPr>
              <a:defRPr sz="4875" b="1">
                <a:solidFill>
                  <a:srgbClr val="17392B"/>
                </a:solidFill>
                <a:latin typeface="Avenir Next"/>
                <a:ea typeface="Avenir Next"/>
                <a:cs typeface="Avenir Next"/>
              </a:defRPr>
            </a:lvl8pPr>
            <a:lvl9pPr>
              <a:defRPr sz="4875" b="1">
                <a:solidFill>
                  <a:srgbClr val="17392B"/>
                </a:solidFill>
                <a:latin typeface="Avenir Next"/>
                <a:ea typeface="Avenir Next"/>
                <a:cs typeface="Avenir Next"/>
              </a:defRPr>
            </a:lvl9pPr>
          </a:lstStyle>
          <a:p xmlns:a="http://schemas.openxmlformats.org/drawingml/2006/main">
            <a:pPr>
              <a:defRPr sz="4875" b="1">
                <a:solidFill>
                  <a:srgbClr val="17392B"/>
                </a:solidFill>
                <a:latin typeface="Avenir Next"/>
                <a:ea typeface="Avenir Next"/>
                <a:cs typeface="Avenir Next"/>
              </a:defRPr>
            </a:pPr>
            <a:r>
              <a:rPr sz="4875" b="1">
                <a:solidFill>
                  <a:srgbClr val="17392B"/>
                </a:solidFill>
                <a:latin typeface="Avenir Next"/>
                <a:ea typeface="Avenir Next"/>
                <a:cs typeface="Avenir Next"/>
              </a:rPr>
              <a:t>191 / 200</a:t>
            </a:r>
          </a:p>
        </p:txBody>
      </p:sp>
      <p:sp>
        <p:nvSpPr>
          <p:cNvPr id="5" name="fotos con Monilia activaron alerta">
            <a:extLst xmlns:a="http://schemas.openxmlformats.org/drawingml/2006/main">
              <a:ext uri="{FF2B5EF4-FFF2-40B4-BE49-F238E27FC236}">
                <a16:creationId xmlns:a16="http://schemas.microsoft.com/office/drawing/2014/main" id="{192DC7D2-D751-4BEC-B1C5-D1C8043D4DA6}"/>
              </a:ext>
            </a:extLst>
          </p:cNvPr>
          <p:cNvSpPr>
            <a:spLocks xmlns:a="http://schemas.openxmlformats.org/drawingml/2006/main" noGrp="1"/>
          </p:cNvSpPr>
          <p:nvPr/>
        </p:nvSpPr>
        <p:spPr>
          <a:xfrm xmlns:a="http://schemas.openxmlformats.org/drawingml/2006/main">
            <a:off x="609600" y="4838700"/>
            <a:ext cx="685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B2B"/>
                </a:solidFill>
                <a:latin typeface="Avenir Next"/>
                <a:ea typeface="Avenir Next"/>
                <a:cs typeface="Avenir Next"/>
              </a:defRPr>
            </a:defPPr>
            <a:lvl1pPr>
              <a:defRPr sz="2100" b="0">
                <a:solidFill>
                  <a:srgbClr val="233B2B"/>
                </a:solidFill>
                <a:latin typeface="Avenir Next"/>
                <a:ea typeface="Avenir Next"/>
                <a:cs typeface="Avenir Next"/>
              </a:defRPr>
            </a:lvl1pPr>
            <a:lvl2pPr>
              <a:defRPr sz="2100" b="0">
                <a:solidFill>
                  <a:srgbClr val="233B2B"/>
                </a:solidFill>
                <a:latin typeface="Avenir Next"/>
                <a:ea typeface="Avenir Next"/>
                <a:cs typeface="Avenir Next"/>
              </a:defRPr>
            </a:lvl2pPr>
            <a:lvl3pPr>
              <a:defRPr sz="2100" b="0">
                <a:solidFill>
                  <a:srgbClr val="233B2B"/>
                </a:solidFill>
                <a:latin typeface="Avenir Next"/>
                <a:ea typeface="Avenir Next"/>
                <a:cs typeface="Avenir Next"/>
              </a:defRPr>
            </a:lvl3pPr>
            <a:lvl4pPr>
              <a:defRPr sz="2100" b="0">
                <a:solidFill>
                  <a:srgbClr val="233B2B"/>
                </a:solidFill>
                <a:latin typeface="Avenir Next"/>
                <a:ea typeface="Avenir Next"/>
                <a:cs typeface="Avenir Next"/>
              </a:defRPr>
            </a:lvl4pPr>
            <a:lvl5pPr>
              <a:defRPr sz="2100" b="0">
                <a:solidFill>
                  <a:srgbClr val="233B2B"/>
                </a:solidFill>
                <a:latin typeface="Avenir Next"/>
                <a:ea typeface="Avenir Next"/>
                <a:cs typeface="Avenir Next"/>
              </a:defRPr>
            </a:lvl5pPr>
            <a:lvl6pPr>
              <a:defRPr sz="2100" b="0">
                <a:solidFill>
                  <a:srgbClr val="233B2B"/>
                </a:solidFill>
                <a:latin typeface="Avenir Next"/>
                <a:ea typeface="Avenir Next"/>
                <a:cs typeface="Avenir Next"/>
              </a:defRPr>
            </a:lvl6pPr>
            <a:lvl7pPr>
              <a:defRPr sz="2100" b="0">
                <a:solidFill>
                  <a:srgbClr val="233B2B"/>
                </a:solidFill>
                <a:latin typeface="Avenir Next"/>
                <a:ea typeface="Avenir Next"/>
                <a:cs typeface="Avenir Next"/>
              </a:defRPr>
            </a:lvl7pPr>
            <a:lvl8pPr>
              <a:defRPr sz="2100" b="0">
                <a:solidFill>
                  <a:srgbClr val="233B2B"/>
                </a:solidFill>
                <a:latin typeface="Avenir Next"/>
                <a:ea typeface="Avenir Next"/>
                <a:cs typeface="Avenir Next"/>
              </a:defRPr>
            </a:lvl8pPr>
            <a:lvl9pPr>
              <a:defRPr sz="2100" b="0">
                <a:solidFill>
                  <a:srgbClr val="233B2B"/>
                </a:solidFill>
                <a:latin typeface="Avenir Next"/>
                <a:ea typeface="Avenir Next"/>
                <a:cs typeface="Avenir Next"/>
              </a:defRPr>
            </a:lvl9pPr>
          </a:lstStyle>
          <a:p xmlns:a="http://schemas.openxmlformats.org/drawingml/2006/main">
            <a:pPr>
              <a:defRPr sz="2100" b="0">
                <a:solidFill>
                  <a:srgbClr val="233B2B"/>
                </a:solidFill>
                <a:latin typeface="Avenir Next"/>
                <a:ea typeface="Avenir Next"/>
                <a:cs typeface="Avenir Next"/>
              </a:defRPr>
            </a:pPr>
            <a:r>
              <a:rPr sz="2100" b="0">
                <a:solidFill>
                  <a:srgbClr val="233B2B"/>
                </a:solidFill>
                <a:latin typeface="Avenir Next"/>
                <a:ea typeface="Avenir Next"/>
                <a:cs typeface="Avenir Next"/>
              </a:rPr>
              <a:t>fotos con Monilia activaron alerta</a:t>
            </a:r>
          </a:p>
        </p:txBody>
      </p:sp>
      <p:sp>
        <p:nvSpPr>
          <p:cNvPr id="6" name="8 / 199 fotos sanas con alerta">
            <a:extLst xmlns:a="http://schemas.openxmlformats.org/drawingml/2006/main">
              <a:ext uri="{FF2B5EF4-FFF2-40B4-BE49-F238E27FC236}">
                <a16:creationId xmlns:a16="http://schemas.microsoft.com/office/drawing/2014/main" id="{04B6EF1A-AFAF-4C11-A9FD-3B51D2136B18}"/>
              </a:ext>
            </a:extLst>
          </p:cNvPr>
          <p:cNvSpPr>
            <a:spLocks xmlns:a="http://schemas.openxmlformats.org/drawingml/2006/main" noGrp="1"/>
          </p:cNvSpPr>
          <p:nvPr/>
        </p:nvSpPr>
        <p:spPr>
          <a:xfrm xmlns:a="http://schemas.openxmlformats.org/drawingml/2006/main">
            <a:off x="609600" y="56102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96957"/>
                </a:solidFill>
                <a:latin typeface="Avenir Next"/>
                <a:ea typeface="Avenir Next"/>
                <a:cs typeface="Avenir Next"/>
              </a:defRPr>
            </a:defPPr>
            <a:lvl1pPr>
              <a:defRPr sz="1950" b="0">
                <a:solidFill>
                  <a:srgbClr val="596957"/>
                </a:solidFill>
                <a:latin typeface="Avenir Next"/>
                <a:ea typeface="Avenir Next"/>
                <a:cs typeface="Avenir Next"/>
              </a:defRPr>
            </a:lvl1pPr>
            <a:lvl2pPr>
              <a:defRPr sz="1950" b="0">
                <a:solidFill>
                  <a:srgbClr val="596957"/>
                </a:solidFill>
                <a:latin typeface="Avenir Next"/>
                <a:ea typeface="Avenir Next"/>
                <a:cs typeface="Avenir Next"/>
              </a:defRPr>
            </a:lvl2pPr>
            <a:lvl3pPr>
              <a:defRPr sz="1950" b="0">
                <a:solidFill>
                  <a:srgbClr val="596957"/>
                </a:solidFill>
                <a:latin typeface="Avenir Next"/>
                <a:ea typeface="Avenir Next"/>
                <a:cs typeface="Avenir Next"/>
              </a:defRPr>
            </a:lvl3pPr>
            <a:lvl4pPr>
              <a:defRPr sz="1950" b="0">
                <a:solidFill>
                  <a:srgbClr val="596957"/>
                </a:solidFill>
                <a:latin typeface="Avenir Next"/>
                <a:ea typeface="Avenir Next"/>
                <a:cs typeface="Avenir Next"/>
              </a:defRPr>
            </a:lvl4pPr>
            <a:lvl5pPr>
              <a:defRPr sz="1950" b="0">
                <a:solidFill>
                  <a:srgbClr val="596957"/>
                </a:solidFill>
                <a:latin typeface="Avenir Next"/>
                <a:ea typeface="Avenir Next"/>
                <a:cs typeface="Avenir Next"/>
              </a:defRPr>
            </a:lvl5pPr>
            <a:lvl6pPr>
              <a:defRPr sz="1950" b="0">
                <a:solidFill>
                  <a:srgbClr val="596957"/>
                </a:solidFill>
                <a:latin typeface="Avenir Next"/>
                <a:ea typeface="Avenir Next"/>
                <a:cs typeface="Avenir Next"/>
              </a:defRPr>
            </a:lvl6pPr>
            <a:lvl7pPr>
              <a:defRPr sz="1950" b="0">
                <a:solidFill>
                  <a:srgbClr val="596957"/>
                </a:solidFill>
                <a:latin typeface="Avenir Next"/>
                <a:ea typeface="Avenir Next"/>
                <a:cs typeface="Avenir Next"/>
              </a:defRPr>
            </a:lvl7pPr>
            <a:lvl8pPr>
              <a:defRPr sz="1950" b="0">
                <a:solidFill>
                  <a:srgbClr val="596957"/>
                </a:solidFill>
                <a:latin typeface="Avenir Next"/>
                <a:ea typeface="Avenir Next"/>
                <a:cs typeface="Avenir Next"/>
              </a:defRPr>
            </a:lvl8pPr>
            <a:lvl9pPr>
              <a:defRPr sz="1950" b="0">
                <a:solidFill>
                  <a:srgbClr val="596957"/>
                </a:solidFill>
                <a:latin typeface="Avenir Next"/>
                <a:ea typeface="Avenir Next"/>
                <a:cs typeface="Avenir Next"/>
              </a:defRPr>
            </a:lvl9pPr>
          </a:lstStyle>
          <a:p xmlns:a="http://schemas.openxmlformats.org/drawingml/2006/main">
            <a:pPr>
              <a:defRPr sz="1950" b="0">
                <a:solidFill>
                  <a:srgbClr val="596957"/>
                </a:solidFill>
                <a:latin typeface="Avenir Next"/>
                <a:ea typeface="Avenir Next"/>
                <a:cs typeface="Avenir Next"/>
              </a:defRPr>
            </a:pPr>
            <a:r>
              <a:rPr sz="1950" b="0">
                <a:solidFill>
                  <a:srgbClr val="596957"/>
                </a:solidFill>
                <a:latin typeface="Avenir Next"/>
                <a:ea typeface="Avenir Next"/>
                <a:cs typeface="Avenir Next"/>
              </a:rPr>
              <a:t>8 / 199 fotos sanas con alerta</a:t>
            </a:r>
          </a:p>
        </p:txBody>
      </p:sp>
      <p:pic>
        <p:nvPicPr>
          <p:cNvPr id="7" name="">
            <a:extLst xmlns:a="http://schemas.openxmlformats.org/drawingml/2006/main">
              <a:ext uri="{FF2B5EF4-FFF2-40B4-BE49-F238E27FC236}">
                <a16:creationId xmlns:a16="http://schemas.microsoft.com/office/drawing/2014/main" id="{DC34FCCB-E2B8-4662-9254-7287A839E321}"/>
              </a:ext>
            </a:extLst>
          </p:cNvPr>
          <p:cNvPicPr>
            <a:picLocks xmlns:a="http://schemas.openxmlformats.org/drawingml/2006/main" noChangeAspect="1"/>
          </p:cNvPicPr>
          <p:nvPr/>
        </p:nvPicPr>
        <p:blipFill>
          <a:blip xmlns:r="http://schemas.openxmlformats.org/officeDocument/2006/relationships" xmlns:a="http://schemas.openxmlformats.org/drawingml/2006/main" r:embed="R39d6e4192e314b08"/>
          <a:stretch xmlns:a="http://schemas.openxmlformats.org/drawingml/2006/main"/>
        </p:blipFill>
        <p:spPr>
          <a:xfrm xmlns:a="http://schemas.openxmlformats.org/drawingml/2006/main">
            <a:off x="8001000" y="1695450"/>
            <a:ext cx="3000375" cy="4000500"/>
          </a:xfrm>
          <a:prstGeom xmlns:a="http://schemas.openxmlformats.org/drawingml/2006/main" prst="rect">
            <a:avLst/>
          </a:prstGeom>
        </p:spPr>
      </p:pic>
      <p:sp>
        <p:nvSpPr>
          <p:cNvPr id="8" name="YOLO11s. Foto de prueba.">
            <a:extLst xmlns:a="http://schemas.openxmlformats.org/drawingml/2006/main">
              <a:ext uri="{FF2B5EF4-FFF2-40B4-BE49-F238E27FC236}">
                <a16:creationId xmlns:a16="http://schemas.microsoft.com/office/drawing/2014/main" id="{BA8EC4EB-96CA-4F22-8256-A3BE81545BC6}"/>
              </a:ext>
            </a:extLst>
          </p:cNvPr>
          <p:cNvSpPr>
            <a:spLocks xmlns:a="http://schemas.openxmlformats.org/drawingml/2006/main" noGrp="1"/>
          </p:cNvSpPr>
          <p:nvPr/>
        </p:nvSpPr>
        <p:spPr>
          <a:xfrm xmlns:a="http://schemas.openxmlformats.org/drawingml/2006/main">
            <a:off x="7772400" y="5953125"/>
            <a:ext cx="381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YOLO11s. Foto de prueba.</a:t>
            </a:r>
          </a:p>
        </p:txBody>
      </p:sp>
      <p:sp>
        <p:nvSpPr>
          <p:cNvPr id="9" name="Prueba por imagen. Fondos correlacionados con">
            <a:extLst xmlns:a="http://schemas.openxmlformats.org/drawingml/2006/main">
              <a:ext uri="{FF2B5EF4-FFF2-40B4-BE49-F238E27FC236}">
                <a16:creationId xmlns:a16="http://schemas.microsoft.com/office/drawing/2014/main" id="{F9BE9976-0696-44E2-9EB0-156B8D28A05A}"/>
              </a:ext>
            </a:extLst>
          </p:cNvPr>
          <p:cNvSpPr>
            <a:spLocks xmlns:a="http://schemas.openxmlformats.org/drawingml/2006/main" noGrp="1"/>
          </p:cNvSpPr>
          <p:nvPr/>
        </p:nvSpPr>
        <p:spPr>
          <a:xfrm xmlns:a="http://schemas.openxmlformats.org/drawingml/2006/main">
            <a:off x="609600" y="6419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96957"/>
                </a:solidFill>
                <a:latin typeface="Avenir Next"/>
                <a:ea typeface="Avenir Next"/>
                <a:cs typeface="Avenir Next"/>
              </a:defRPr>
            </a:defPPr>
            <a:lvl1pPr>
              <a:defRPr sz="1350" b="0">
                <a:solidFill>
                  <a:srgbClr val="596957"/>
                </a:solidFill>
                <a:latin typeface="Avenir Next"/>
                <a:ea typeface="Avenir Next"/>
                <a:cs typeface="Avenir Next"/>
              </a:defRPr>
            </a:lvl1pPr>
            <a:lvl2pPr>
              <a:defRPr sz="1350" b="0">
                <a:solidFill>
                  <a:srgbClr val="596957"/>
                </a:solidFill>
                <a:latin typeface="Avenir Next"/>
                <a:ea typeface="Avenir Next"/>
                <a:cs typeface="Avenir Next"/>
              </a:defRPr>
            </a:lvl2pPr>
            <a:lvl3pPr>
              <a:defRPr sz="1350" b="0">
                <a:solidFill>
                  <a:srgbClr val="596957"/>
                </a:solidFill>
                <a:latin typeface="Avenir Next"/>
                <a:ea typeface="Avenir Next"/>
                <a:cs typeface="Avenir Next"/>
              </a:defRPr>
            </a:lvl3pPr>
            <a:lvl4pPr>
              <a:defRPr sz="1350" b="0">
                <a:solidFill>
                  <a:srgbClr val="596957"/>
                </a:solidFill>
                <a:latin typeface="Avenir Next"/>
                <a:ea typeface="Avenir Next"/>
                <a:cs typeface="Avenir Next"/>
              </a:defRPr>
            </a:lvl4pPr>
            <a:lvl5pPr>
              <a:defRPr sz="1350" b="0">
                <a:solidFill>
                  <a:srgbClr val="596957"/>
                </a:solidFill>
                <a:latin typeface="Avenir Next"/>
                <a:ea typeface="Avenir Next"/>
                <a:cs typeface="Avenir Next"/>
              </a:defRPr>
            </a:lvl5pPr>
            <a:lvl6pPr>
              <a:defRPr sz="1350" b="0">
                <a:solidFill>
                  <a:srgbClr val="596957"/>
                </a:solidFill>
                <a:latin typeface="Avenir Next"/>
                <a:ea typeface="Avenir Next"/>
                <a:cs typeface="Avenir Next"/>
              </a:defRPr>
            </a:lvl6pPr>
            <a:lvl7pPr>
              <a:defRPr sz="1350" b="0">
                <a:solidFill>
                  <a:srgbClr val="596957"/>
                </a:solidFill>
                <a:latin typeface="Avenir Next"/>
                <a:ea typeface="Avenir Next"/>
                <a:cs typeface="Avenir Next"/>
              </a:defRPr>
            </a:lvl7pPr>
            <a:lvl8pPr>
              <a:defRPr sz="1350" b="0">
                <a:solidFill>
                  <a:srgbClr val="596957"/>
                </a:solidFill>
                <a:latin typeface="Avenir Next"/>
                <a:ea typeface="Avenir Next"/>
                <a:cs typeface="Avenir Next"/>
              </a:defRPr>
            </a:lvl8pPr>
            <a:lvl9pPr>
              <a:defRPr sz="1350" b="0">
                <a:solidFill>
                  <a:srgbClr val="596957"/>
                </a:solidFill>
                <a:latin typeface="Avenir Next"/>
                <a:ea typeface="Avenir Next"/>
                <a:cs typeface="Avenir Next"/>
              </a:defRPr>
            </a:lvl9pPr>
          </a:lstStyle>
          <a:p xmlns:a="http://schemas.openxmlformats.org/drawingml/2006/main">
            <a:pPr>
              <a:defRPr sz="1350" b="0">
                <a:solidFill>
                  <a:srgbClr val="596957"/>
                </a:solidFill>
                <a:latin typeface="Avenir Next"/>
                <a:ea typeface="Avenir Next"/>
                <a:cs typeface="Avenir Next"/>
              </a:defRPr>
            </a:pPr>
            <a:r>
              <a:rPr sz="1350" b="0">
                <a:solidFill>
                  <a:srgbClr val="596957"/>
                </a:solidFill>
                <a:latin typeface="Avenir Next"/>
                <a:ea typeface="Avenir Next"/>
                <a:cs typeface="Avenir Next"/>
              </a:rPr>
              <a:t>Prueba por imagen. Fondos correlacionados con la clase. Vuelo y localización pendientes.</a:t>
            </a:r>
          </a:p>
        </p:txBody>
      </p:sp>
    </p:spTree>
    <p:extLst>
      <p:ext uri="{BB962C8B-B14F-4D97-AF65-F5344CB8AC3E}">
        <p14:creationId xmlns:p14="http://schemas.microsoft.com/office/powerpoint/2010/main" val="1428535099"/>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con visión artificial">
            <a:extLst xmlns:a="http://schemas.openxmlformats.org/drawingml/2006/main">
              <a:ext uri="{FF2B5EF4-FFF2-40B4-BE49-F238E27FC236}">
                <a16:creationId xmlns:a16="http://schemas.microsoft.com/office/drawing/2014/main" id="{22FFD0DE-C1A3-4150-9DAD-3651E8E9B628}"/>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Simulación con visión artificial</a:t>
            </a:r>
          </a:p>
        </p:txBody>
      </p:sp>
      <p:sp>
        <p:nvSpPr>
          <p:cNvPr id="2" name="El mismo modelo&#10;analiza la cámara 3D.">
            <a:extLst xmlns:a="http://schemas.openxmlformats.org/drawingml/2006/main">
              <a:ext uri="{FF2B5EF4-FFF2-40B4-BE49-F238E27FC236}">
                <a16:creationId xmlns:a16="http://schemas.microsoft.com/office/drawing/2014/main" id="{BCEA7C72-B2F5-4CE2-A704-CDEED772296E}"/>
              </a:ext>
            </a:extLst>
          </p:cNvPr>
          <p:cNvSpPr>
            <a:spLocks xmlns:a="http://schemas.openxmlformats.org/drawingml/2006/main" noGrp="1"/>
          </p:cNvSpPr>
          <p:nvPr/>
        </p:nvSpPr>
        <p:spPr>
          <a:xfrm xmlns:a="http://schemas.openxmlformats.org/drawingml/2006/main">
            <a:off x="609600" y="2219325"/>
            <a:ext cx="4095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33B2B"/>
                </a:solidFill>
                <a:latin typeface="Avenir Next"/>
                <a:ea typeface="Avenir Next"/>
                <a:cs typeface="Avenir Next"/>
              </a:defRPr>
            </a:defPPr>
            <a:lvl1pPr>
              <a:defRPr sz="2625" b="1">
                <a:solidFill>
                  <a:srgbClr val="233B2B"/>
                </a:solidFill>
                <a:latin typeface="Avenir Next"/>
                <a:ea typeface="Avenir Next"/>
                <a:cs typeface="Avenir Next"/>
              </a:defRPr>
            </a:lvl1pPr>
            <a:lvl2pPr>
              <a:defRPr sz="2625" b="1">
                <a:solidFill>
                  <a:srgbClr val="233B2B"/>
                </a:solidFill>
                <a:latin typeface="Avenir Next"/>
                <a:ea typeface="Avenir Next"/>
                <a:cs typeface="Avenir Next"/>
              </a:defRPr>
            </a:lvl2pPr>
            <a:lvl3pPr>
              <a:defRPr sz="2625" b="1">
                <a:solidFill>
                  <a:srgbClr val="233B2B"/>
                </a:solidFill>
                <a:latin typeface="Avenir Next"/>
                <a:ea typeface="Avenir Next"/>
                <a:cs typeface="Avenir Next"/>
              </a:defRPr>
            </a:lvl3pPr>
            <a:lvl4pPr>
              <a:defRPr sz="2625" b="1">
                <a:solidFill>
                  <a:srgbClr val="233B2B"/>
                </a:solidFill>
                <a:latin typeface="Avenir Next"/>
                <a:ea typeface="Avenir Next"/>
                <a:cs typeface="Avenir Next"/>
              </a:defRPr>
            </a:lvl4pPr>
            <a:lvl5pPr>
              <a:defRPr sz="2625" b="1">
                <a:solidFill>
                  <a:srgbClr val="233B2B"/>
                </a:solidFill>
                <a:latin typeface="Avenir Next"/>
                <a:ea typeface="Avenir Next"/>
                <a:cs typeface="Avenir Next"/>
              </a:defRPr>
            </a:lvl5pPr>
            <a:lvl6pPr>
              <a:defRPr sz="2625" b="1">
                <a:solidFill>
                  <a:srgbClr val="233B2B"/>
                </a:solidFill>
                <a:latin typeface="Avenir Next"/>
                <a:ea typeface="Avenir Next"/>
                <a:cs typeface="Avenir Next"/>
              </a:defRPr>
            </a:lvl6pPr>
            <a:lvl7pPr>
              <a:defRPr sz="2625" b="1">
                <a:solidFill>
                  <a:srgbClr val="233B2B"/>
                </a:solidFill>
                <a:latin typeface="Avenir Next"/>
                <a:ea typeface="Avenir Next"/>
                <a:cs typeface="Avenir Next"/>
              </a:defRPr>
            </a:lvl7pPr>
            <a:lvl8pPr>
              <a:defRPr sz="2625" b="1">
                <a:solidFill>
                  <a:srgbClr val="233B2B"/>
                </a:solidFill>
                <a:latin typeface="Avenir Next"/>
                <a:ea typeface="Avenir Next"/>
                <a:cs typeface="Avenir Next"/>
              </a:defRPr>
            </a:lvl8pPr>
            <a:lvl9pPr>
              <a:defRPr sz="2625" b="1">
                <a:solidFill>
                  <a:srgbClr val="233B2B"/>
                </a:solidFill>
                <a:latin typeface="Avenir Next"/>
                <a:ea typeface="Avenir Next"/>
                <a:cs typeface="Avenir Next"/>
              </a:defRPr>
            </a:lvl9pPr>
          </a:lstStyle>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El mismo modelo</a:t>
            </a:r>
          </a:p>
          <a:p xmlns:a="http://schemas.openxmlformats.org/drawingml/2006/main">
            <a:pPr>
              <a:defRPr sz="2625" b="1">
                <a:solidFill>
                  <a:srgbClr val="233B2B"/>
                </a:solidFill>
                <a:latin typeface="Avenir Next"/>
                <a:ea typeface="Avenir Next"/>
                <a:cs typeface="Avenir Next"/>
              </a:defRPr>
            </a:pPr>
            <a:r>
              <a:rPr sz="2625" b="1">
                <a:solidFill>
                  <a:srgbClr val="233B2B"/>
                </a:solidFill>
                <a:latin typeface="Avenir Next"/>
                <a:ea typeface="Avenir Next"/>
                <a:cs typeface="Avenir Next"/>
              </a:rPr>
              <a:t>analiza la cámara 3D.</a:t>
            </a:r>
          </a:p>
        </p:txBody>
      </p:sp>
      <p:sp>
        <p:nvSpPr>
          <p:cNvPr id="3" name="Detección, batería&#10;y regreso a la base">
            <a:extLst xmlns:a="http://schemas.openxmlformats.org/drawingml/2006/main">
              <a:ext uri="{FF2B5EF4-FFF2-40B4-BE49-F238E27FC236}">
                <a16:creationId xmlns:a16="http://schemas.microsoft.com/office/drawing/2014/main" id="{7D5ABE40-1186-4BCD-BDDF-300CB9D2FEA6}"/>
              </a:ext>
            </a:extLst>
          </p:cNvPr>
          <p:cNvSpPr>
            <a:spLocks xmlns:a="http://schemas.openxmlformats.org/drawingml/2006/main" noGrp="1"/>
          </p:cNvSpPr>
          <p:nvPr/>
        </p:nvSpPr>
        <p:spPr>
          <a:xfrm xmlns:a="http://schemas.openxmlformats.org/drawingml/2006/main">
            <a:off x="609600" y="41719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96957"/>
                </a:solidFill>
                <a:latin typeface="Avenir Next"/>
                <a:ea typeface="Avenir Next"/>
                <a:cs typeface="Avenir Next"/>
              </a:defRPr>
            </a:defPPr>
            <a:lvl1pPr>
              <a:defRPr sz="2175" b="0">
                <a:solidFill>
                  <a:srgbClr val="596957"/>
                </a:solidFill>
                <a:latin typeface="Avenir Next"/>
                <a:ea typeface="Avenir Next"/>
                <a:cs typeface="Avenir Next"/>
              </a:defRPr>
            </a:lvl1pPr>
            <a:lvl2pPr>
              <a:defRPr sz="2175" b="0">
                <a:solidFill>
                  <a:srgbClr val="596957"/>
                </a:solidFill>
                <a:latin typeface="Avenir Next"/>
                <a:ea typeface="Avenir Next"/>
                <a:cs typeface="Avenir Next"/>
              </a:defRPr>
            </a:lvl2pPr>
            <a:lvl3pPr>
              <a:defRPr sz="2175" b="0">
                <a:solidFill>
                  <a:srgbClr val="596957"/>
                </a:solidFill>
                <a:latin typeface="Avenir Next"/>
                <a:ea typeface="Avenir Next"/>
                <a:cs typeface="Avenir Next"/>
              </a:defRPr>
            </a:lvl3pPr>
            <a:lvl4pPr>
              <a:defRPr sz="2175" b="0">
                <a:solidFill>
                  <a:srgbClr val="596957"/>
                </a:solidFill>
                <a:latin typeface="Avenir Next"/>
                <a:ea typeface="Avenir Next"/>
                <a:cs typeface="Avenir Next"/>
              </a:defRPr>
            </a:lvl4pPr>
            <a:lvl5pPr>
              <a:defRPr sz="2175" b="0">
                <a:solidFill>
                  <a:srgbClr val="596957"/>
                </a:solidFill>
                <a:latin typeface="Avenir Next"/>
                <a:ea typeface="Avenir Next"/>
                <a:cs typeface="Avenir Next"/>
              </a:defRPr>
            </a:lvl5pPr>
            <a:lvl6pPr>
              <a:defRPr sz="2175" b="0">
                <a:solidFill>
                  <a:srgbClr val="596957"/>
                </a:solidFill>
                <a:latin typeface="Avenir Next"/>
                <a:ea typeface="Avenir Next"/>
                <a:cs typeface="Avenir Next"/>
              </a:defRPr>
            </a:lvl6pPr>
            <a:lvl7pPr>
              <a:defRPr sz="2175" b="0">
                <a:solidFill>
                  <a:srgbClr val="596957"/>
                </a:solidFill>
                <a:latin typeface="Avenir Next"/>
                <a:ea typeface="Avenir Next"/>
                <a:cs typeface="Avenir Next"/>
              </a:defRPr>
            </a:lvl7pPr>
            <a:lvl8pPr>
              <a:defRPr sz="2175" b="0">
                <a:solidFill>
                  <a:srgbClr val="596957"/>
                </a:solidFill>
                <a:latin typeface="Avenir Next"/>
                <a:ea typeface="Avenir Next"/>
                <a:cs typeface="Avenir Next"/>
              </a:defRPr>
            </a:lvl8pPr>
            <a:lvl9pPr>
              <a:defRPr sz="2175" b="0">
                <a:solidFill>
                  <a:srgbClr val="596957"/>
                </a:solidFill>
                <a:latin typeface="Avenir Next"/>
                <a:ea typeface="Avenir Next"/>
                <a:cs typeface="Avenir Next"/>
              </a:defRPr>
            </a:lvl9pPr>
          </a:lstStyle>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Detección, batería</a:t>
            </a:r>
          </a:p>
          <a:p xmlns:a="http://schemas.openxmlformats.org/drawingml/2006/main">
            <a:pPr>
              <a:defRPr sz="2175" b="0">
                <a:solidFill>
                  <a:srgbClr val="596957"/>
                </a:solidFill>
                <a:latin typeface="Avenir Next"/>
                <a:ea typeface="Avenir Next"/>
                <a:cs typeface="Avenir Next"/>
              </a:defRPr>
            </a:pPr>
            <a:r>
              <a:rPr sz="2175" b="0">
                <a:solidFill>
                  <a:srgbClr val="596957"/>
                </a:solidFill>
                <a:latin typeface="Avenir Next"/>
                <a:ea typeface="Avenir Next"/>
                <a:cs typeface="Avenir Next"/>
              </a:rPr>
              <a:t>y regreso a la base</a:t>
            </a:r>
          </a:p>
        </p:txBody>
      </p:sp>
      <p:pic>
        <p:nvPicPr>
          <p:cNvPr id="4" name="">
            <a:extLst xmlns:a="http://schemas.openxmlformats.org/drawingml/2006/main">
              <a:ext uri="{FF2B5EF4-FFF2-40B4-BE49-F238E27FC236}">
                <a16:creationId xmlns:a16="http://schemas.microsoft.com/office/drawing/2014/main" id="{D8AC558D-CCF8-489E-82C5-E16B11B7542E}"/>
              </a:ext>
            </a:extLst>
          </p:cNvPr>
          <p:cNvPicPr>
            <a:picLocks xmlns:a="http://schemas.openxmlformats.org/drawingml/2006/main" noChangeAspect="1"/>
          </p:cNvPicPr>
          <p:nvPr/>
        </p:nvPicPr>
        <p:blipFill>
          <a:blip xmlns:r="http://schemas.openxmlformats.org/officeDocument/2006/relationships" xmlns:a="http://schemas.openxmlformats.org/drawingml/2006/main" r:embed="R814a3e0604cc4663"/>
          <a:stretch xmlns:a="http://schemas.openxmlformats.org/drawingml/2006/main"/>
        </p:blipFill>
        <p:spPr>
          <a:xfrm xmlns:a="http://schemas.openxmlformats.org/drawingml/2006/main">
            <a:off x="5010150" y="1946746"/>
            <a:ext cx="6572250" cy="3316932"/>
          </a:xfrm>
          <a:prstGeom xmlns:a="http://schemas.openxmlformats.org/drawingml/2006/main" prst="rect">
            <a:avLst/>
          </a:prstGeom>
        </p:spPr>
      </p:pic>
      <p:sp>
        <p:nvSpPr>
          <p:cNvPr id="5" name="Texturas de fotos de entrenamiento. Ubicación">
            <a:extLst xmlns:a="http://schemas.openxmlformats.org/drawingml/2006/main">
              <a:ext uri="{FF2B5EF4-FFF2-40B4-BE49-F238E27FC236}">
                <a16:creationId xmlns:a16="http://schemas.microsoft.com/office/drawing/2014/main" id="{7B056EEE-BF11-4979-B227-56A536C0DCEE}"/>
              </a:ext>
            </a:extLst>
          </p:cNvPr>
          <p:cNvSpPr>
            <a:spLocks xmlns:a="http://schemas.openxmlformats.org/drawingml/2006/main" noGrp="1"/>
          </p:cNvSpPr>
          <p:nvPr/>
        </p:nvSpPr>
        <p:spPr>
          <a:xfrm xmlns:a="http://schemas.openxmlformats.org/drawingml/2006/main">
            <a:off x="609600" y="5848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Texturas de fotos de entrenamiento. Ubicación con geometría conocida.</a:t>
            </a:r>
          </a:p>
        </p:txBody>
      </p:sp>
      <p:sp>
        <p:nvSpPr>
          <p:cNvPr id="6" name="Prueba de integración. Validación en campo pe">
            <a:extLst xmlns:a="http://schemas.openxmlformats.org/drawingml/2006/main">
              <a:ext uri="{FF2B5EF4-FFF2-40B4-BE49-F238E27FC236}">
                <a16:creationId xmlns:a16="http://schemas.microsoft.com/office/drawing/2014/main" id="{D956A525-5DE4-442B-B9F3-26128203B310}"/>
              </a:ext>
            </a:extLst>
          </p:cNvPr>
          <p:cNvSpPr>
            <a:spLocks xmlns:a="http://schemas.openxmlformats.org/drawingml/2006/main" noGrp="1"/>
          </p:cNvSpPr>
          <p:nvPr/>
        </p:nvSpPr>
        <p:spPr>
          <a:xfrm xmlns:a="http://schemas.openxmlformats.org/drawingml/2006/main">
            <a:off x="609600" y="63817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Prueba de integración. Validación en campo pendiente.</a:t>
            </a:r>
          </a:p>
        </p:txBody>
      </p:sp>
    </p:spTree>
    <p:extLst>
      <p:ext uri="{BB962C8B-B14F-4D97-AF65-F5344CB8AC3E}">
        <p14:creationId xmlns:p14="http://schemas.microsoft.com/office/powerpoint/2010/main" val="699091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2026-10-18T13:32:57.7430000Z</dcterms:created>
  <dcterms:modified xsi:type="dcterms:W3CDTF">2026-10-18T13:32:57.7440000Z</dcterms:modified>
</coreProperties>
</file>