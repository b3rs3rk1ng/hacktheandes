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9dc216959145cf" /><Relationship Type="http://schemas.openxmlformats.org/officeDocument/2006/relationships/extended-properties" Target="/docProps/app.xml" Id="R8f0e9e7d7bce4a66" /><Relationship Type="http://schemas.openxmlformats.org/officeDocument/2006/relationships/officeDocument" Target="/ppt/presentation.xml" Id="Re0b0e5f84b9a4b1a" /></Relationships>
</file>

<file path=ppt/presentation.xml><?xml version="1.0" encoding="utf-8"?>
<p:presentation xmlns:p="http://schemas.openxmlformats.org/presentationml/2006/main">
  <p:sldMasterIdLst>
    <p:sldMasterId xmlns:r="http://schemas.openxmlformats.org/officeDocument/2006/relationships" id="2147483648" r:id="R7d0e10b39cc24560"/>
  </p:sldMasterIdLst>
  <p:notesMasterIdLst>
    <p:notesMasterId xmlns:r="http://schemas.openxmlformats.org/officeDocument/2006/relationships" r:id="R9c3a6cc1258a4c2a"/>
  </p:notesMasterIdLst>
  <p:sldIdLst>
    <p:sldId xmlns:r="http://schemas.openxmlformats.org/officeDocument/2006/relationships" id="256" r:id="Rcd11fe10b18440c8"/>
    <p:sldId xmlns:r="http://schemas.openxmlformats.org/officeDocument/2006/relationships" id="257" r:id="R66a5f66e1f5f4bbc"/>
    <p:sldId xmlns:r="http://schemas.openxmlformats.org/officeDocument/2006/relationships" id="258" r:id="R7a06e12523c542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3934b7ab914a24" /><Relationship Type="http://schemas.openxmlformats.org/officeDocument/2006/relationships/slideMaster" Target="/ppt/slideMasters/slideMaster1.xml" Id="R7d0e10b39cc24560" /><Relationship Type="http://schemas.openxmlformats.org/officeDocument/2006/relationships/notesMaster" Target="/ppt/notesMasters/notesMaster1.xml" Id="R9c3a6cc1258a4c2a" /><Relationship Type="http://schemas.openxmlformats.org/officeDocument/2006/relationships/presProps" Target="/ppt/presProps.xml" Id="R830735c92e274635" /><Relationship Type="http://schemas.openxmlformats.org/officeDocument/2006/relationships/tableStyles" Target="/ppt/tableStyles.xml" Id="R37519b369a8b4699" /><Relationship Type="http://schemas.openxmlformats.org/officeDocument/2006/relationships/slide" Target="/ppt/slides/slide1.xml" Id="Rcd11fe10b18440c8" /><Relationship Type="http://schemas.openxmlformats.org/officeDocument/2006/relationships/slide" Target="/ppt/slides/slide2.xml" Id="R66a5f66e1f5f4bbc" /><Relationship Type="http://schemas.openxmlformats.org/officeDocument/2006/relationships/slide" Target="/ppt/slides/slide3.xml" Id="R7a06e12523c542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60ec22e8154d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4dd92a46b4442" /><Relationship Type="http://schemas.openxmlformats.org/officeDocument/2006/relationships/notesMaster" Target="/ppt/notesMasters/notesMaster1.xml" Id="R2a81b168ceb546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164d6011fb4fe7" /><Relationship Type="http://schemas.openxmlformats.org/officeDocument/2006/relationships/notesMaster" Target="/ppt/notesMasters/notesMaster1.xml" Id="R89066efda08e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6e9fd9fb8b4c50" /><Relationship Type="http://schemas.openxmlformats.org/officeDocument/2006/relationships/notesMaster" Target="/ppt/notesMasters/notesMaster1.xml" Id="R67603a313e7b41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Partí del track Clima y Territorio e investigué riesgos agrícolas. Elegí el cacao por su importancia para el productor y encontré la moniliasis, una enfermedad causada por un hongo que afecta al fruto. Me interesó explorar cómo apoyar la inspección frente a condiciones climáticas cambiantes y riesgos asociados a El Niño. Ya existe manejo integrado de la enfermedad. Nuestra propuesta busca facilitar que el agricultor encuentre y revise frutos sospechosos. El cálculo de S/1 millón es condicional: 100 hectáreas x 1000 kg de grano seco potencial por hectárea x S/20 por kg x 50% de cosecha perdida = S/1000000 en ventas no realizadas por campaña. Los 100 ha y 1000 kg/ha son condiciones del cálculo y no un conjunto de productores que hayamos medido. S/20/kg es referencia del programa DEVIDA Vraem campaña 2025, no precio universal actual: https://www.gob.pe/institucion/devida/noticias/1329650-cacao-del-vraem-impulsa-productividad-ingresos-y-acceso-a-mercados-internacionales . La cifra expresa venta bruta no realizada, no ganancia neta ni ahorro demostrado por el software. INIA documenta pérdidas del 30 al 80% en su plegable Manejo integrado de la moniliasis en plantaciones de cacao nativo, noviembre 2011: https://pgc-snia.inia.gob.pe/server/api/core/bitstreams/388ed816-590d-47f4-ae22-d728d046f71a/content . Es un rango histórico, no promedio nacional actual, y no demuestra por sí mismo el 50% en una zona específica. Duele porque desaparece venta luego de invertir trabajo e insumos y se requiere seguir vigilando y manejando la enfermedad. Definición SENASA: https://repositorio.senasa.gob.pe/items/de2bff13-0641-4050-a147-05e963efe8a4 . Relación con el track: https://hacktheandes.com/guide incluye agricultura y alertas de plagas. El Niño no causa la enfermedad ni aumenta su incidencia uniformemente en todas las regiones. Referencia agroclimática SENAMHI 2023: https://www.senamhi.gob.pe/load/file/02966SENA-1.pdf . Fotografía real ID017fa25b2cde2609b042a85e, etiqueta a nivel de imagen del dataset Mendeley,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35155042ed4f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05aeb1280a40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5f4dc58c0442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e3c03102d843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30a569723e42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a269bf57b347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215D96-1078-463F-A121-984E102747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9F3AB0-AB61-4347-A4E3-369448897D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480017-70FB-4754-B530-16E22F3DEA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D4DEB1-28E0-45A7-83A7-BB0FA99B2B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7D7863-BFB1-457A-92D9-760B9C3E6F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6AFEE4-813F-45B5-BBB1-5CAAC08E71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4983CB-8E0D-4FF3-80AD-2D7F4D50B1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164600-D7AE-40D2-A4C0-385DAEA5DC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009E7B-108E-4A3F-9B00-40F5C66A81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C9F95F-A4D2-4E78-BB1A-70227323EA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f43e1c1d424129" /><Relationship Type="http://schemas.openxmlformats.org/officeDocument/2006/relationships/slideLayout" Target="/ppt/slideLayouts/slideLayout1.xml" Id="R0c3d2044fc9f4206" /><Relationship Type="http://schemas.openxmlformats.org/officeDocument/2006/relationships/slideLayout" Target="/ppt/slideLayouts/slideLayout2.xml" Id="R24455cd4d9e34673" /><Relationship Type="http://schemas.openxmlformats.org/officeDocument/2006/relationships/slideLayout" Target="/ppt/slideLayouts/slideLayout3.xml" Id="R2ff8b74dcd9047e4" /><Relationship Type="http://schemas.openxmlformats.org/officeDocument/2006/relationships/slideLayout" Target="/ppt/slideLayouts/slideLayout4.xml" Id="R088d770c374449c5" /><Relationship Type="http://schemas.openxmlformats.org/officeDocument/2006/relationships/slideLayout" Target="/ppt/slideLayouts/slideLayout5.xml" Id="R06c125b9b4f246a5" /><Relationship Type="http://schemas.openxmlformats.org/officeDocument/2006/relationships/slideLayout" Target="/ppt/slideLayouts/slideLayout6.xml" Id="R9c427708a68a4d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3d2044fc9f4206"/>
    <p:sldLayoutId xmlns:r="http://schemas.openxmlformats.org/officeDocument/2006/relationships" id="2147483650" r:id="R24455cd4d9e34673"/>
    <p:sldLayoutId xmlns:r="http://schemas.openxmlformats.org/officeDocument/2006/relationships" id="2147483651" r:id="R2ff8b74dcd9047e4"/>
    <p:sldLayoutId xmlns:r="http://schemas.openxmlformats.org/officeDocument/2006/relationships" id="2147483652" r:id="R088d770c374449c5"/>
    <p:sldLayoutId xmlns:r="http://schemas.openxmlformats.org/officeDocument/2006/relationships" id="2147483653" r:id="R06c125b9b4f246a5"/>
    <p:sldLayoutId xmlns:r="http://schemas.openxmlformats.org/officeDocument/2006/relationships" id="2147483654" r:id="R9c427708a68a4d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5975a6984c45b5" /><Relationship Type="http://schemas.openxmlformats.org/officeDocument/2006/relationships/image" Target="/ppt/media/image.jpeg" Id="R04e4a200800143ce" /><Relationship Type="http://schemas.openxmlformats.org/officeDocument/2006/relationships/notesSlide" Target="/ppt/notesSlides/notesSlide1.xml" Id="Rc5c4e3c66f4e4c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e06afaa6e64d9a" /><Relationship Type="http://schemas.openxmlformats.org/officeDocument/2006/relationships/image" Target="/ppt/media/image.png" Id="R854ef567f1464006" /><Relationship Type="http://schemas.openxmlformats.org/officeDocument/2006/relationships/notesSlide" Target="/ppt/notesSlides/notesSlide2.xml" Id="R0746333f7d3743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264cbab5464723" /><Relationship Type="http://schemas.openxmlformats.org/officeDocument/2006/relationships/image" Target="/ppt/media/image2.jpeg" Id="Rd303cc45a06b4070" /><Relationship Type="http://schemas.openxmlformats.org/officeDocument/2006/relationships/notesSlide" Target="/ppt/notesSlides/notesSlide3.xml" Id="R364c2dc86a984d73"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El problema del millón">
            <a:extLst xmlns:a="http://schemas.openxmlformats.org/drawingml/2006/main">
              <a:ext uri="{FF2B5EF4-FFF2-40B4-BE49-F238E27FC236}">
                <a16:creationId xmlns:a16="http://schemas.microsoft.com/office/drawing/2014/main" id="{53BD093D-BE34-4C1B-9C80-47654C6CF9B5}"/>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5F3E9"/>
                </a:solidFill>
                <a:latin typeface="Avenir Next"/>
                <a:ea typeface="Avenir Next"/>
                <a:cs typeface="Avenir Next"/>
              </a:defRPr>
            </a:defPPr>
            <a:lvl1pPr>
              <a:defRPr sz="4050" b="1">
                <a:solidFill>
                  <a:srgbClr val="F5F3E9"/>
                </a:solidFill>
                <a:latin typeface="Avenir Next"/>
                <a:ea typeface="Avenir Next"/>
                <a:cs typeface="Avenir Next"/>
              </a:defRPr>
            </a:lvl1pPr>
            <a:lvl2pPr>
              <a:defRPr sz="4050" b="1">
                <a:solidFill>
                  <a:srgbClr val="F5F3E9"/>
                </a:solidFill>
                <a:latin typeface="Avenir Next"/>
                <a:ea typeface="Avenir Next"/>
                <a:cs typeface="Avenir Next"/>
              </a:defRPr>
            </a:lvl2pPr>
            <a:lvl3pPr>
              <a:defRPr sz="4050" b="1">
                <a:solidFill>
                  <a:srgbClr val="F5F3E9"/>
                </a:solidFill>
                <a:latin typeface="Avenir Next"/>
                <a:ea typeface="Avenir Next"/>
                <a:cs typeface="Avenir Next"/>
              </a:defRPr>
            </a:lvl3pPr>
            <a:lvl4pPr>
              <a:defRPr sz="4050" b="1">
                <a:solidFill>
                  <a:srgbClr val="F5F3E9"/>
                </a:solidFill>
                <a:latin typeface="Avenir Next"/>
                <a:ea typeface="Avenir Next"/>
                <a:cs typeface="Avenir Next"/>
              </a:defRPr>
            </a:lvl4pPr>
            <a:lvl5pPr>
              <a:defRPr sz="4050" b="1">
                <a:solidFill>
                  <a:srgbClr val="F5F3E9"/>
                </a:solidFill>
                <a:latin typeface="Avenir Next"/>
                <a:ea typeface="Avenir Next"/>
                <a:cs typeface="Avenir Next"/>
              </a:defRPr>
            </a:lvl5pPr>
            <a:lvl6pPr>
              <a:defRPr sz="4050" b="1">
                <a:solidFill>
                  <a:srgbClr val="F5F3E9"/>
                </a:solidFill>
                <a:latin typeface="Avenir Next"/>
                <a:ea typeface="Avenir Next"/>
                <a:cs typeface="Avenir Next"/>
              </a:defRPr>
            </a:lvl6pPr>
            <a:lvl7pPr>
              <a:defRPr sz="4050" b="1">
                <a:solidFill>
                  <a:srgbClr val="F5F3E9"/>
                </a:solidFill>
                <a:latin typeface="Avenir Next"/>
                <a:ea typeface="Avenir Next"/>
                <a:cs typeface="Avenir Next"/>
              </a:defRPr>
            </a:lvl7pPr>
            <a:lvl8pPr>
              <a:defRPr sz="4050" b="1">
                <a:solidFill>
                  <a:srgbClr val="F5F3E9"/>
                </a:solidFill>
                <a:latin typeface="Avenir Next"/>
                <a:ea typeface="Avenir Next"/>
                <a:cs typeface="Avenir Next"/>
              </a:defRPr>
            </a:lvl8pPr>
            <a:lvl9pPr>
              <a:defRPr sz="4050" b="1">
                <a:solidFill>
                  <a:srgbClr val="F5F3E9"/>
                </a:solidFill>
                <a:latin typeface="Avenir Next"/>
                <a:ea typeface="Avenir Next"/>
                <a:cs typeface="Avenir Next"/>
              </a:defRPr>
            </a:lvl9pPr>
          </a:lstStyle>
          <a:p xmlns:a="http://schemas.openxmlformats.org/drawingml/2006/main">
            <a:pPr>
              <a:defRPr sz="4050" b="1">
                <a:solidFill>
                  <a:srgbClr val="F5F3E9"/>
                </a:solidFill>
                <a:latin typeface="Avenir Next"/>
                <a:ea typeface="Avenir Next"/>
                <a:cs typeface="Avenir Next"/>
              </a:defRPr>
            </a:pPr>
            <a:r>
              <a:rPr sz="4050" b="1">
                <a:solidFill>
                  <a:srgbClr val="F5F3E9"/>
                </a:solidFill>
                <a:latin typeface="Avenir Next"/>
                <a:ea typeface="Avenir Next"/>
                <a:cs typeface="Avenir Next"/>
              </a:rPr>
              <a:t>El problema del millón</a:t>
            </a:r>
          </a:p>
        </p:txBody>
      </p:sp>
      <p:sp>
        <p:nvSpPr>
          <p:cNvPr id="2" name="Clima y Territorio">
            <a:extLst xmlns:a="http://schemas.openxmlformats.org/drawingml/2006/main">
              <a:ext uri="{FF2B5EF4-FFF2-40B4-BE49-F238E27FC236}">
                <a16:creationId xmlns:a16="http://schemas.microsoft.com/office/drawing/2014/main" id="{80A7EA66-BBDC-4650-B6BB-8EBF658D419C}"/>
              </a:ext>
            </a:extLst>
          </p:cNvPr>
          <p:cNvSpPr>
            <a:spLocks xmlns:a="http://schemas.openxmlformats.org/drawingml/2006/main" noGrp="1"/>
          </p:cNvSpPr>
          <p:nvPr/>
        </p:nvSpPr>
        <p:spPr>
          <a:xfrm xmlns:a="http://schemas.openxmlformats.org/drawingml/2006/main">
            <a:off x="609600" y="1543050"/>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5E4AD"/>
                </a:solidFill>
                <a:latin typeface="Avenir Next"/>
                <a:ea typeface="Avenir Next"/>
                <a:cs typeface="Avenir Next"/>
              </a:defRPr>
            </a:defPPr>
            <a:lvl1pPr>
              <a:defRPr sz="1725" b="1">
                <a:solidFill>
                  <a:srgbClr val="D5E4AD"/>
                </a:solidFill>
                <a:latin typeface="Avenir Next"/>
                <a:ea typeface="Avenir Next"/>
                <a:cs typeface="Avenir Next"/>
              </a:defRPr>
            </a:lvl1pPr>
            <a:lvl2pPr>
              <a:defRPr sz="1725" b="1">
                <a:solidFill>
                  <a:srgbClr val="D5E4AD"/>
                </a:solidFill>
                <a:latin typeface="Avenir Next"/>
                <a:ea typeface="Avenir Next"/>
                <a:cs typeface="Avenir Next"/>
              </a:defRPr>
            </a:lvl2pPr>
            <a:lvl3pPr>
              <a:defRPr sz="1725" b="1">
                <a:solidFill>
                  <a:srgbClr val="D5E4AD"/>
                </a:solidFill>
                <a:latin typeface="Avenir Next"/>
                <a:ea typeface="Avenir Next"/>
                <a:cs typeface="Avenir Next"/>
              </a:defRPr>
            </a:lvl3pPr>
            <a:lvl4pPr>
              <a:defRPr sz="1725" b="1">
                <a:solidFill>
                  <a:srgbClr val="D5E4AD"/>
                </a:solidFill>
                <a:latin typeface="Avenir Next"/>
                <a:ea typeface="Avenir Next"/>
                <a:cs typeface="Avenir Next"/>
              </a:defRPr>
            </a:lvl4pPr>
            <a:lvl5pPr>
              <a:defRPr sz="1725" b="1">
                <a:solidFill>
                  <a:srgbClr val="D5E4AD"/>
                </a:solidFill>
                <a:latin typeface="Avenir Next"/>
                <a:ea typeface="Avenir Next"/>
                <a:cs typeface="Avenir Next"/>
              </a:defRPr>
            </a:lvl5pPr>
            <a:lvl6pPr>
              <a:defRPr sz="1725" b="1">
                <a:solidFill>
                  <a:srgbClr val="D5E4AD"/>
                </a:solidFill>
                <a:latin typeface="Avenir Next"/>
                <a:ea typeface="Avenir Next"/>
                <a:cs typeface="Avenir Next"/>
              </a:defRPr>
            </a:lvl6pPr>
            <a:lvl7pPr>
              <a:defRPr sz="1725" b="1">
                <a:solidFill>
                  <a:srgbClr val="D5E4AD"/>
                </a:solidFill>
                <a:latin typeface="Avenir Next"/>
                <a:ea typeface="Avenir Next"/>
                <a:cs typeface="Avenir Next"/>
              </a:defRPr>
            </a:lvl7pPr>
            <a:lvl8pPr>
              <a:defRPr sz="1725" b="1">
                <a:solidFill>
                  <a:srgbClr val="D5E4AD"/>
                </a:solidFill>
                <a:latin typeface="Avenir Next"/>
                <a:ea typeface="Avenir Next"/>
                <a:cs typeface="Avenir Next"/>
              </a:defRPr>
            </a:lvl8pPr>
            <a:lvl9pPr>
              <a:defRPr sz="1725" b="1">
                <a:solidFill>
                  <a:srgbClr val="D5E4AD"/>
                </a:solidFill>
                <a:latin typeface="Avenir Next"/>
                <a:ea typeface="Avenir Next"/>
                <a:cs typeface="Avenir Next"/>
              </a:defRPr>
            </a:lvl9pPr>
          </a:lstStyle>
          <a:p xmlns:a="http://schemas.openxmlformats.org/drawingml/2006/main">
            <a:pPr>
              <a:defRPr sz="1725" b="1">
                <a:solidFill>
                  <a:srgbClr val="D5E4AD"/>
                </a:solidFill>
                <a:latin typeface="Avenir Next"/>
                <a:ea typeface="Avenir Next"/>
                <a:cs typeface="Avenir Next"/>
              </a:defRPr>
            </a:pPr>
            <a:r>
              <a:rPr sz="1725" b="1">
                <a:solidFill>
                  <a:srgbClr val="D5E4AD"/>
                </a:solidFill>
                <a:latin typeface="Avenir Next"/>
                <a:ea typeface="Avenir Next"/>
                <a:cs typeface="Avenir Next"/>
              </a:rPr>
              <a:t>Clima y Territorio</a:t>
            </a:r>
          </a:p>
        </p:txBody>
      </p:sp>
      <p:sp>
        <p:nvSpPr>
          <p:cNvPr id="3" name="Moniliasis: un hongo daña&#10;el fruto del cacao.">
            <a:extLst xmlns:a="http://schemas.openxmlformats.org/drawingml/2006/main">
              <a:ext uri="{FF2B5EF4-FFF2-40B4-BE49-F238E27FC236}">
                <a16:creationId xmlns:a16="http://schemas.microsoft.com/office/drawing/2014/main" id="{2927C642-03A5-4D04-B33F-B49F1B756171}"/>
              </a:ext>
            </a:extLst>
          </p:cNvPr>
          <p:cNvSpPr>
            <a:spLocks xmlns:a="http://schemas.openxmlformats.org/drawingml/2006/main" noGrp="1"/>
          </p:cNvSpPr>
          <p:nvPr/>
        </p:nvSpPr>
        <p:spPr>
          <a:xfrm xmlns:a="http://schemas.openxmlformats.org/drawingml/2006/main">
            <a:off x="609600" y="2190750"/>
            <a:ext cx="704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5F3E9"/>
                </a:solidFill>
                <a:latin typeface="Avenir Next"/>
                <a:ea typeface="Avenir Next"/>
                <a:cs typeface="Avenir Next"/>
              </a:defRPr>
            </a:defPPr>
            <a:lvl1pPr>
              <a:defRPr sz="2550" b="0">
                <a:solidFill>
                  <a:srgbClr val="F5F3E9"/>
                </a:solidFill>
                <a:latin typeface="Avenir Next"/>
                <a:ea typeface="Avenir Next"/>
                <a:cs typeface="Avenir Next"/>
              </a:defRPr>
            </a:lvl1pPr>
            <a:lvl2pPr>
              <a:defRPr sz="2550" b="0">
                <a:solidFill>
                  <a:srgbClr val="F5F3E9"/>
                </a:solidFill>
                <a:latin typeface="Avenir Next"/>
                <a:ea typeface="Avenir Next"/>
                <a:cs typeface="Avenir Next"/>
              </a:defRPr>
            </a:lvl2pPr>
            <a:lvl3pPr>
              <a:defRPr sz="2550" b="0">
                <a:solidFill>
                  <a:srgbClr val="F5F3E9"/>
                </a:solidFill>
                <a:latin typeface="Avenir Next"/>
                <a:ea typeface="Avenir Next"/>
                <a:cs typeface="Avenir Next"/>
              </a:defRPr>
            </a:lvl3pPr>
            <a:lvl4pPr>
              <a:defRPr sz="2550" b="0">
                <a:solidFill>
                  <a:srgbClr val="F5F3E9"/>
                </a:solidFill>
                <a:latin typeface="Avenir Next"/>
                <a:ea typeface="Avenir Next"/>
                <a:cs typeface="Avenir Next"/>
              </a:defRPr>
            </a:lvl4pPr>
            <a:lvl5pPr>
              <a:defRPr sz="2550" b="0">
                <a:solidFill>
                  <a:srgbClr val="F5F3E9"/>
                </a:solidFill>
                <a:latin typeface="Avenir Next"/>
                <a:ea typeface="Avenir Next"/>
                <a:cs typeface="Avenir Next"/>
              </a:defRPr>
            </a:lvl5pPr>
            <a:lvl6pPr>
              <a:defRPr sz="2550" b="0">
                <a:solidFill>
                  <a:srgbClr val="F5F3E9"/>
                </a:solidFill>
                <a:latin typeface="Avenir Next"/>
                <a:ea typeface="Avenir Next"/>
                <a:cs typeface="Avenir Next"/>
              </a:defRPr>
            </a:lvl6pPr>
            <a:lvl7pPr>
              <a:defRPr sz="2550" b="0">
                <a:solidFill>
                  <a:srgbClr val="F5F3E9"/>
                </a:solidFill>
                <a:latin typeface="Avenir Next"/>
                <a:ea typeface="Avenir Next"/>
                <a:cs typeface="Avenir Next"/>
              </a:defRPr>
            </a:lvl7pPr>
            <a:lvl8pPr>
              <a:defRPr sz="2550" b="0">
                <a:solidFill>
                  <a:srgbClr val="F5F3E9"/>
                </a:solidFill>
                <a:latin typeface="Avenir Next"/>
                <a:ea typeface="Avenir Next"/>
                <a:cs typeface="Avenir Next"/>
              </a:defRPr>
            </a:lvl8pPr>
            <a:lvl9pPr>
              <a:defRPr sz="2550" b="0">
                <a:solidFill>
                  <a:srgbClr val="F5F3E9"/>
                </a:solidFill>
                <a:latin typeface="Avenir Next"/>
                <a:ea typeface="Avenir Next"/>
                <a:cs typeface="Avenir Next"/>
              </a:defRPr>
            </a:lvl9pPr>
          </a:lstStyle>
          <a:p xmlns:a="http://schemas.openxmlformats.org/drawingml/2006/main">
            <a:pPr>
              <a:defRPr sz="2550" b="0">
                <a:solidFill>
                  <a:srgbClr val="F5F3E9"/>
                </a:solidFill>
                <a:latin typeface="Avenir Next"/>
                <a:ea typeface="Avenir Next"/>
                <a:cs typeface="Avenir Next"/>
              </a:defRPr>
            </a:pPr>
            <a:r>
              <a:rPr sz="2550" b="0">
                <a:solidFill>
                  <a:srgbClr val="F5F3E9"/>
                </a:solidFill>
                <a:latin typeface="Avenir Next"/>
                <a:ea typeface="Avenir Next"/>
                <a:cs typeface="Avenir Next"/>
              </a:rPr>
              <a:t>Moniliasis: un hongo daña</a:t>
            </a:r>
          </a:p>
          <a:p xmlns:a="http://schemas.openxmlformats.org/drawingml/2006/main">
            <a:pPr>
              <a:defRPr sz="2550" b="0">
                <a:solidFill>
                  <a:srgbClr val="F5F3E9"/>
                </a:solidFill>
                <a:latin typeface="Avenir Next"/>
                <a:ea typeface="Avenir Next"/>
                <a:cs typeface="Avenir Next"/>
              </a:defRPr>
            </a:pPr>
            <a:r>
              <a:rPr sz="2550" b="0">
                <a:solidFill>
                  <a:srgbClr val="F5F3E9"/>
                </a:solidFill>
                <a:latin typeface="Avenir Next"/>
                <a:ea typeface="Avenir Next"/>
                <a:cs typeface="Avenir Next"/>
              </a:rPr>
              <a:t>el fruto del cacao.</a:t>
            </a:r>
          </a:p>
        </p:txBody>
      </p:sp>
      <p:sp>
        <p:nvSpPr>
          <p:cNvPr id="4" name="S/ 1 millón">
            <a:extLst xmlns:a="http://schemas.openxmlformats.org/drawingml/2006/main">
              <a:ext uri="{FF2B5EF4-FFF2-40B4-BE49-F238E27FC236}">
                <a16:creationId xmlns:a16="http://schemas.microsoft.com/office/drawing/2014/main" id="{1CEAB23B-2186-4A5C-A72D-2446EFBEC039}"/>
              </a:ext>
            </a:extLst>
          </p:cNvPr>
          <p:cNvSpPr>
            <a:spLocks xmlns:a="http://schemas.openxmlformats.org/drawingml/2006/main" noGrp="1"/>
          </p:cNvSpPr>
          <p:nvPr/>
        </p:nvSpPr>
        <p:spPr>
          <a:xfrm xmlns:a="http://schemas.openxmlformats.org/drawingml/2006/main">
            <a:off x="609600" y="3571875"/>
            <a:ext cx="7429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D5E4AD"/>
                </a:solidFill>
                <a:latin typeface="Avenir Next"/>
                <a:ea typeface="Avenir Next"/>
                <a:cs typeface="Avenir Next"/>
              </a:defRPr>
            </a:defPPr>
            <a:lvl1pPr>
              <a:defRPr sz="6000" b="1">
                <a:solidFill>
                  <a:srgbClr val="D5E4AD"/>
                </a:solidFill>
                <a:latin typeface="Avenir Next"/>
                <a:ea typeface="Avenir Next"/>
                <a:cs typeface="Avenir Next"/>
              </a:defRPr>
            </a:lvl1pPr>
            <a:lvl2pPr>
              <a:defRPr sz="6000" b="1">
                <a:solidFill>
                  <a:srgbClr val="D5E4AD"/>
                </a:solidFill>
                <a:latin typeface="Avenir Next"/>
                <a:ea typeface="Avenir Next"/>
                <a:cs typeface="Avenir Next"/>
              </a:defRPr>
            </a:lvl2pPr>
            <a:lvl3pPr>
              <a:defRPr sz="6000" b="1">
                <a:solidFill>
                  <a:srgbClr val="D5E4AD"/>
                </a:solidFill>
                <a:latin typeface="Avenir Next"/>
                <a:ea typeface="Avenir Next"/>
                <a:cs typeface="Avenir Next"/>
              </a:defRPr>
            </a:lvl3pPr>
            <a:lvl4pPr>
              <a:defRPr sz="6000" b="1">
                <a:solidFill>
                  <a:srgbClr val="D5E4AD"/>
                </a:solidFill>
                <a:latin typeface="Avenir Next"/>
                <a:ea typeface="Avenir Next"/>
                <a:cs typeface="Avenir Next"/>
              </a:defRPr>
            </a:lvl4pPr>
            <a:lvl5pPr>
              <a:defRPr sz="6000" b="1">
                <a:solidFill>
                  <a:srgbClr val="D5E4AD"/>
                </a:solidFill>
                <a:latin typeface="Avenir Next"/>
                <a:ea typeface="Avenir Next"/>
                <a:cs typeface="Avenir Next"/>
              </a:defRPr>
            </a:lvl5pPr>
            <a:lvl6pPr>
              <a:defRPr sz="6000" b="1">
                <a:solidFill>
                  <a:srgbClr val="D5E4AD"/>
                </a:solidFill>
                <a:latin typeface="Avenir Next"/>
                <a:ea typeface="Avenir Next"/>
                <a:cs typeface="Avenir Next"/>
              </a:defRPr>
            </a:lvl6pPr>
            <a:lvl7pPr>
              <a:defRPr sz="6000" b="1">
                <a:solidFill>
                  <a:srgbClr val="D5E4AD"/>
                </a:solidFill>
                <a:latin typeface="Avenir Next"/>
                <a:ea typeface="Avenir Next"/>
                <a:cs typeface="Avenir Next"/>
              </a:defRPr>
            </a:lvl7pPr>
            <a:lvl8pPr>
              <a:defRPr sz="6000" b="1">
                <a:solidFill>
                  <a:srgbClr val="D5E4AD"/>
                </a:solidFill>
                <a:latin typeface="Avenir Next"/>
                <a:ea typeface="Avenir Next"/>
                <a:cs typeface="Avenir Next"/>
              </a:defRPr>
            </a:lvl8pPr>
            <a:lvl9pPr>
              <a:defRPr sz="6000" b="1">
                <a:solidFill>
                  <a:srgbClr val="D5E4AD"/>
                </a:solidFill>
                <a:latin typeface="Avenir Next"/>
                <a:ea typeface="Avenir Next"/>
                <a:cs typeface="Avenir Next"/>
              </a:defRPr>
            </a:lvl9pPr>
          </a:lstStyle>
          <a:p xmlns:a="http://schemas.openxmlformats.org/drawingml/2006/main">
            <a:pPr>
              <a:defRPr sz="6000" b="1">
                <a:solidFill>
                  <a:srgbClr val="D5E4AD"/>
                </a:solidFill>
                <a:latin typeface="Avenir Next"/>
                <a:ea typeface="Avenir Next"/>
                <a:cs typeface="Avenir Next"/>
              </a:defRPr>
            </a:pPr>
            <a:r>
              <a:rPr sz="6000" b="1">
                <a:solidFill>
                  <a:srgbClr val="D5E4AD"/>
                </a:solidFill>
                <a:latin typeface="Avenir Next"/>
                <a:ea typeface="Avenir Next"/>
                <a:cs typeface="Avenir Next"/>
              </a:rPr>
              <a:t>S/ 1 millón</a:t>
            </a:r>
          </a:p>
        </p:txBody>
      </p:sp>
      <p:sp>
        <p:nvSpPr>
          <p:cNvPr id="5" name="en ventas al perder la mitad&#10;de la cosecha en">
            <a:extLst xmlns:a="http://schemas.openxmlformats.org/drawingml/2006/main">
              <a:ext uri="{FF2B5EF4-FFF2-40B4-BE49-F238E27FC236}">
                <a16:creationId xmlns:a16="http://schemas.microsoft.com/office/drawing/2014/main" id="{825BC2B8-6B2B-44B4-8FDD-F00B1D03BB04}"/>
              </a:ext>
            </a:extLst>
          </p:cNvPr>
          <p:cNvSpPr>
            <a:spLocks xmlns:a="http://schemas.openxmlformats.org/drawingml/2006/main" noGrp="1"/>
          </p:cNvSpPr>
          <p:nvPr/>
        </p:nvSpPr>
        <p:spPr>
          <a:xfrm xmlns:a="http://schemas.openxmlformats.org/drawingml/2006/main">
            <a:off x="609600" y="4695825"/>
            <a:ext cx="714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3E9"/>
                </a:solidFill>
                <a:latin typeface="Avenir Next"/>
                <a:ea typeface="Avenir Next"/>
                <a:cs typeface="Avenir Next"/>
              </a:defRPr>
            </a:defPPr>
            <a:lvl1pPr>
              <a:defRPr sz="2175" b="0">
                <a:solidFill>
                  <a:srgbClr val="F5F3E9"/>
                </a:solidFill>
                <a:latin typeface="Avenir Next"/>
                <a:ea typeface="Avenir Next"/>
                <a:cs typeface="Avenir Next"/>
              </a:defRPr>
            </a:lvl1pPr>
            <a:lvl2pPr>
              <a:defRPr sz="2175" b="0">
                <a:solidFill>
                  <a:srgbClr val="F5F3E9"/>
                </a:solidFill>
                <a:latin typeface="Avenir Next"/>
                <a:ea typeface="Avenir Next"/>
                <a:cs typeface="Avenir Next"/>
              </a:defRPr>
            </a:lvl2pPr>
            <a:lvl3pPr>
              <a:defRPr sz="2175" b="0">
                <a:solidFill>
                  <a:srgbClr val="F5F3E9"/>
                </a:solidFill>
                <a:latin typeface="Avenir Next"/>
                <a:ea typeface="Avenir Next"/>
                <a:cs typeface="Avenir Next"/>
              </a:defRPr>
            </a:lvl3pPr>
            <a:lvl4pPr>
              <a:defRPr sz="2175" b="0">
                <a:solidFill>
                  <a:srgbClr val="F5F3E9"/>
                </a:solidFill>
                <a:latin typeface="Avenir Next"/>
                <a:ea typeface="Avenir Next"/>
                <a:cs typeface="Avenir Next"/>
              </a:defRPr>
            </a:lvl4pPr>
            <a:lvl5pPr>
              <a:defRPr sz="2175" b="0">
                <a:solidFill>
                  <a:srgbClr val="F5F3E9"/>
                </a:solidFill>
                <a:latin typeface="Avenir Next"/>
                <a:ea typeface="Avenir Next"/>
                <a:cs typeface="Avenir Next"/>
              </a:defRPr>
            </a:lvl5pPr>
            <a:lvl6pPr>
              <a:defRPr sz="2175" b="0">
                <a:solidFill>
                  <a:srgbClr val="F5F3E9"/>
                </a:solidFill>
                <a:latin typeface="Avenir Next"/>
                <a:ea typeface="Avenir Next"/>
                <a:cs typeface="Avenir Next"/>
              </a:defRPr>
            </a:lvl6pPr>
            <a:lvl7pPr>
              <a:defRPr sz="2175" b="0">
                <a:solidFill>
                  <a:srgbClr val="F5F3E9"/>
                </a:solidFill>
                <a:latin typeface="Avenir Next"/>
                <a:ea typeface="Avenir Next"/>
                <a:cs typeface="Avenir Next"/>
              </a:defRPr>
            </a:lvl7pPr>
            <a:lvl8pPr>
              <a:defRPr sz="2175" b="0">
                <a:solidFill>
                  <a:srgbClr val="F5F3E9"/>
                </a:solidFill>
                <a:latin typeface="Avenir Next"/>
                <a:ea typeface="Avenir Next"/>
                <a:cs typeface="Avenir Next"/>
              </a:defRPr>
            </a:lvl8pPr>
            <a:lvl9pPr>
              <a:defRPr sz="2175" b="0">
                <a:solidFill>
                  <a:srgbClr val="F5F3E9"/>
                </a:solidFill>
                <a:latin typeface="Avenir Next"/>
                <a:ea typeface="Avenir Next"/>
                <a:cs typeface="Avenir Next"/>
              </a:defRPr>
            </a:lvl9pPr>
          </a:lstStyle>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en ventas al perder la mitad</a:t>
            </a:r>
          </a:p>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de la cosecha en 100 hectáreas</a:t>
            </a:r>
          </a:p>
        </p:txBody>
      </p:sp>
      <p:sp>
        <p:nvSpPr>
          <p:cNvPr id="6" name="Con 1,000 kg/ha de cacao seco a S/20 por kg">
            <a:extLst xmlns:a="http://schemas.openxmlformats.org/drawingml/2006/main">
              <a:ext uri="{FF2B5EF4-FFF2-40B4-BE49-F238E27FC236}">
                <a16:creationId xmlns:a16="http://schemas.microsoft.com/office/drawing/2014/main" id="{CB94E34F-1AAA-4C8F-BCDB-5683E45FF403}"/>
              </a:ext>
            </a:extLst>
          </p:cNvPr>
          <p:cNvSpPr>
            <a:spLocks xmlns:a="http://schemas.openxmlformats.org/drawingml/2006/main" noGrp="1"/>
          </p:cNvSpPr>
          <p:nvPr/>
        </p:nvSpPr>
        <p:spPr>
          <a:xfrm xmlns:a="http://schemas.openxmlformats.org/drawingml/2006/main">
            <a:off x="609600" y="5772150"/>
            <a:ext cx="7429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5E4AD"/>
                </a:solidFill>
                <a:latin typeface="Avenir Next"/>
                <a:ea typeface="Avenir Next"/>
                <a:cs typeface="Avenir Next"/>
              </a:defRPr>
            </a:defPPr>
            <a:lvl1pPr>
              <a:defRPr sz="1650" b="0">
                <a:solidFill>
                  <a:srgbClr val="D5E4AD"/>
                </a:solidFill>
                <a:latin typeface="Avenir Next"/>
                <a:ea typeface="Avenir Next"/>
                <a:cs typeface="Avenir Next"/>
              </a:defRPr>
            </a:lvl1pPr>
            <a:lvl2pPr>
              <a:defRPr sz="1650" b="0">
                <a:solidFill>
                  <a:srgbClr val="D5E4AD"/>
                </a:solidFill>
                <a:latin typeface="Avenir Next"/>
                <a:ea typeface="Avenir Next"/>
                <a:cs typeface="Avenir Next"/>
              </a:defRPr>
            </a:lvl2pPr>
            <a:lvl3pPr>
              <a:defRPr sz="1650" b="0">
                <a:solidFill>
                  <a:srgbClr val="D5E4AD"/>
                </a:solidFill>
                <a:latin typeface="Avenir Next"/>
                <a:ea typeface="Avenir Next"/>
                <a:cs typeface="Avenir Next"/>
              </a:defRPr>
            </a:lvl3pPr>
            <a:lvl4pPr>
              <a:defRPr sz="1650" b="0">
                <a:solidFill>
                  <a:srgbClr val="D5E4AD"/>
                </a:solidFill>
                <a:latin typeface="Avenir Next"/>
                <a:ea typeface="Avenir Next"/>
                <a:cs typeface="Avenir Next"/>
              </a:defRPr>
            </a:lvl4pPr>
            <a:lvl5pPr>
              <a:defRPr sz="1650" b="0">
                <a:solidFill>
                  <a:srgbClr val="D5E4AD"/>
                </a:solidFill>
                <a:latin typeface="Avenir Next"/>
                <a:ea typeface="Avenir Next"/>
                <a:cs typeface="Avenir Next"/>
              </a:defRPr>
            </a:lvl5pPr>
            <a:lvl6pPr>
              <a:defRPr sz="1650" b="0">
                <a:solidFill>
                  <a:srgbClr val="D5E4AD"/>
                </a:solidFill>
                <a:latin typeface="Avenir Next"/>
                <a:ea typeface="Avenir Next"/>
                <a:cs typeface="Avenir Next"/>
              </a:defRPr>
            </a:lvl6pPr>
            <a:lvl7pPr>
              <a:defRPr sz="1650" b="0">
                <a:solidFill>
                  <a:srgbClr val="D5E4AD"/>
                </a:solidFill>
                <a:latin typeface="Avenir Next"/>
                <a:ea typeface="Avenir Next"/>
                <a:cs typeface="Avenir Next"/>
              </a:defRPr>
            </a:lvl7pPr>
            <a:lvl8pPr>
              <a:defRPr sz="1650" b="0">
                <a:solidFill>
                  <a:srgbClr val="D5E4AD"/>
                </a:solidFill>
                <a:latin typeface="Avenir Next"/>
                <a:ea typeface="Avenir Next"/>
                <a:cs typeface="Avenir Next"/>
              </a:defRPr>
            </a:lvl8pPr>
            <a:lvl9pPr>
              <a:defRPr sz="1650" b="0">
                <a:solidFill>
                  <a:srgbClr val="D5E4AD"/>
                </a:solidFill>
                <a:latin typeface="Avenir Next"/>
                <a:ea typeface="Avenir Next"/>
                <a:cs typeface="Avenir Next"/>
              </a:defRPr>
            </a:lvl9pPr>
          </a:lstStyle>
          <a:p xmlns:a="http://schemas.openxmlformats.org/drawingml/2006/main">
            <a:pPr>
              <a:defRPr sz="1650" b="0">
                <a:solidFill>
                  <a:srgbClr val="D5E4AD"/>
                </a:solidFill>
                <a:latin typeface="Avenir Next"/>
                <a:ea typeface="Avenir Next"/>
                <a:cs typeface="Avenir Next"/>
              </a:defRPr>
            </a:pPr>
            <a:r>
              <a:rPr sz="1650" b="0">
                <a:solidFill>
                  <a:srgbClr val="D5E4AD"/>
                </a:solidFill>
                <a:latin typeface="Avenir Next"/>
                <a:ea typeface="Avenir Next"/>
                <a:cs typeface="Avenir Next"/>
              </a:rPr>
              <a:t>Con 1,000 kg/ha de cacao seco a S/20 por kg</a:t>
            </a:r>
          </a:p>
        </p:txBody>
      </p:sp>
      <p:sp>
        <p:nvSpPr>
          <p:cNvPr id="7" name="30–80% de pérdida de producción. INIA, 2011.">
            <a:extLst xmlns:a="http://schemas.openxmlformats.org/drawingml/2006/main">
              <a:ext uri="{FF2B5EF4-FFF2-40B4-BE49-F238E27FC236}">
                <a16:creationId xmlns:a16="http://schemas.microsoft.com/office/drawing/2014/main" id="{49A7A946-6E7F-4A6B-B88F-63D949AF6D11}"/>
              </a:ext>
            </a:extLst>
          </p:cNvPr>
          <p:cNvSpPr>
            <a:spLocks xmlns:a="http://schemas.openxmlformats.org/drawingml/2006/main" noGrp="1"/>
          </p:cNvSpPr>
          <p:nvPr/>
        </p:nvSpPr>
        <p:spPr>
          <a:xfrm xmlns:a="http://schemas.openxmlformats.org/drawingml/2006/main">
            <a:off x="609600" y="63436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5F3E9"/>
                </a:solidFill>
                <a:latin typeface="Avenir Next"/>
                <a:ea typeface="Avenir Next"/>
                <a:cs typeface="Avenir Next"/>
              </a:defRPr>
            </a:defPPr>
            <a:lvl1pPr>
              <a:defRPr sz="1500" b="0">
                <a:solidFill>
                  <a:srgbClr val="F5F3E9"/>
                </a:solidFill>
                <a:latin typeface="Avenir Next"/>
                <a:ea typeface="Avenir Next"/>
                <a:cs typeface="Avenir Next"/>
              </a:defRPr>
            </a:lvl1pPr>
            <a:lvl2pPr>
              <a:defRPr sz="1500" b="0">
                <a:solidFill>
                  <a:srgbClr val="F5F3E9"/>
                </a:solidFill>
                <a:latin typeface="Avenir Next"/>
                <a:ea typeface="Avenir Next"/>
                <a:cs typeface="Avenir Next"/>
              </a:defRPr>
            </a:lvl2pPr>
            <a:lvl3pPr>
              <a:defRPr sz="1500" b="0">
                <a:solidFill>
                  <a:srgbClr val="F5F3E9"/>
                </a:solidFill>
                <a:latin typeface="Avenir Next"/>
                <a:ea typeface="Avenir Next"/>
                <a:cs typeface="Avenir Next"/>
              </a:defRPr>
            </a:lvl3pPr>
            <a:lvl4pPr>
              <a:defRPr sz="1500" b="0">
                <a:solidFill>
                  <a:srgbClr val="F5F3E9"/>
                </a:solidFill>
                <a:latin typeface="Avenir Next"/>
                <a:ea typeface="Avenir Next"/>
                <a:cs typeface="Avenir Next"/>
              </a:defRPr>
            </a:lvl4pPr>
            <a:lvl5pPr>
              <a:defRPr sz="1500" b="0">
                <a:solidFill>
                  <a:srgbClr val="F5F3E9"/>
                </a:solidFill>
                <a:latin typeface="Avenir Next"/>
                <a:ea typeface="Avenir Next"/>
                <a:cs typeface="Avenir Next"/>
              </a:defRPr>
            </a:lvl5pPr>
            <a:lvl6pPr>
              <a:defRPr sz="1500" b="0">
                <a:solidFill>
                  <a:srgbClr val="F5F3E9"/>
                </a:solidFill>
                <a:latin typeface="Avenir Next"/>
                <a:ea typeface="Avenir Next"/>
                <a:cs typeface="Avenir Next"/>
              </a:defRPr>
            </a:lvl6pPr>
            <a:lvl7pPr>
              <a:defRPr sz="1500" b="0">
                <a:solidFill>
                  <a:srgbClr val="F5F3E9"/>
                </a:solidFill>
                <a:latin typeface="Avenir Next"/>
                <a:ea typeface="Avenir Next"/>
                <a:cs typeface="Avenir Next"/>
              </a:defRPr>
            </a:lvl7pPr>
            <a:lvl8pPr>
              <a:defRPr sz="1500" b="0">
                <a:solidFill>
                  <a:srgbClr val="F5F3E9"/>
                </a:solidFill>
                <a:latin typeface="Avenir Next"/>
                <a:ea typeface="Avenir Next"/>
                <a:cs typeface="Avenir Next"/>
              </a:defRPr>
            </a:lvl8pPr>
            <a:lvl9pPr>
              <a:defRPr sz="1500" b="0">
                <a:solidFill>
                  <a:srgbClr val="F5F3E9"/>
                </a:solidFill>
                <a:latin typeface="Avenir Next"/>
                <a:ea typeface="Avenir Next"/>
                <a:cs typeface="Avenir Next"/>
              </a:defRPr>
            </a:lvl9pPr>
          </a:lstStyle>
          <a:p xmlns:a="http://schemas.openxmlformats.org/drawingml/2006/main">
            <a:pPr>
              <a:defRPr sz="1500" b="0">
                <a:solidFill>
                  <a:srgbClr val="F5F3E9"/>
                </a:solidFill>
                <a:latin typeface="Avenir Next"/>
                <a:ea typeface="Avenir Next"/>
                <a:cs typeface="Avenir Next"/>
              </a:defRPr>
            </a:pPr>
            <a:r>
              <a:rPr sz="1500" b="0">
                <a:solidFill>
                  <a:srgbClr val="F5F3E9"/>
                </a:solidFill>
                <a:latin typeface="Avenir Next"/>
                <a:ea typeface="Avenir Next"/>
                <a:cs typeface="Avenir Next"/>
              </a:rPr>
              <a:t>30–80% de pérdida de producción. INIA, 2011.</a:t>
            </a:r>
          </a:p>
        </p:txBody>
      </p:sp>
      <p:pic>
        <p:nvPicPr>
          <p:cNvPr id="8" name="">
            <a:extLst xmlns:a="http://schemas.openxmlformats.org/drawingml/2006/main">
              <a:ext uri="{FF2B5EF4-FFF2-40B4-BE49-F238E27FC236}">
                <a16:creationId xmlns:a16="http://schemas.microsoft.com/office/drawing/2014/main" id="{E852AD74-0CD7-4BE2-A305-7AB9AB7BB411}"/>
              </a:ext>
            </a:extLst>
          </p:cNvPr>
          <p:cNvPicPr>
            <a:picLocks xmlns:a="http://schemas.openxmlformats.org/drawingml/2006/main" noChangeAspect="1"/>
          </p:cNvPicPr>
          <p:nvPr/>
        </p:nvPicPr>
        <p:blipFill>
          <a:blip xmlns:r="http://schemas.openxmlformats.org/officeDocument/2006/relationships" xmlns:a="http://schemas.openxmlformats.org/drawingml/2006/main" r:embed="R04e4a200800143ce"/>
          <a:stretch xmlns:a="http://schemas.openxmlformats.org/drawingml/2006/main"/>
        </p:blipFill>
        <p:spPr>
          <a:xfrm xmlns:a="http://schemas.openxmlformats.org/drawingml/2006/main">
            <a:off x="8429625" y="1771650"/>
            <a:ext cx="2857500" cy="3810000"/>
          </a:xfrm>
          <a:prstGeom xmlns:a="http://schemas.openxmlformats.org/drawingml/2006/main" prst="rect">
            <a:avLst/>
          </a:prstGeom>
        </p:spPr>
      </p:pic>
      <p:sp>
        <p:nvSpPr>
          <p:cNvPr id="9" name="Foto real. Dataset Mendeley.">
            <a:extLst xmlns:a="http://schemas.openxmlformats.org/drawingml/2006/main">
              <a:ext uri="{FF2B5EF4-FFF2-40B4-BE49-F238E27FC236}">
                <a16:creationId xmlns:a16="http://schemas.microsoft.com/office/drawing/2014/main" id="{42A991B4-360E-4E81-B7E0-C92625B2A244}"/>
              </a:ext>
            </a:extLst>
          </p:cNvPr>
          <p:cNvSpPr>
            <a:spLocks xmlns:a="http://schemas.openxmlformats.org/drawingml/2006/main" noGrp="1"/>
          </p:cNvSpPr>
          <p:nvPr/>
        </p:nvSpPr>
        <p:spPr>
          <a:xfrm xmlns:a="http://schemas.openxmlformats.org/drawingml/2006/main">
            <a:off x="8429625" y="5838825"/>
            <a:ext cx="3152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D5E4AD"/>
                </a:solidFill>
                <a:latin typeface="Avenir Next"/>
                <a:ea typeface="Avenir Next"/>
                <a:cs typeface="Avenir Next"/>
              </a:defRPr>
            </a:defPPr>
            <a:lvl1pPr>
              <a:defRPr sz="1425" b="0">
                <a:solidFill>
                  <a:srgbClr val="D5E4AD"/>
                </a:solidFill>
                <a:latin typeface="Avenir Next"/>
                <a:ea typeface="Avenir Next"/>
                <a:cs typeface="Avenir Next"/>
              </a:defRPr>
            </a:lvl1pPr>
            <a:lvl2pPr>
              <a:defRPr sz="1425" b="0">
                <a:solidFill>
                  <a:srgbClr val="D5E4AD"/>
                </a:solidFill>
                <a:latin typeface="Avenir Next"/>
                <a:ea typeface="Avenir Next"/>
                <a:cs typeface="Avenir Next"/>
              </a:defRPr>
            </a:lvl2pPr>
            <a:lvl3pPr>
              <a:defRPr sz="1425" b="0">
                <a:solidFill>
                  <a:srgbClr val="D5E4AD"/>
                </a:solidFill>
                <a:latin typeface="Avenir Next"/>
                <a:ea typeface="Avenir Next"/>
                <a:cs typeface="Avenir Next"/>
              </a:defRPr>
            </a:lvl3pPr>
            <a:lvl4pPr>
              <a:defRPr sz="1425" b="0">
                <a:solidFill>
                  <a:srgbClr val="D5E4AD"/>
                </a:solidFill>
                <a:latin typeface="Avenir Next"/>
                <a:ea typeface="Avenir Next"/>
                <a:cs typeface="Avenir Next"/>
              </a:defRPr>
            </a:lvl4pPr>
            <a:lvl5pPr>
              <a:defRPr sz="1425" b="0">
                <a:solidFill>
                  <a:srgbClr val="D5E4AD"/>
                </a:solidFill>
                <a:latin typeface="Avenir Next"/>
                <a:ea typeface="Avenir Next"/>
                <a:cs typeface="Avenir Next"/>
              </a:defRPr>
            </a:lvl5pPr>
            <a:lvl6pPr>
              <a:defRPr sz="1425" b="0">
                <a:solidFill>
                  <a:srgbClr val="D5E4AD"/>
                </a:solidFill>
                <a:latin typeface="Avenir Next"/>
                <a:ea typeface="Avenir Next"/>
                <a:cs typeface="Avenir Next"/>
              </a:defRPr>
            </a:lvl6pPr>
            <a:lvl7pPr>
              <a:defRPr sz="1425" b="0">
                <a:solidFill>
                  <a:srgbClr val="D5E4AD"/>
                </a:solidFill>
                <a:latin typeface="Avenir Next"/>
                <a:ea typeface="Avenir Next"/>
                <a:cs typeface="Avenir Next"/>
              </a:defRPr>
            </a:lvl7pPr>
            <a:lvl8pPr>
              <a:defRPr sz="1425" b="0">
                <a:solidFill>
                  <a:srgbClr val="D5E4AD"/>
                </a:solidFill>
                <a:latin typeface="Avenir Next"/>
                <a:ea typeface="Avenir Next"/>
                <a:cs typeface="Avenir Next"/>
              </a:defRPr>
            </a:lvl8pPr>
            <a:lvl9pPr>
              <a:defRPr sz="1425" b="0">
                <a:solidFill>
                  <a:srgbClr val="D5E4AD"/>
                </a:solidFill>
                <a:latin typeface="Avenir Next"/>
                <a:ea typeface="Avenir Next"/>
                <a:cs typeface="Avenir Next"/>
              </a:defRPr>
            </a:lvl9pPr>
          </a:lstStyle>
          <a:p xmlns:a="http://schemas.openxmlformats.org/drawingml/2006/main">
            <a:pPr>
              <a:defRPr sz="1425" b="0">
                <a:solidFill>
                  <a:srgbClr val="D5E4AD"/>
                </a:solidFill>
                <a:latin typeface="Avenir Next"/>
                <a:ea typeface="Avenir Next"/>
                <a:cs typeface="Avenir Next"/>
              </a:defRPr>
            </a:pPr>
            <a:r>
              <a:rPr sz="1425" b="0">
                <a:solidFill>
                  <a:srgbClr val="D5E4AD"/>
                </a:solidFill>
                <a:latin typeface="Avenir Next"/>
                <a:ea typeface="Avenir Next"/>
                <a:cs typeface="Avenir Next"/>
              </a:rPr>
              <a:t>Foto real. Dataset Mendeley.</a:t>
            </a:r>
          </a:p>
        </p:txBody>
      </p:sp>
    </p:spTree>
    <p:extLst>
      <p:ext uri="{BB962C8B-B14F-4D97-AF65-F5344CB8AC3E}">
        <p14:creationId xmlns:p14="http://schemas.microsoft.com/office/powerpoint/2010/main" val="2008731208"/>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Visión entrenada con fotos reales">
            <a:extLst xmlns:a="http://schemas.openxmlformats.org/drawingml/2006/main">
              <a:ext uri="{FF2B5EF4-FFF2-40B4-BE49-F238E27FC236}">
                <a16:creationId xmlns:a16="http://schemas.microsoft.com/office/drawing/2014/main" id="{520B0718-5591-480F-ACFE-47EADC8C6774}"/>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Visión entrenada con fotos reales</a:t>
            </a:r>
          </a:p>
        </p:txBody>
      </p:sp>
      <p:sp>
        <p:nvSpPr>
          <p:cNvPr id="2" name="1,655">
            <a:extLst xmlns:a="http://schemas.openxmlformats.org/drawingml/2006/main">
              <a:ext uri="{FF2B5EF4-FFF2-40B4-BE49-F238E27FC236}">
                <a16:creationId xmlns:a16="http://schemas.microsoft.com/office/drawing/2014/main" id="{29D8C816-A878-4B97-A24C-115EB4A92193}"/>
              </a:ext>
            </a:extLst>
          </p:cNvPr>
          <p:cNvSpPr>
            <a:spLocks xmlns:a="http://schemas.openxmlformats.org/drawingml/2006/main" noGrp="1"/>
          </p:cNvSpPr>
          <p:nvPr/>
        </p:nvSpPr>
        <p:spPr>
          <a:xfrm xmlns:a="http://schemas.openxmlformats.org/drawingml/2006/main">
            <a:off x="609600" y="175260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17392B"/>
                </a:solidFill>
                <a:latin typeface="Avenir Next"/>
                <a:ea typeface="Avenir Next"/>
                <a:cs typeface="Avenir Next"/>
              </a:defRPr>
            </a:defPPr>
            <a:lvl1pPr>
              <a:defRPr sz="6300" b="1">
                <a:solidFill>
                  <a:srgbClr val="17392B"/>
                </a:solidFill>
                <a:latin typeface="Avenir Next"/>
                <a:ea typeface="Avenir Next"/>
                <a:cs typeface="Avenir Next"/>
              </a:defRPr>
            </a:lvl1pPr>
            <a:lvl2pPr>
              <a:defRPr sz="6300" b="1">
                <a:solidFill>
                  <a:srgbClr val="17392B"/>
                </a:solidFill>
                <a:latin typeface="Avenir Next"/>
                <a:ea typeface="Avenir Next"/>
                <a:cs typeface="Avenir Next"/>
              </a:defRPr>
            </a:lvl2pPr>
            <a:lvl3pPr>
              <a:defRPr sz="6300" b="1">
                <a:solidFill>
                  <a:srgbClr val="17392B"/>
                </a:solidFill>
                <a:latin typeface="Avenir Next"/>
                <a:ea typeface="Avenir Next"/>
                <a:cs typeface="Avenir Next"/>
              </a:defRPr>
            </a:lvl3pPr>
            <a:lvl4pPr>
              <a:defRPr sz="6300" b="1">
                <a:solidFill>
                  <a:srgbClr val="17392B"/>
                </a:solidFill>
                <a:latin typeface="Avenir Next"/>
                <a:ea typeface="Avenir Next"/>
                <a:cs typeface="Avenir Next"/>
              </a:defRPr>
            </a:lvl4pPr>
            <a:lvl5pPr>
              <a:defRPr sz="6300" b="1">
                <a:solidFill>
                  <a:srgbClr val="17392B"/>
                </a:solidFill>
                <a:latin typeface="Avenir Next"/>
                <a:ea typeface="Avenir Next"/>
                <a:cs typeface="Avenir Next"/>
              </a:defRPr>
            </a:lvl5pPr>
            <a:lvl6pPr>
              <a:defRPr sz="6300" b="1">
                <a:solidFill>
                  <a:srgbClr val="17392B"/>
                </a:solidFill>
                <a:latin typeface="Avenir Next"/>
                <a:ea typeface="Avenir Next"/>
                <a:cs typeface="Avenir Next"/>
              </a:defRPr>
            </a:lvl6pPr>
            <a:lvl7pPr>
              <a:defRPr sz="6300" b="1">
                <a:solidFill>
                  <a:srgbClr val="17392B"/>
                </a:solidFill>
                <a:latin typeface="Avenir Next"/>
                <a:ea typeface="Avenir Next"/>
                <a:cs typeface="Avenir Next"/>
              </a:defRPr>
            </a:lvl7pPr>
            <a:lvl8pPr>
              <a:defRPr sz="6300" b="1">
                <a:solidFill>
                  <a:srgbClr val="17392B"/>
                </a:solidFill>
                <a:latin typeface="Avenir Next"/>
                <a:ea typeface="Avenir Next"/>
                <a:cs typeface="Avenir Next"/>
              </a:defRPr>
            </a:lvl8pPr>
            <a:lvl9pPr>
              <a:defRPr sz="6300" b="1">
                <a:solidFill>
                  <a:srgbClr val="17392B"/>
                </a:solidFill>
                <a:latin typeface="Avenir Next"/>
                <a:ea typeface="Avenir Next"/>
                <a:cs typeface="Avenir Next"/>
              </a:defRPr>
            </a:lvl9pPr>
          </a:lstStyle>
          <a:p xmlns:a="http://schemas.openxmlformats.org/drawingml/2006/main">
            <a:pPr>
              <a:defRPr sz="6300" b="1">
                <a:solidFill>
                  <a:srgbClr val="17392B"/>
                </a:solidFill>
                <a:latin typeface="Avenir Next"/>
                <a:ea typeface="Avenir Next"/>
                <a:cs typeface="Avenir Next"/>
              </a:defRPr>
            </a:pPr>
            <a:r>
              <a:rPr sz="6300" b="1">
                <a:solidFill>
                  <a:srgbClr val="17392B"/>
                </a:solidFill>
                <a:latin typeface="Avenir Next"/>
                <a:ea typeface="Avenir Next"/>
                <a:cs typeface="Avenir Next"/>
              </a:rPr>
              <a:t>1,655</a:t>
            </a:r>
          </a:p>
        </p:txBody>
      </p:sp>
      <p:sp>
        <p:nvSpPr>
          <p:cNvPr id="3" name="fotos de entrenamiento">
            <a:extLst xmlns:a="http://schemas.openxmlformats.org/drawingml/2006/main">
              <a:ext uri="{FF2B5EF4-FFF2-40B4-BE49-F238E27FC236}">
                <a16:creationId xmlns:a16="http://schemas.microsoft.com/office/drawing/2014/main" id="{A4E4A37B-F64E-450D-B46C-4BFB9363623A}"/>
              </a:ext>
            </a:extLst>
          </p:cNvPr>
          <p:cNvSpPr>
            <a:spLocks xmlns:a="http://schemas.openxmlformats.org/drawingml/2006/main" noGrp="1"/>
          </p:cNvSpPr>
          <p:nvPr/>
        </p:nvSpPr>
        <p:spPr>
          <a:xfrm xmlns:a="http://schemas.openxmlformats.org/drawingml/2006/main">
            <a:off x="609600" y="2924175"/>
            <a:ext cx="676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B2B"/>
                </a:solidFill>
                <a:latin typeface="Avenir Next"/>
                <a:ea typeface="Avenir Next"/>
                <a:cs typeface="Avenir Next"/>
              </a:defRPr>
            </a:defPPr>
            <a:lvl1pPr>
              <a:defRPr sz="2325" b="0">
                <a:solidFill>
                  <a:srgbClr val="233B2B"/>
                </a:solidFill>
                <a:latin typeface="Avenir Next"/>
                <a:ea typeface="Avenir Next"/>
                <a:cs typeface="Avenir Next"/>
              </a:defRPr>
            </a:lvl1pPr>
            <a:lvl2pPr>
              <a:defRPr sz="2325" b="0">
                <a:solidFill>
                  <a:srgbClr val="233B2B"/>
                </a:solidFill>
                <a:latin typeface="Avenir Next"/>
                <a:ea typeface="Avenir Next"/>
                <a:cs typeface="Avenir Next"/>
              </a:defRPr>
            </a:lvl2pPr>
            <a:lvl3pPr>
              <a:defRPr sz="2325" b="0">
                <a:solidFill>
                  <a:srgbClr val="233B2B"/>
                </a:solidFill>
                <a:latin typeface="Avenir Next"/>
                <a:ea typeface="Avenir Next"/>
                <a:cs typeface="Avenir Next"/>
              </a:defRPr>
            </a:lvl3pPr>
            <a:lvl4pPr>
              <a:defRPr sz="2325" b="0">
                <a:solidFill>
                  <a:srgbClr val="233B2B"/>
                </a:solidFill>
                <a:latin typeface="Avenir Next"/>
                <a:ea typeface="Avenir Next"/>
                <a:cs typeface="Avenir Next"/>
              </a:defRPr>
            </a:lvl4pPr>
            <a:lvl5pPr>
              <a:defRPr sz="2325" b="0">
                <a:solidFill>
                  <a:srgbClr val="233B2B"/>
                </a:solidFill>
                <a:latin typeface="Avenir Next"/>
                <a:ea typeface="Avenir Next"/>
                <a:cs typeface="Avenir Next"/>
              </a:defRPr>
            </a:lvl5pPr>
            <a:lvl6pPr>
              <a:defRPr sz="2325" b="0">
                <a:solidFill>
                  <a:srgbClr val="233B2B"/>
                </a:solidFill>
                <a:latin typeface="Avenir Next"/>
                <a:ea typeface="Avenir Next"/>
                <a:cs typeface="Avenir Next"/>
              </a:defRPr>
            </a:lvl6pPr>
            <a:lvl7pPr>
              <a:defRPr sz="2325" b="0">
                <a:solidFill>
                  <a:srgbClr val="233B2B"/>
                </a:solidFill>
                <a:latin typeface="Avenir Next"/>
                <a:ea typeface="Avenir Next"/>
                <a:cs typeface="Avenir Next"/>
              </a:defRPr>
            </a:lvl7pPr>
            <a:lvl8pPr>
              <a:defRPr sz="2325" b="0">
                <a:solidFill>
                  <a:srgbClr val="233B2B"/>
                </a:solidFill>
                <a:latin typeface="Avenir Next"/>
                <a:ea typeface="Avenir Next"/>
                <a:cs typeface="Avenir Next"/>
              </a:defRPr>
            </a:lvl8pPr>
            <a:lvl9pPr>
              <a:defRPr sz="2325" b="0">
                <a:solidFill>
                  <a:srgbClr val="233B2B"/>
                </a:solidFill>
                <a:latin typeface="Avenir Next"/>
                <a:ea typeface="Avenir Next"/>
                <a:cs typeface="Avenir Next"/>
              </a:defRPr>
            </a:lvl9pPr>
          </a:lstStyle>
          <a:p xmlns:a="http://schemas.openxmlformats.org/drawingml/2006/main">
            <a:pPr>
              <a:defRPr sz="2325" b="0">
                <a:solidFill>
                  <a:srgbClr val="233B2B"/>
                </a:solidFill>
                <a:latin typeface="Avenir Next"/>
                <a:ea typeface="Avenir Next"/>
                <a:cs typeface="Avenir Next"/>
              </a:defRPr>
            </a:pPr>
            <a:r>
              <a:rPr sz="2325" b="0">
                <a:solidFill>
                  <a:srgbClr val="233B2B"/>
                </a:solidFill>
                <a:latin typeface="Avenir Next"/>
                <a:ea typeface="Avenir Next"/>
                <a:cs typeface="Avenir Next"/>
              </a:rPr>
              <a:t>fotos de entrenamiento</a:t>
            </a:r>
          </a:p>
        </p:txBody>
      </p:sp>
      <p:sp>
        <p:nvSpPr>
          <p:cNvPr id="4" name="191 / 200">
            <a:extLst xmlns:a="http://schemas.openxmlformats.org/drawingml/2006/main">
              <a:ext uri="{FF2B5EF4-FFF2-40B4-BE49-F238E27FC236}">
                <a16:creationId xmlns:a16="http://schemas.microsoft.com/office/drawing/2014/main" id="{94B3274D-4ADB-491D-B84C-134B27989A13}"/>
              </a:ext>
            </a:extLst>
          </p:cNvPr>
          <p:cNvSpPr>
            <a:spLocks xmlns:a="http://schemas.openxmlformats.org/drawingml/2006/main" noGrp="1"/>
          </p:cNvSpPr>
          <p:nvPr/>
        </p:nvSpPr>
        <p:spPr>
          <a:xfrm xmlns:a="http://schemas.openxmlformats.org/drawingml/2006/main">
            <a:off x="609600" y="3886200"/>
            <a:ext cx="676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7392B"/>
                </a:solidFill>
                <a:latin typeface="Avenir Next"/>
                <a:ea typeface="Avenir Next"/>
                <a:cs typeface="Avenir Next"/>
              </a:defRPr>
            </a:defPPr>
            <a:lvl1pPr>
              <a:defRPr sz="4875" b="1">
                <a:solidFill>
                  <a:srgbClr val="17392B"/>
                </a:solidFill>
                <a:latin typeface="Avenir Next"/>
                <a:ea typeface="Avenir Next"/>
                <a:cs typeface="Avenir Next"/>
              </a:defRPr>
            </a:lvl1pPr>
            <a:lvl2pPr>
              <a:defRPr sz="4875" b="1">
                <a:solidFill>
                  <a:srgbClr val="17392B"/>
                </a:solidFill>
                <a:latin typeface="Avenir Next"/>
                <a:ea typeface="Avenir Next"/>
                <a:cs typeface="Avenir Next"/>
              </a:defRPr>
            </a:lvl2pPr>
            <a:lvl3pPr>
              <a:defRPr sz="4875" b="1">
                <a:solidFill>
                  <a:srgbClr val="17392B"/>
                </a:solidFill>
                <a:latin typeface="Avenir Next"/>
                <a:ea typeface="Avenir Next"/>
                <a:cs typeface="Avenir Next"/>
              </a:defRPr>
            </a:lvl3pPr>
            <a:lvl4pPr>
              <a:defRPr sz="4875" b="1">
                <a:solidFill>
                  <a:srgbClr val="17392B"/>
                </a:solidFill>
                <a:latin typeface="Avenir Next"/>
                <a:ea typeface="Avenir Next"/>
                <a:cs typeface="Avenir Next"/>
              </a:defRPr>
            </a:lvl4pPr>
            <a:lvl5pPr>
              <a:defRPr sz="4875" b="1">
                <a:solidFill>
                  <a:srgbClr val="17392B"/>
                </a:solidFill>
                <a:latin typeface="Avenir Next"/>
                <a:ea typeface="Avenir Next"/>
                <a:cs typeface="Avenir Next"/>
              </a:defRPr>
            </a:lvl5pPr>
            <a:lvl6pPr>
              <a:defRPr sz="4875" b="1">
                <a:solidFill>
                  <a:srgbClr val="17392B"/>
                </a:solidFill>
                <a:latin typeface="Avenir Next"/>
                <a:ea typeface="Avenir Next"/>
                <a:cs typeface="Avenir Next"/>
              </a:defRPr>
            </a:lvl6pPr>
            <a:lvl7pPr>
              <a:defRPr sz="4875" b="1">
                <a:solidFill>
                  <a:srgbClr val="17392B"/>
                </a:solidFill>
                <a:latin typeface="Avenir Next"/>
                <a:ea typeface="Avenir Next"/>
                <a:cs typeface="Avenir Next"/>
              </a:defRPr>
            </a:lvl7pPr>
            <a:lvl8pPr>
              <a:defRPr sz="4875" b="1">
                <a:solidFill>
                  <a:srgbClr val="17392B"/>
                </a:solidFill>
                <a:latin typeface="Avenir Next"/>
                <a:ea typeface="Avenir Next"/>
                <a:cs typeface="Avenir Next"/>
              </a:defRPr>
            </a:lvl8pPr>
            <a:lvl9pPr>
              <a:defRPr sz="4875" b="1">
                <a:solidFill>
                  <a:srgbClr val="17392B"/>
                </a:solidFill>
                <a:latin typeface="Avenir Next"/>
                <a:ea typeface="Avenir Next"/>
                <a:cs typeface="Avenir Next"/>
              </a:defRPr>
            </a:lvl9pPr>
          </a:lstStyle>
          <a:p xmlns:a="http://schemas.openxmlformats.org/drawingml/2006/main">
            <a:pPr>
              <a:defRPr sz="4875" b="1">
                <a:solidFill>
                  <a:srgbClr val="17392B"/>
                </a:solidFill>
                <a:latin typeface="Avenir Next"/>
                <a:ea typeface="Avenir Next"/>
                <a:cs typeface="Avenir Next"/>
              </a:defRPr>
            </a:pPr>
            <a:r>
              <a:rPr sz="4875" b="1">
                <a:solidFill>
                  <a:srgbClr val="17392B"/>
                </a:solidFill>
                <a:latin typeface="Avenir Next"/>
                <a:ea typeface="Avenir Next"/>
                <a:cs typeface="Avenir Next"/>
              </a:rPr>
              <a:t>191 / 200</a:t>
            </a:r>
          </a:p>
        </p:txBody>
      </p:sp>
      <p:sp>
        <p:nvSpPr>
          <p:cNvPr id="5" name="fotos con Monilia activaron alerta">
            <a:extLst xmlns:a="http://schemas.openxmlformats.org/drawingml/2006/main">
              <a:ext uri="{FF2B5EF4-FFF2-40B4-BE49-F238E27FC236}">
                <a16:creationId xmlns:a16="http://schemas.microsoft.com/office/drawing/2014/main" id="{D3571A49-CF1F-4F59-83BC-72FE4DFCA93B}"/>
              </a:ext>
            </a:extLst>
          </p:cNvPr>
          <p:cNvSpPr>
            <a:spLocks xmlns:a="http://schemas.openxmlformats.org/drawingml/2006/main" noGrp="1"/>
          </p:cNvSpPr>
          <p:nvPr/>
        </p:nvSpPr>
        <p:spPr>
          <a:xfrm xmlns:a="http://schemas.openxmlformats.org/drawingml/2006/main">
            <a:off x="609600" y="4838700"/>
            <a:ext cx="685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B2B"/>
                </a:solidFill>
                <a:latin typeface="Avenir Next"/>
                <a:ea typeface="Avenir Next"/>
                <a:cs typeface="Avenir Next"/>
              </a:defRPr>
            </a:defPPr>
            <a:lvl1pPr>
              <a:defRPr sz="2100" b="0">
                <a:solidFill>
                  <a:srgbClr val="233B2B"/>
                </a:solidFill>
                <a:latin typeface="Avenir Next"/>
                <a:ea typeface="Avenir Next"/>
                <a:cs typeface="Avenir Next"/>
              </a:defRPr>
            </a:lvl1pPr>
            <a:lvl2pPr>
              <a:defRPr sz="2100" b="0">
                <a:solidFill>
                  <a:srgbClr val="233B2B"/>
                </a:solidFill>
                <a:latin typeface="Avenir Next"/>
                <a:ea typeface="Avenir Next"/>
                <a:cs typeface="Avenir Next"/>
              </a:defRPr>
            </a:lvl2pPr>
            <a:lvl3pPr>
              <a:defRPr sz="2100" b="0">
                <a:solidFill>
                  <a:srgbClr val="233B2B"/>
                </a:solidFill>
                <a:latin typeface="Avenir Next"/>
                <a:ea typeface="Avenir Next"/>
                <a:cs typeface="Avenir Next"/>
              </a:defRPr>
            </a:lvl3pPr>
            <a:lvl4pPr>
              <a:defRPr sz="2100" b="0">
                <a:solidFill>
                  <a:srgbClr val="233B2B"/>
                </a:solidFill>
                <a:latin typeface="Avenir Next"/>
                <a:ea typeface="Avenir Next"/>
                <a:cs typeface="Avenir Next"/>
              </a:defRPr>
            </a:lvl4pPr>
            <a:lvl5pPr>
              <a:defRPr sz="2100" b="0">
                <a:solidFill>
                  <a:srgbClr val="233B2B"/>
                </a:solidFill>
                <a:latin typeface="Avenir Next"/>
                <a:ea typeface="Avenir Next"/>
                <a:cs typeface="Avenir Next"/>
              </a:defRPr>
            </a:lvl5pPr>
            <a:lvl6pPr>
              <a:defRPr sz="2100" b="0">
                <a:solidFill>
                  <a:srgbClr val="233B2B"/>
                </a:solidFill>
                <a:latin typeface="Avenir Next"/>
                <a:ea typeface="Avenir Next"/>
                <a:cs typeface="Avenir Next"/>
              </a:defRPr>
            </a:lvl6pPr>
            <a:lvl7pPr>
              <a:defRPr sz="2100" b="0">
                <a:solidFill>
                  <a:srgbClr val="233B2B"/>
                </a:solidFill>
                <a:latin typeface="Avenir Next"/>
                <a:ea typeface="Avenir Next"/>
                <a:cs typeface="Avenir Next"/>
              </a:defRPr>
            </a:lvl7pPr>
            <a:lvl8pPr>
              <a:defRPr sz="2100" b="0">
                <a:solidFill>
                  <a:srgbClr val="233B2B"/>
                </a:solidFill>
                <a:latin typeface="Avenir Next"/>
                <a:ea typeface="Avenir Next"/>
                <a:cs typeface="Avenir Next"/>
              </a:defRPr>
            </a:lvl8pPr>
            <a:lvl9pPr>
              <a:defRPr sz="2100" b="0">
                <a:solidFill>
                  <a:srgbClr val="233B2B"/>
                </a:solidFill>
                <a:latin typeface="Avenir Next"/>
                <a:ea typeface="Avenir Next"/>
                <a:cs typeface="Avenir Next"/>
              </a:defRPr>
            </a:lvl9pPr>
          </a:lstStyle>
          <a:p xmlns:a="http://schemas.openxmlformats.org/drawingml/2006/main">
            <a:pPr>
              <a:defRPr sz="2100" b="0">
                <a:solidFill>
                  <a:srgbClr val="233B2B"/>
                </a:solidFill>
                <a:latin typeface="Avenir Next"/>
                <a:ea typeface="Avenir Next"/>
                <a:cs typeface="Avenir Next"/>
              </a:defRPr>
            </a:pPr>
            <a:r>
              <a:rPr sz="2100" b="0">
                <a:solidFill>
                  <a:srgbClr val="233B2B"/>
                </a:solidFill>
                <a:latin typeface="Avenir Next"/>
                <a:ea typeface="Avenir Next"/>
                <a:cs typeface="Avenir Next"/>
              </a:rPr>
              <a:t>fotos con Monilia activaron alerta</a:t>
            </a:r>
          </a:p>
        </p:txBody>
      </p:sp>
      <p:sp>
        <p:nvSpPr>
          <p:cNvPr id="6" name="8 / 199 fotos sanas con alerta">
            <a:extLst xmlns:a="http://schemas.openxmlformats.org/drawingml/2006/main">
              <a:ext uri="{FF2B5EF4-FFF2-40B4-BE49-F238E27FC236}">
                <a16:creationId xmlns:a16="http://schemas.microsoft.com/office/drawing/2014/main" id="{21DC224F-F12F-445F-9ED8-88832AD174BC}"/>
              </a:ext>
            </a:extLst>
          </p:cNvPr>
          <p:cNvSpPr>
            <a:spLocks xmlns:a="http://schemas.openxmlformats.org/drawingml/2006/main" noGrp="1"/>
          </p:cNvSpPr>
          <p:nvPr/>
        </p:nvSpPr>
        <p:spPr>
          <a:xfrm xmlns:a="http://schemas.openxmlformats.org/drawingml/2006/main">
            <a:off x="609600" y="56102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96957"/>
                </a:solidFill>
                <a:latin typeface="Avenir Next"/>
                <a:ea typeface="Avenir Next"/>
                <a:cs typeface="Avenir Next"/>
              </a:defRPr>
            </a:defPPr>
            <a:lvl1pPr>
              <a:defRPr sz="1950" b="0">
                <a:solidFill>
                  <a:srgbClr val="596957"/>
                </a:solidFill>
                <a:latin typeface="Avenir Next"/>
                <a:ea typeface="Avenir Next"/>
                <a:cs typeface="Avenir Next"/>
              </a:defRPr>
            </a:lvl1pPr>
            <a:lvl2pPr>
              <a:defRPr sz="1950" b="0">
                <a:solidFill>
                  <a:srgbClr val="596957"/>
                </a:solidFill>
                <a:latin typeface="Avenir Next"/>
                <a:ea typeface="Avenir Next"/>
                <a:cs typeface="Avenir Next"/>
              </a:defRPr>
            </a:lvl2pPr>
            <a:lvl3pPr>
              <a:defRPr sz="1950" b="0">
                <a:solidFill>
                  <a:srgbClr val="596957"/>
                </a:solidFill>
                <a:latin typeface="Avenir Next"/>
                <a:ea typeface="Avenir Next"/>
                <a:cs typeface="Avenir Next"/>
              </a:defRPr>
            </a:lvl3pPr>
            <a:lvl4pPr>
              <a:defRPr sz="1950" b="0">
                <a:solidFill>
                  <a:srgbClr val="596957"/>
                </a:solidFill>
                <a:latin typeface="Avenir Next"/>
                <a:ea typeface="Avenir Next"/>
                <a:cs typeface="Avenir Next"/>
              </a:defRPr>
            </a:lvl4pPr>
            <a:lvl5pPr>
              <a:defRPr sz="1950" b="0">
                <a:solidFill>
                  <a:srgbClr val="596957"/>
                </a:solidFill>
                <a:latin typeface="Avenir Next"/>
                <a:ea typeface="Avenir Next"/>
                <a:cs typeface="Avenir Next"/>
              </a:defRPr>
            </a:lvl5pPr>
            <a:lvl6pPr>
              <a:defRPr sz="1950" b="0">
                <a:solidFill>
                  <a:srgbClr val="596957"/>
                </a:solidFill>
                <a:latin typeface="Avenir Next"/>
                <a:ea typeface="Avenir Next"/>
                <a:cs typeface="Avenir Next"/>
              </a:defRPr>
            </a:lvl6pPr>
            <a:lvl7pPr>
              <a:defRPr sz="1950" b="0">
                <a:solidFill>
                  <a:srgbClr val="596957"/>
                </a:solidFill>
                <a:latin typeface="Avenir Next"/>
                <a:ea typeface="Avenir Next"/>
                <a:cs typeface="Avenir Next"/>
              </a:defRPr>
            </a:lvl7pPr>
            <a:lvl8pPr>
              <a:defRPr sz="1950" b="0">
                <a:solidFill>
                  <a:srgbClr val="596957"/>
                </a:solidFill>
                <a:latin typeface="Avenir Next"/>
                <a:ea typeface="Avenir Next"/>
                <a:cs typeface="Avenir Next"/>
              </a:defRPr>
            </a:lvl8pPr>
            <a:lvl9pPr>
              <a:defRPr sz="1950" b="0">
                <a:solidFill>
                  <a:srgbClr val="596957"/>
                </a:solidFill>
                <a:latin typeface="Avenir Next"/>
                <a:ea typeface="Avenir Next"/>
                <a:cs typeface="Avenir Next"/>
              </a:defRPr>
            </a:lvl9pPr>
          </a:lstStyle>
          <a:p xmlns:a="http://schemas.openxmlformats.org/drawingml/2006/main">
            <a:pPr>
              <a:defRPr sz="1950" b="0">
                <a:solidFill>
                  <a:srgbClr val="596957"/>
                </a:solidFill>
                <a:latin typeface="Avenir Next"/>
                <a:ea typeface="Avenir Next"/>
                <a:cs typeface="Avenir Next"/>
              </a:defRPr>
            </a:pPr>
            <a:r>
              <a:rPr sz="1950" b="0">
                <a:solidFill>
                  <a:srgbClr val="596957"/>
                </a:solidFill>
                <a:latin typeface="Avenir Next"/>
                <a:ea typeface="Avenir Next"/>
                <a:cs typeface="Avenir Next"/>
              </a:rPr>
              <a:t>8 / 199 fotos sanas con alerta</a:t>
            </a:r>
          </a:p>
        </p:txBody>
      </p:sp>
      <p:pic>
        <p:nvPicPr>
          <p:cNvPr id="7" name="">
            <a:extLst xmlns:a="http://schemas.openxmlformats.org/drawingml/2006/main">
              <a:ext uri="{FF2B5EF4-FFF2-40B4-BE49-F238E27FC236}">
                <a16:creationId xmlns:a16="http://schemas.microsoft.com/office/drawing/2014/main" id="{ECD5C1FD-0A31-455F-97E9-423E83185359}"/>
              </a:ext>
            </a:extLst>
          </p:cNvPr>
          <p:cNvPicPr>
            <a:picLocks xmlns:a="http://schemas.openxmlformats.org/drawingml/2006/main" noChangeAspect="1"/>
          </p:cNvPicPr>
          <p:nvPr/>
        </p:nvPicPr>
        <p:blipFill>
          <a:blip xmlns:r="http://schemas.openxmlformats.org/officeDocument/2006/relationships" xmlns:a="http://schemas.openxmlformats.org/drawingml/2006/main" r:embed="R854ef567f1464006"/>
          <a:stretch xmlns:a="http://schemas.openxmlformats.org/drawingml/2006/main"/>
        </p:blipFill>
        <p:spPr>
          <a:xfrm xmlns:a="http://schemas.openxmlformats.org/drawingml/2006/main">
            <a:off x="8001000" y="1695450"/>
            <a:ext cx="3000375" cy="4000500"/>
          </a:xfrm>
          <a:prstGeom xmlns:a="http://schemas.openxmlformats.org/drawingml/2006/main" prst="rect">
            <a:avLst/>
          </a:prstGeom>
        </p:spPr>
      </p:pic>
      <p:sp>
        <p:nvSpPr>
          <p:cNvPr id="8" name="YOLO11s. Foto de prueba.">
            <a:extLst xmlns:a="http://schemas.openxmlformats.org/drawingml/2006/main">
              <a:ext uri="{FF2B5EF4-FFF2-40B4-BE49-F238E27FC236}">
                <a16:creationId xmlns:a16="http://schemas.microsoft.com/office/drawing/2014/main" id="{45833484-A00D-4BB2-8000-9B75B544BE77}"/>
              </a:ext>
            </a:extLst>
          </p:cNvPr>
          <p:cNvSpPr>
            <a:spLocks xmlns:a="http://schemas.openxmlformats.org/drawingml/2006/main" noGrp="1"/>
          </p:cNvSpPr>
          <p:nvPr/>
        </p:nvSpPr>
        <p:spPr>
          <a:xfrm xmlns:a="http://schemas.openxmlformats.org/drawingml/2006/main">
            <a:off x="7772400" y="5953125"/>
            <a:ext cx="381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YOLO11s. Foto de prueba.</a:t>
            </a:r>
          </a:p>
        </p:txBody>
      </p:sp>
      <p:sp>
        <p:nvSpPr>
          <p:cNvPr id="9" name="Evaluación: 399 fotografías reales">
            <a:extLst xmlns:a="http://schemas.openxmlformats.org/drawingml/2006/main">
              <a:ext uri="{FF2B5EF4-FFF2-40B4-BE49-F238E27FC236}">
                <a16:creationId xmlns:a16="http://schemas.microsoft.com/office/drawing/2014/main" id="{7BC720D8-3923-4891-8E9A-E0A60C92B849}"/>
              </a:ext>
            </a:extLst>
          </p:cNvPr>
          <p:cNvSpPr>
            <a:spLocks xmlns:a="http://schemas.openxmlformats.org/drawingml/2006/main" noGrp="1"/>
          </p:cNvSpPr>
          <p:nvPr/>
        </p:nvSpPr>
        <p:spPr>
          <a:xfrm xmlns:a="http://schemas.openxmlformats.org/drawingml/2006/main">
            <a:off x="609600" y="6419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Evaluación: 399 fotografías reales</a:t>
            </a:r>
          </a:p>
        </p:txBody>
      </p:sp>
    </p:spTree>
    <p:extLst>
      <p:ext uri="{BB962C8B-B14F-4D97-AF65-F5344CB8AC3E}">
        <p14:creationId xmlns:p14="http://schemas.microsoft.com/office/powerpoint/2010/main" val="1563470971"/>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con visión artificial">
            <a:extLst xmlns:a="http://schemas.openxmlformats.org/drawingml/2006/main">
              <a:ext uri="{FF2B5EF4-FFF2-40B4-BE49-F238E27FC236}">
                <a16:creationId xmlns:a16="http://schemas.microsoft.com/office/drawing/2014/main" id="{1A9FE041-6CCC-4EBD-9962-1597FD21C7F0}"/>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Simulación con visión artificial</a:t>
            </a:r>
          </a:p>
        </p:txBody>
      </p:sp>
      <p:sp>
        <p:nvSpPr>
          <p:cNvPr id="2" name="El mismo modelo&#10;analiza la cámara 3D.">
            <a:extLst xmlns:a="http://schemas.openxmlformats.org/drawingml/2006/main">
              <a:ext uri="{FF2B5EF4-FFF2-40B4-BE49-F238E27FC236}">
                <a16:creationId xmlns:a16="http://schemas.microsoft.com/office/drawing/2014/main" id="{C2AB56FB-431D-493B-ADE3-5C0B8151A268}"/>
              </a:ext>
            </a:extLst>
          </p:cNvPr>
          <p:cNvSpPr>
            <a:spLocks xmlns:a="http://schemas.openxmlformats.org/drawingml/2006/main" noGrp="1"/>
          </p:cNvSpPr>
          <p:nvPr/>
        </p:nvSpPr>
        <p:spPr>
          <a:xfrm xmlns:a="http://schemas.openxmlformats.org/drawingml/2006/main">
            <a:off x="609600" y="2219325"/>
            <a:ext cx="4095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33B2B"/>
                </a:solidFill>
                <a:latin typeface="Avenir Next"/>
                <a:ea typeface="Avenir Next"/>
                <a:cs typeface="Avenir Next"/>
              </a:defRPr>
            </a:defPPr>
            <a:lvl1pPr>
              <a:defRPr sz="2625" b="1">
                <a:solidFill>
                  <a:srgbClr val="233B2B"/>
                </a:solidFill>
                <a:latin typeface="Avenir Next"/>
                <a:ea typeface="Avenir Next"/>
                <a:cs typeface="Avenir Next"/>
              </a:defRPr>
            </a:lvl1pPr>
            <a:lvl2pPr>
              <a:defRPr sz="2625" b="1">
                <a:solidFill>
                  <a:srgbClr val="233B2B"/>
                </a:solidFill>
                <a:latin typeface="Avenir Next"/>
                <a:ea typeface="Avenir Next"/>
                <a:cs typeface="Avenir Next"/>
              </a:defRPr>
            </a:lvl2pPr>
            <a:lvl3pPr>
              <a:defRPr sz="2625" b="1">
                <a:solidFill>
                  <a:srgbClr val="233B2B"/>
                </a:solidFill>
                <a:latin typeface="Avenir Next"/>
                <a:ea typeface="Avenir Next"/>
                <a:cs typeface="Avenir Next"/>
              </a:defRPr>
            </a:lvl3pPr>
            <a:lvl4pPr>
              <a:defRPr sz="2625" b="1">
                <a:solidFill>
                  <a:srgbClr val="233B2B"/>
                </a:solidFill>
                <a:latin typeface="Avenir Next"/>
                <a:ea typeface="Avenir Next"/>
                <a:cs typeface="Avenir Next"/>
              </a:defRPr>
            </a:lvl4pPr>
            <a:lvl5pPr>
              <a:defRPr sz="2625" b="1">
                <a:solidFill>
                  <a:srgbClr val="233B2B"/>
                </a:solidFill>
                <a:latin typeface="Avenir Next"/>
                <a:ea typeface="Avenir Next"/>
                <a:cs typeface="Avenir Next"/>
              </a:defRPr>
            </a:lvl5pPr>
            <a:lvl6pPr>
              <a:defRPr sz="2625" b="1">
                <a:solidFill>
                  <a:srgbClr val="233B2B"/>
                </a:solidFill>
                <a:latin typeface="Avenir Next"/>
                <a:ea typeface="Avenir Next"/>
                <a:cs typeface="Avenir Next"/>
              </a:defRPr>
            </a:lvl6pPr>
            <a:lvl7pPr>
              <a:defRPr sz="2625" b="1">
                <a:solidFill>
                  <a:srgbClr val="233B2B"/>
                </a:solidFill>
                <a:latin typeface="Avenir Next"/>
                <a:ea typeface="Avenir Next"/>
                <a:cs typeface="Avenir Next"/>
              </a:defRPr>
            </a:lvl7pPr>
            <a:lvl8pPr>
              <a:defRPr sz="2625" b="1">
                <a:solidFill>
                  <a:srgbClr val="233B2B"/>
                </a:solidFill>
                <a:latin typeface="Avenir Next"/>
                <a:ea typeface="Avenir Next"/>
                <a:cs typeface="Avenir Next"/>
              </a:defRPr>
            </a:lvl8pPr>
            <a:lvl9pPr>
              <a:defRPr sz="2625" b="1">
                <a:solidFill>
                  <a:srgbClr val="233B2B"/>
                </a:solidFill>
                <a:latin typeface="Avenir Next"/>
                <a:ea typeface="Avenir Next"/>
                <a:cs typeface="Avenir Next"/>
              </a:defRPr>
            </a:lvl9pPr>
          </a:lstStyle>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El mismo modelo</a:t>
            </a:r>
          </a:p>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analiza la cámara 3D.</a:t>
            </a:r>
          </a:p>
        </p:txBody>
      </p:sp>
      <p:sp>
        <p:nvSpPr>
          <p:cNvPr id="3" name="Detección, batería&#10;y regreso a la base">
            <a:extLst xmlns:a="http://schemas.openxmlformats.org/drawingml/2006/main">
              <a:ext uri="{FF2B5EF4-FFF2-40B4-BE49-F238E27FC236}">
                <a16:creationId xmlns:a16="http://schemas.microsoft.com/office/drawing/2014/main" id="{874EFBE3-8B80-461B-815A-52F5E9F72180}"/>
              </a:ext>
            </a:extLst>
          </p:cNvPr>
          <p:cNvSpPr>
            <a:spLocks xmlns:a="http://schemas.openxmlformats.org/drawingml/2006/main" noGrp="1"/>
          </p:cNvSpPr>
          <p:nvPr/>
        </p:nvSpPr>
        <p:spPr>
          <a:xfrm xmlns:a="http://schemas.openxmlformats.org/drawingml/2006/main">
            <a:off x="609600" y="41719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96957"/>
                </a:solidFill>
                <a:latin typeface="Avenir Next"/>
                <a:ea typeface="Avenir Next"/>
                <a:cs typeface="Avenir Next"/>
              </a:defRPr>
            </a:defPPr>
            <a:lvl1pPr>
              <a:defRPr sz="2175" b="0">
                <a:solidFill>
                  <a:srgbClr val="596957"/>
                </a:solidFill>
                <a:latin typeface="Avenir Next"/>
                <a:ea typeface="Avenir Next"/>
                <a:cs typeface="Avenir Next"/>
              </a:defRPr>
            </a:lvl1pPr>
            <a:lvl2pPr>
              <a:defRPr sz="2175" b="0">
                <a:solidFill>
                  <a:srgbClr val="596957"/>
                </a:solidFill>
                <a:latin typeface="Avenir Next"/>
                <a:ea typeface="Avenir Next"/>
                <a:cs typeface="Avenir Next"/>
              </a:defRPr>
            </a:lvl2pPr>
            <a:lvl3pPr>
              <a:defRPr sz="2175" b="0">
                <a:solidFill>
                  <a:srgbClr val="596957"/>
                </a:solidFill>
                <a:latin typeface="Avenir Next"/>
                <a:ea typeface="Avenir Next"/>
                <a:cs typeface="Avenir Next"/>
              </a:defRPr>
            </a:lvl3pPr>
            <a:lvl4pPr>
              <a:defRPr sz="2175" b="0">
                <a:solidFill>
                  <a:srgbClr val="596957"/>
                </a:solidFill>
                <a:latin typeface="Avenir Next"/>
                <a:ea typeface="Avenir Next"/>
                <a:cs typeface="Avenir Next"/>
              </a:defRPr>
            </a:lvl4pPr>
            <a:lvl5pPr>
              <a:defRPr sz="2175" b="0">
                <a:solidFill>
                  <a:srgbClr val="596957"/>
                </a:solidFill>
                <a:latin typeface="Avenir Next"/>
                <a:ea typeface="Avenir Next"/>
                <a:cs typeface="Avenir Next"/>
              </a:defRPr>
            </a:lvl5pPr>
            <a:lvl6pPr>
              <a:defRPr sz="2175" b="0">
                <a:solidFill>
                  <a:srgbClr val="596957"/>
                </a:solidFill>
                <a:latin typeface="Avenir Next"/>
                <a:ea typeface="Avenir Next"/>
                <a:cs typeface="Avenir Next"/>
              </a:defRPr>
            </a:lvl6pPr>
            <a:lvl7pPr>
              <a:defRPr sz="2175" b="0">
                <a:solidFill>
                  <a:srgbClr val="596957"/>
                </a:solidFill>
                <a:latin typeface="Avenir Next"/>
                <a:ea typeface="Avenir Next"/>
                <a:cs typeface="Avenir Next"/>
              </a:defRPr>
            </a:lvl7pPr>
            <a:lvl8pPr>
              <a:defRPr sz="2175" b="0">
                <a:solidFill>
                  <a:srgbClr val="596957"/>
                </a:solidFill>
                <a:latin typeface="Avenir Next"/>
                <a:ea typeface="Avenir Next"/>
                <a:cs typeface="Avenir Next"/>
              </a:defRPr>
            </a:lvl8pPr>
            <a:lvl9pPr>
              <a:defRPr sz="2175" b="0">
                <a:solidFill>
                  <a:srgbClr val="596957"/>
                </a:solidFill>
                <a:latin typeface="Avenir Next"/>
                <a:ea typeface="Avenir Next"/>
                <a:cs typeface="Avenir Next"/>
              </a:defRPr>
            </a:lvl9pPr>
          </a:lstStyle>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Detección, batería</a:t>
            </a:r>
          </a:p>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y regreso a la base</a:t>
            </a:r>
          </a:p>
        </p:txBody>
      </p:sp>
      <p:pic>
        <p:nvPicPr>
          <p:cNvPr id="4" name="">
            <a:extLst xmlns:a="http://schemas.openxmlformats.org/drawingml/2006/main">
              <a:ext uri="{FF2B5EF4-FFF2-40B4-BE49-F238E27FC236}">
                <a16:creationId xmlns:a16="http://schemas.microsoft.com/office/drawing/2014/main" id="{8156959C-DAC8-4D70-93CC-2AEB63E0F373}"/>
              </a:ext>
            </a:extLst>
          </p:cNvPr>
          <p:cNvPicPr>
            <a:picLocks xmlns:a="http://schemas.openxmlformats.org/drawingml/2006/main" noChangeAspect="1"/>
          </p:cNvPicPr>
          <p:nvPr/>
        </p:nvPicPr>
        <p:blipFill>
          <a:blip xmlns:r="http://schemas.openxmlformats.org/officeDocument/2006/relationships" xmlns:a="http://schemas.openxmlformats.org/drawingml/2006/main" r:embed="Rd303cc45a06b4070"/>
          <a:stretch xmlns:a="http://schemas.openxmlformats.org/drawingml/2006/main"/>
        </p:blipFill>
        <p:spPr>
          <a:xfrm xmlns:a="http://schemas.openxmlformats.org/drawingml/2006/main">
            <a:off x="5010150" y="1946746"/>
            <a:ext cx="6572250" cy="3316932"/>
          </a:xfrm>
          <a:prstGeom xmlns:a="http://schemas.openxmlformats.org/drawingml/2006/main" prst="rect">
            <a:avLst/>
          </a:prstGeom>
        </p:spPr>
      </p:pic>
      <p:sp>
        <p:nvSpPr>
          <p:cNvPr id="5" name="Mazorcas 3D con texturas de fotografías reale">
            <a:extLst xmlns:a="http://schemas.openxmlformats.org/drawingml/2006/main">
              <a:ext uri="{FF2B5EF4-FFF2-40B4-BE49-F238E27FC236}">
                <a16:creationId xmlns:a16="http://schemas.microsoft.com/office/drawing/2014/main" id="{D14AF44B-E8FA-4A08-9DBE-CAD3D310DE12}"/>
              </a:ext>
            </a:extLst>
          </p:cNvPr>
          <p:cNvSpPr>
            <a:spLocks xmlns:a="http://schemas.openxmlformats.org/drawingml/2006/main" noGrp="1"/>
          </p:cNvSpPr>
          <p:nvPr/>
        </p:nvSpPr>
        <p:spPr>
          <a:xfrm xmlns:a="http://schemas.openxmlformats.org/drawingml/2006/main">
            <a:off x="609600" y="5848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Mazorcas 3D con texturas de fotografías reales</a:t>
            </a:r>
          </a:p>
        </p:txBody>
      </p:sp>
      <p:sp>
        <p:nvSpPr>
          <p:cNvPr id="6" name="Cámara virtual. Detección con YOLO11s.">
            <a:extLst xmlns:a="http://schemas.openxmlformats.org/drawingml/2006/main">
              <a:ext uri="{FF2B5EF4-FFF2-40B4-BE49-F238E27FC236}">
                <a16:creationId xmlns:a16="http://schemas.microsoft.com/office/drawing/2014/main" id="{0E3450F2-0D80-48F5-9819-99FB4A4245E9}"/>
              </a:ext>
            </a:extLst>
          </p:cNvPr>
          <p:cNvSpPr>
            <a:spLocks xmlns:a="http://schemas.openxmlformats.org/drawingml/2006/main" noGrp="1"/>
          </p:cNvSpPr>
          <p:nvPr/>
        </p:nvSpPr>
        <p:spPr>
          <a:xfrm xmlns:a="http://schemas.openxmlformats.org/drawingml/2006/main">
            <a:off x="609600" y="63817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96957"/>
                </a:solidFill>
                <a:latin typeface="Avenir Next"/>
                <a:ea typeface="Avenir Next"/>
                <a:cs typeface="Avenir Next"/>
              </a:defRPr>
            </a:defPPr>
            <a:lvl1pPr>
              <a:defRPr sz="1575" b="0">
                <a:solidFill>
                  <a:srgbClr val="596957"/>
                </a:solidFill>
                <a:latin typeface="Avenir Next"/>
                <a:ea typeface="Avenir Next"/>
                <a:cs typeface="Avenir Next"/>
              </a:defRPr>
            </a:lvl1pPr>
            <a:lvl2pPr>
              <a:defRPr sz="1575" b="0">
                <a:solidFill>
                  <a:srgbClr val="596957"/>
                </a:solidFill>
                <a:latin typeface="Avenir Next"/>
                <a:ea typeface="Avenir Next"/>
                <a:cs typeface="Avenir Next"/>
              </a:defRPr>
            </a:lvl2pPr>
            <a:lvl3pPr>
              <a:defRPr sz="1575" b="0">
                <a:solidFill>
                  <a:srgbClr val="596957"/>
                </a:solidFill>
                <a:latin typeface="Avenir Next"/>
                <a:ea typeface="Avenir Next"/>
                <a:cs typeface="Avenir Next"/>
              </a:defRPr>
            </a:lvl3pPr>
            <a:lvl4pPr>
              <a:defRPr sz="1575" b="0">
                <a:solidFill>
                  <a:srgbClr val="596957"/>
                </a:solidFill>
                <a:latin typeface="Avenir Next"/>
                <a:ea typeface="Avenir Next"/>
                <a:cs typeface="Avenir Next"/>
              </a:defRPr>
            </a:lvl4pPr>
            <a:lvl5pPr>
              <a:defRPr sz="1575" b="0">
                <a:solidFill>
                  <a:srgbClr val="596957"/>
                </a:solidFill>
                <a:latin typeface="Avenir Next"/>
                <a:ea typeface="Avenir Next"/>
                <a:cs typeface="Avenir Next"/>
              </a:defRPr>
            </a:lvl5pPr>
            <a:lvl6pPr>
              <a:defRPr sz="1575" b="0">
                <a:solidFill>
                  <a:srgbClr val="596957"/>
                </a:solidFill>
                <a:latin typeface="Avenir Next"/>
                <a:ea typeface="Avenir Next"/>
                <a:cs typeface="Avenir Next"/>
              </a:defRPr>
            </a:lvl6pPr>
            <a:lvl7pPr>
              <a:defRPr sz="1575" b="0">
                <a:solidFill>
                  <a:srgbClr val="596957"/>
                </a:solidFill>
                <a:latin typeface="Avenir Next"/>
                <a:ea typeface="Avenir Next"/>
                <a:cs typeface="Avenir Next"/>
              </a:defRPr>
            </a:lvl7pPr>
            <a:lvl8pPr>
              <a:defRPr sz="1575" b="0">
                <a:solidFill>
                  <a:srgbClr val="596957"/>
                </a:solidFill>
                <a:latin typeface="Avenir Next"/>
                <a:ea typeface="Avenir Next"/>
                <a:cs typeface="Avenir Next"/>
              </a:defRPr>
            </a:lvl8pPr>
            <a:lvl9pPr>
              <a:defRPr sz="1575" b="0">
                <a:solidFill>
                  <a:srgbClr val="596957"/>
                </a:solidFill>
                <a:latin typeface="Avenir Next"/>
                <a:ea typeface="Avenir Next"/>
                <a:cs typeface="Avenir Next"/>
              </a:defRPr>
            </a:lvl9pPr>
          </a:lstStyle>
          <a:p xmlns:a="http://schemas.openxmlformats.org/drawingml/2006/main">
            <a:pPr>
              <a:defRPr sz="1575" b="0">
                <a:solidFill>
                  <a:srgbClr val="596957"/>
                </a:solidFill>
                <a:latin typeface="Avenir Next"/>
                <a:ea typeface="Avenir Next"/>
                <a:cs typeface="Avenir Next"/>
              </a:defRPr>
            </a:pPr>
            <a:r>
              <a:rPr sz="1575" b="0">
                <a:solidFill>
                  <a:srgbClr val="596957"/>
                </a:solidFill>
                <a:latin typeface="Avenir Next"/>
                <a:ea typeface="Avenir Next"/>
                <a:cs typeface="Avenir Next"/>
              </a:rPr>
              <a:t>Cámara virtual. Detección con YOLO11s.</a:t>
            </a:r>
          </a:p>
        </p:txBody>
      </p:sp>
    </p:spTree>
    <p:extLst>
      <p:ext uri="{BB962C8B-B14F-4D97-AF65-F5344CB8AC3E}">
        <p14:creationId xmlns:p14="http://schemas.microsoft.com/office/powerpoint/2010/main" val="1489585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2026-10-18T13:42:07.5520000Z</dcterms:created>
  <dcterms:modified xsi:type="dcterms:W3CDTF">2026-10-18T13:42:07.5520000Z</dcterms:modified>
</coreProperties>
</file>