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09690cd0b84466" /><Relationship Type="http://schemas.openxmlformats.org/officeDocument/2006/relationships/extended-properties" Target="/docProps/app.xml" Id="Rf2ff020ab34443da" /><Relationship Type="http://schemas.openxmlformats.org/officeDocument/2006/relationships/officeDocument" Target="/ppt/presentation.xml" Id="R2c9adcfa04c048a4" /></Relationships>
</file>

<file path=ppt/presentation.xml><?xml version="1.0" encoding="utf-8"?>
<p:presentation xmlns:p="http://schemas.openxmlformats.org/presentationml/2006/main">
  <p:sldMasterIdLst>
    <p:sldMasterId xmlns:r="http://schemas.openxmlformats.org/officeDocument/2006/relationships" id="2147483648" r:id="R2a677591d06b400e"/>
  </p:sldMasterIdLst>
  <p:notesMasterIdLst>
    <p:notesMasterId xmlns:r="http://schemas.openxmlformats.org/officeDocument/2006/relationships" r:id="R1c44402e52174a07"/>
  </p:notesMasterIdLst>
  <p:sldIdLst>
    <p:sldId xmlns:r="http://schemas.openxmlformats.org/officeDocument/2006/relationships" id="256" r:id="Rb42be758981d4093"/>
    <p:sldId xmlns:r="http://schemas.openxmlformats.org/officeDocument/2006/relationships" id="257" r:id="Rc54c511d95d24c06"/>
    <p:sldId xmlns:r="http://schemas.openxmlformats.org/officeDocument/2006/relationships" id="258" r:id="R84acd3f8f133465b"/>
    <p:sldId xmlns:r="http://schemas.openxmlformats.org/officeDocument/2006/relationships" id="259" r:id="Rceff65d919c443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934de52fed45db" /><Relationship Type="http://schemas.openxmlformats.org/officeDocument/2006/relationships/slideMaster" Target="/ppt/slideMasters/slideMaster1.xml" Id="R2a677591d06b400e" /><Relationship Type="http://schemas.openxmlformats.org/officeDocument/2006/relationships/notesMaster" Target="/ppt/notesMasters/notesMaster1.xml" Id="R1c44402e52174a07" /><Relationship Type="http://schemas.openxmlformats.org/officeDocument/2006/relationships/presProps" Target="/ppt/presProps.xml" Id="R58b04078d39c40ed" /><Relationship Type="http://schemas.openxmlformats.org/officeDocument/2006/relationships/tableStyles" Target="/ppt/tableStyles.xml" Id="Rad0f3766ad634fc5" /><Relationship Type="http://schemas.openxmlformats.org/officeDocument/2006/relationships/slide" Target="/ppt/slides/slide1.xml" Id="Rb42be758981d4093" /><Relationship Type="http://schemas.openxmlformats.org/officeDocument/2006/relationships/slide" Target="/ppt/slides/slide2.xml" Id="Rc54c511d95d24c06" /><Relationship Type="http://schemas.openxmlformats.org/officeDocument/2006/relationships/slide" Target="/ppt/slides/slide3.xml" Id="R84acd3f8f133465b" /><Relationship Type="http://schemas.openxmlformats.org/officeDocument/2006/relationships/slide" Target="/ppt/slides/slide4.xml" Id="Rceff65d919c443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9ae2319cdf43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adcc42b33e40dd" /><Relationship Type="http://schemas.openxmlformats.org/officeDocument/2006/relationships/notesMaster" Target="/ppt/notesMasters/notesMaster1.xml" Id="Rff8842d4ec6042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7866faac904e1f" /><Relationship Type="http://schemas.openxmlformats.org/officeDocument/2006/relationships/notesMaster" Target="/ppt/notesMasters/notesMaster1.xml" Id="R16b5fbc21a504d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7732f354464f11" /><Relationship Type="http://schemas.openxmlformats.org/officeDocument/2006/relationships/notesMaster" Target="/ppt/notesMasters/notesMaster1.xml" Id="R43afbbc9816d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ae7c11f4c04c68" /><Relationship Type="http://schemas.openxmlformats.org/officeDocument/2006/relationships/notesMaster" Target="/ppt/notesMasters/notesMaster1.xml" Id="R0ee322ce71074c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La moniliasis es una enfermedad causada por el hongo Moniliophthora roreri que afecta a las mazorcas de cacao. Los frutos afectados pueden producir esporas que alcanzan otros frutos. La humedad y las lluvias favorecen la enfermedad. Fuente de definición: SENASA, Moniliasis del cacao y su manejo integrado, 2017: https://repositorio.senasa.gob.pe/items/de2bff13-0641-4050-a147-05e963efe8a4 . El manejo requiere vigilancia de la plantación y retiro adecuado de frutos afectados. Fuente: https://www.senasa.gob.pe/senasacontigo/madre-de-dios-minagri-lidera-jornadas-de-instruccion-para-enfrentar-plagas-en-cacao/. INIA describe pérdidas de 30 a 80% de producción en su plegable Manejo integrado de la moniliasis en plantaciones de cacao nativo de noviembre de 2011. Es un rango histórico documentado, no una estimación de pérdidas nacionales actuales: https://pgc-snia.inia.gob.pe/server/api/core/bitstreams/388ed816-590d-47f4-ae22-d728d046f71a/content . Ejemplo económico explícitamente ilustrativo: una hectárea con cosecha potencial de 1000 kg de grano seco y precio S/20 por kg tendría S/20000 de venta bruta potencial. Una pérdida física del 30% equivale a 300 kg y S/6000 de venta bruta no realizada. No es ingreso neto, daño medido a una familia, promedio nacional ni ahorro demostrado del prototipo. Los 1000 kg son un supuesto de escenario. El precio es una referencia histórica: DEVIDA publicó para Vraem campaña 2025 S/20/kg, no precio actual universal, https://www.gob.pe/institucion/devida/noticias/1329650-cacao-del-vraem-impulsa-productividad-ingresos-y-acceso-a-mercados-internacionales . Duele porque desaparece parte de la venta mientras ya se emplearon recursos en cuidar el cultivo y hace falta seguir revisándolo. Nuestra relación con el track es agricultura y alertas sanitarias, incluidas en Clima y Territorio: https://hacktheandes.com/guide . No afirmamos predecir el clima ni controlar epidemiología. Fotografías reales de la muestra reservada, IDs 02246114ca192de041b2e6fb y 017fa25b2cde2609b042a85e. Fuente y licencia CC BY 4.0: https://data.mendeley.com/datasets/ykbtpsyfv9/1. Las etiquetas son del dataset a nivel de imagen y no confirmación nuestra de laboratorio.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2:20–3:00. Cerrar el recorrido en la decisión útil para el agricultor: una sospecha con evidencia persistente y ubicación que puede aprobar o rechazar. Aprobar habilita asignación a un robot terrestre, que debe confirmar con su cámara antes del agarre. La última prueba documentada de aprobación y salida encontró una ruta bloqueada y volvió sin retirar la fruta. No declaramos retirada completa validada ni ahorro ya conseguido. El piloto propuesto debe comparar kilos de grano comercializable, horas de inspección, utilidad de las sospechas y costo total de operar el servicio con revisión agronómica en condiciones reales y nuevos fondos. Criterio económico: venta adicional más valor del tiempo ahorrado menos costos de servicio y operación. No igualar precisión o recall del modelo con porcentaje de cosecha recuperada. En el escenario ilustrativo de la primera diapositiva, evitar 10 puntos porcentuales de pérdida equivaldría a S/2000 de venta bruta adicional por hectárea, sólo si el piloto demuestra esa reducción. No se afirma haberla logrado ni se fija un precio del servicio sin sus costos. Retirar una fruta es una decisión agronómica que debe validar un especialista y no se justifica sólo con una puntuación de YOLO. No existe aún tracción con agricultores validada. La foto que muestra el buzón proviene de la cámara virtual y se identifica en la diapositiva anterior. El buzón es interfaz real de la demo y no una maqueta. El servicio es local, sin WhatsApp ni autenticación pública. Fuentes: simulator/ORCHARD.md, simulator/evidence/review-live-outcome.json, research/cacao-improvement/REPORT.md. Captura del buzón del 18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44cb848c494b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ac5cc28bdd44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4aee74804e4c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ee784e6b034a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7b7f924fe849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b97df8fd9c43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7F2F39-9A88-4E32-BBDB-BF2606A9C5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539502-5895-4282-822C-1D930F565A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B1015B-0FC3-4ACF-B210-CDFFEEF9AF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913798-3D7E-4731-B623-D8AA89B773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0AF216-CA2C-4777-B3CB-F85EE1CB71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9F060F-5A0F-42C3-A255-EEAE2F1921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D8E96E-CC4D-41F0-A125-6BCD8E540D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BFD9D1-4D56-4278-A05E-F393B2158B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52B50F-FBC5-4E78-B687-CB0B248C1D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9AF1D6-136B-44D3-8955-4DF9E60B45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24c15003544fa3" /><Relationship Type="http://schemas.openxmlformats.org/officeDocument/2006/relationships/slideLayout" Target="/ppt/slideLayouts/slideLayout1.xml" Id="R46fa0a4976dc4fd7" /><Relationship Type="http://schemas.openxmlformats.org/officeDocument/2006/relationships/slideLayout" Target="/ppt/slideLayouts/slideLayout2.xml" Id="R34c53f5e07ad475b" /><Relationship Type="http://schemas.openxmlformats.org/officeDocument/2006/relationships/slideLayout" Target="/ppt/slideLayouts/slideLayout3.xml" Id="R931a8af263e343c8" /><Relationship Type="http://schemas.openxmlformats.org/officeDocument/2006/relationships/slideLayout" Target="/ppt/slideLayouts/slideLayout4.xml" Id="Rc616518d61a54b77" /><Relationship Type="http://schemas.openxmlformats.org/officeDocument/2006/relationships/slideLayout" Target="/ppt/slideLayouts/slideLayout5.xml" Id="Ra9b68562fe364970" /><Relationship Type="http://schemas.openxmlformats.org/officeDocument/2006/relationships/slideLayout" Target="/ppt/slideLayouts/slideLayout6.xml" Id="Rf288b42873214a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fa0a4976dc4fd7"/>
    <p:sldLayoutId xmlns:r="http://schemas.openxmlformats.org/officeDocument/2006/relationships" id="2147483650" r:id="R34c53f5e07ad475b"/>
    <p:sldLayoutId xmlns:r="http://schemas.openxmlformats.org/officeDocument/2006/relationships" id="2147483651" r:id="R931a8af263e343c8"/>
    <p:sldLayoutId xmlns:r="http://schemas.openxmlformats.org/officeDocument/2006/relationships" id="2147483652" r:id="Rc616518d61a54b77"/>
    <p:sldLayoutId xmlns:r="http://schemas.openxmlformats.org/officeDocument/2006/relationships" id="2147483653" r:id="Ra9b68562fe364970"/>
    <p:sldLayoutId xmlns:r="http://schemas.openxmlformats.org/officeDocument/2006/relationships" id="2147483654" r:id="Rf288b42873214a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2f90cee52a4185" /><Relationship Type="http://schemas.openxmlformats.org/officeDocument/2006/relationships/image" Target="/ppt/media/image.jpeg" Id="Rc3700210cf3e4961" /><Relationship Type="http://schemas.openxmlformats.org/officeDocument/2006/relationships/image" Target="/ppt/media/image2.jpeg" Id="R7c49c0811e944fe5" /><Relationship Type="http://schemas.openxmlformats.org/officeDocument/2006/relationships/notesSlide" Target="/ppt/notesSlides/notesSlide1.xml" Id="R9beba244201b47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26396491a5461d" /><Relationship Type="http://schemas.openxmlformats.org/officeDocument/2006/relationships/image" Target="/ppt/media/image.png" Id="R6039da26c7ac4fcb" /><Relationship Type="http://schemas.openxmlformats.org/officeDocument/2006/relationships/notesSlide" Target="/ppt/notesSlides/notesSlide2.xml" Id="Rbfda1bf51cae4f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5fb62db1d14e97" /><Relationship Type="http://schemas.openxmlformats.org/officeDocument/2006/relationships/image" Target="/ppt/media/image3.jpeg" Id="R11c054383a144f32" /><Relationship Type="http://schemas.openxmlformats.org/officeDocument/2006/relationships/notesSlide" Target="/ppt/notesSlides/notesSlide3.xml" Id="Rf89a880ec42345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04ffd3c35c414e" /><Relationship Type="http://schemas.openxmlformats.org/officeDocument/2006/relationships/image" Target="/ppt/media/image2.png" Id="R75d35da3b2b84776" /><Relationship Type="http://schemas.openxmlformats.org/officeDocument/2006/relationships/notesSlide" Target="/ppt/notesSlides/notesSlide4.xml" Id="R3f1e403588d048f0"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2" name="Moniliasis: un hongo que daña el cacao">
            <a:extLst xmlns:a="http://schemas.openxmlformats.org/drawingml/2006/main">
              <a:ext uri="{FF2B5EF4-FFF2-40B4-BE49-F238E27FC236}">
                <a16:creationId xmlns:a16="http://schemas.microsoft.com/office/drawing/2014/main" id="{7F0CEB6B-5F4E-46E5-8E35-1ED7FC1C851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Moniliasis: un hongo que daña el cacao</a:t>
            </a:r>
          </a:p>
        </p:txBody>
      </p:sp>
      <p:sp>
        <p:nvSpPr>
          <p:cNvPr id="2" name="Esta enfermedad daña las mazorcas.&#10;Sus espora">
            <a:extLst xmlns:a="http://schemas.openxmlformats.org/drawingml/2006/main">
              <a:ext uri="{FF2B5EF4-FFF2-40B4-BE49-F238E27FC236}">
                <a16:creationId xmlns:a16="http://schemas.microsoft.com/office/drawing/2014/main" id="{12FF0225-A1F8-4F2A-A02C-F1796B1C5109}"/>
              </a:ext>
            </a:extLst>
          </p:cNvPr>
          <p:cNvSpPr>
            <a:spLocks xmlns:a="http://schemas.openxmlformats.org/drawingml/2006/main" noGrp="1"/>
          </p:cNvSpPr>
          <p:nvPr/>
        </p:nvSpPr>
        <p:spPr>
          <a:xfrm xmlns:a="http://schemas.openxmlformats.org/drawingml/2006/main">
            <a:off x="609600" y="1695450"/>
            <a:ext cx="5334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3E9"/>
                </a:solidFill>
                <a:latin typeface="Avenir Next"/>
                <a:ea typeface="Avenir Next"/>
                <a:cs typeface="Avenir Next"/>
              </a:defRPr>
            </a:defPPr>
            <a:lvl1pPr>
              <a:defRPr sz="2100" b="0">
                <a:solidFill>
                  <a:srgbClr val="F5F3E9"/>
                </a:solidFill>
                <a:latin typeface="Avenir Next"/>
                <a:ea typeface="Avenir Next"/>
                <a:cs typeface="Avenir Next"/>
              </a:defRPr>
            </a:lvl1pPr>
            <a:lvl2pPr>
              <a:defRPr sz="2100" b="0">
                <a:solidFill>
                  <a:srgbClr val="F5F3E9"/>
                </a:solidFill>
                <a:latin typeface="Avenir Next"/>
                <a:ea typeface="Avenir Next"/>
                <a:cs typeface="Avenir Next"/>
              </a:defRPr>
            </a:lvl2pPr>
            <a:lvl3pPr>
              <a:defRPr sz="2100" b="0">
                <a:solidFill>
                  <a:srgbClr val="F5F3E9"/>
                </a:solidFill>
                <a:latin typeface="Avenir Next"/>
                <a:ea typeface="Avenir Next"/>
                <a:cs typeface="Avenir Next"/>
              </a:defRPr>
            </a:lvl3pPr>
            <a:lvl4pPr>
              <a:defRPr sz="2100" b="0">
                <a:solidFill>
                  <a:srgbClr val="F5F3E9"/>
                </a:solidFill>
                <a:latin typeface="Avenir Next"/>
                <a:ea typeface="Avenir Next"/>
                <a:cs typeface="Avenir Next"/>
              </a:defRPr>
            </a:lvl4pPr>
            <a:lvl5pPr>
              <a:defRPr sz="2100" b="0">
                <a:solidFill>
                  <a:srgbClr val="F5F3E9"/>
                </a:solidFill>
                <a:latin typeface="Avenir Next"/>
                <a:ea typeface="Avenir Next"/>
                <a:cs typeface="Avenir Next"/>
              </a:defRPr>
            </a:lvl5pPr>
            <a:lvl6pPr>
              <a:defRPr sz="2100" b="0">
                <a:solidFill>
                  <a:srgbClr val="F5F3E9"/>
                </a:solidFill>
                <a:latin typeface="Avenir Next"/>
                <a:ea typeface="Avenir Next"/>
                <a:cs typeface="Avenir Next"/>
              </a:defRPr>
            </a:lvl6pPr>
            <a:lvl7pPr>
              <a:defRPr sz="2100" b="0">
                <a:solidFill>
                  <a:srgbClr val="F5F3E9"/>
                </a:solidFill>
                <a:latin typeface="Avenir Next"/>
                <a:ea typeface="Avenir Next"/>
                <a:cs typeface="Avenir Next"/>
              </a:defRPr>
            </a:lvl7pPr>
            <a:lvl8pPr>
              <a:defRPr sz="2100" b="0">
                <a:solidFill>
                  <a:srgbClr val="F5F3E9"/>
                </a:solidFill>
                <a:latin typeface="Avenir Next"/>
                <a:ea typeface="Avenir Next"/>
                <a:cs typeface="Avenir Next"/>
              </a:defRPr>
            </a:lvl8pPr>
            <a:lvl9pPr>
              <a:defRPr sz="2100" b="0">
                <a:solidFill>
                  <a:srgbClr val="F5F3E9"/>
                </a:solidFill>
                <a:latin typeface="Avenir Next"/>
                <a:ea typeface="Avenir Next"/>
                <a:cs typeface="Avenir Next"/>
              </a:defRPr>
            </a:lvl9pPr>
          </a:lstStyle>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Esta enfermedad daña las mazorcas.</a:t>
            </a:r>
          </a:p>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Sus esporas pueden contagiar</a:t>
            </a:r>
          </a:p>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otros frutos de la plantación.</a:t>
            </a:r>
          </a:p>
        </p:txBody>
      </p:sp>
      <p:sp>
        <p:nvSpPr>
          <p:cNvPr id="3" name="S/ 6,000">
            <a:extLst xmlns:a="http://schemas.openxmlformats.org/drawingml/2006/main">
              <a:ext uri="{FF2B5EF4-FFF2-40B4-BE49-F238E27FC236}">
                <a16:creationId xmlns:a16="http://schemas.microsoft.com/office/drawing/2014/main" id="{D088FD9D-352E-4015-9773-9CAF98087CE5}"/>
              </a:ext>
            </a:extLst>
          </p:cNvPr>
          <p:cNvSpPr>
            <a:spLocks xmlns:a="http://schemas.openxmlformats.org/drawingml/2006/main" noGrp="1"/>
          </p:cNvSpPr>
          <p:nvPr/>
        </p:nvSpPr>
        <p:spPr>
          <a:xfrm xmlns:a="http://schemas.openxmlformats.org/drawingml/2006/main">
            <a:off x="609600" y="32194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75" b="1">
                <a:solidFill>
                  <a:srgbClr val="D5E4AD"/>
                </a:solidFill>
                <a:latin typeface="Avenir Next"/>
                <a:ea typeface="Avenir Next"/>
                <a:cs typeface="Avenir Next"/>
              </a:defRPr>
            </a:defPPr>
            <a:lvl1pPr>
              <a:defRPr sz="5475" b="1">
                <a:solidFill>
                  <a:srgbClr val="D5E4AD"/>
                </a:solidFill>
                <a:latin typeface="Avenir Next"/>
                <a:ea typeface="Avenir Next"/>
                <a:cs typeface="Avenir Next"/>
              </a:defRPr>
            </a:lvl1pPr>
            <a:lvl2pPr>
              <a:defRPr sz="5475" b="1">
                <a:solidFill>
                  <a:srgbClr val="D5E4AD"/>
                </a:solidFill>
                <a:latin typeface="Avenir Next"/>
                <a:ea typeface="Avenir Next"/>
                <a:cs typeface="Avenir Next"/>
              </a:defRPr>
            </a:lvl2pPr>
            <a:lvl3pPr>
              <a:defRPr sz="5475" b="1">
                <a:solidFill>
                  <a:srgbClr val="D5E4AD"/>
                </a:solidFill>
                <a:latin typeface="Avenir Next"/>
                <a:ea typeface="Avenir Next"/>
                <a:cs typeface="Avenir Next"/>
              </a:defRPr>
            </a:lvl3pPr>
            <a:lvl4pPr>
              <a:defRPr sz="5475" b="1">
                <a:solidFill>
                  <a:srgbClr val="D5E4AD"/>
                </a:solidFill>
                <a:latin typeface="Avenir Next"/>
                <a:ea typeface="Avenir Next"/>
                <a:cs typeface="Avenir Next"/>
              </a:defRPr>
            </a:lvl4pPr>
            <a:lvl5pPr>
              <a:defRPr sz="5475" b="1">
                <a:solidFill>
                  <a:srgbClr val="D5E4AD"/>
                </a:solidFill>
                <a:latin typeface="Avenir Next"/>
                <a:ea typeface="Avenir Next"/>
                <a:cs typeface="Avenir Next"/>
              </a:defRPr>
            </a:lvl5pPr>
            <a:lvl6pPr>
              <a:defRPr sz="5475" b="1">
                <a:solidFill>
                  <a:srgbClr val="D5E4AD"/>
                </a:solidFill>
                <a:latin typeface="Avenir Next"/>
                <a:ea typeface="Avenir Next"/>
                <a:cs typeface="Avenir Next"/>
              </a:defRPr>
            </a:lvl6pPr>
            <a:lvl7pPr>
              <a:defRPr sz="5475" b="1">
                <a:solidFill>
                  <a:srgbClr val="D5E4AD"/>
                </a:solidFill>
                <a:latin typeface="Avenir Next"/>
                <a:ea typeface="Avenir Next"/>
                <a:cs typeface="Avenir Next"/>
              </a:defRPr>
            </a:lvl7pPr>
            <a:lvl8pPr>
              <a:defRPr sz="5475" b="1">
                <a:solidFill>
                  <a:srgbClr val="D5E4AD"/>
                </a:solidFill>
                <a:latin typeface="Avenir Next"/>
                <a:ea typeface="Avenir Next"/>
                <a:cs typeface="Avenir Next"/>
              </a:defRPr>
            </a:lvl8pPr>
            <a:lvl9pPr>
              <a:defRPr sz="5475" b="1">
                <a:solidFill>
                  <a:srgbClr val="D5E4AD"/>
                </a:solidFill>
                <a:latin typeface="Avenir Next"/>
                <a:ea typeface="Avenir Next"/>
                <a:cs typeface="Avenir Next"/>
              </a:defRPr>
            </a:lvl9pPr>
          </a:lstStyle>
          <a:p xmlns:a="http://schemas.openxmlformats.org/drawingml/2006/main">
            <a:pPr>
              <a:defRPr sz="5475" b="1">
                <a:solidFill>
                  <a:srgbClr val="D5E4AD"/>
                </a:solidFill>
                <a:latin typeface="Avenir Next"/>
                <a:ea typeface="Avenir Next"/>
                <a:cs typeface="Avenir Next"/>
              </a:defRPr>
            </a:pPr>
            <a:r>
              <a:rPr sz="5475" b="1">
                <a:solidFill>
                  <a:srgbClr val="D5E4AD"/>
                </a:solidFill>
                <a:latin typeface="Avenir Next"/>
                <a:ea typeface="Avenir Next"/>
                <a:cs typeface="Avenir Next"/>
              </a:rPr>
              <a:t>S/ 6,000</a:t>
            </a:r>
          </a:p>
        </p:txBody>
      </p:sp>
      <p:sp>
        <p:nvSpPr>
          <p:cNvPr id="4" name="menos de venta bruta si se pierde&#10;el 30% de l">
            <a:extLst xmlns:a="http://schemas.openxmlformats.org/drawingml/2006/main">
              <a:ext uri="{FF2B5EF4-FFF2-40B4-BE49-F238E27FC236}">
                <a16:creationId xmlns:a16="http://schemas.microsoft.com/office/drawing/2014/main" id="{A116296B-AE11-49A8-9D2E-9C751E6A6C80}"/>
              </a:ext>
            </a:extLst>
          </p:cNvPr>
          <p:cNvSpPr>
            <a:spLocks xmlns:a="http://schemas.openxmlformats.org/drawingml/2006/main" noGrp="1"/>
          </p:cNvSpPr>
          <p:nvPr/>
        </p:nvSpPr>
        <p:spPr>
          <a:xfrm xmlns:a="http://schemas.openxmlformats.org/drawingml/2006/main">
            <a:off x="609600" y="4267200"/>
            <a:ext cx="533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3E9"/>
                </a:solidFill>
                <a:latin typeface="Avenir Next"/>
                <a:ea typeface="Avenir Next"/>
                <a:cs typeface="Avenir Next"/>
              </a:defRPr>
            </a:defPPr>
            <a:lvl1pPr>
              <a:defRPr sz="2025" b="0">
                <a:solidFill>
                  <a:srgbClr val="F5F3E9"/>
                </a:solidFill>
                <a:latin typeface="Avenir Next"/>
                <a:ea typeface="Avenir Next"/>
                <a:cs typeface="Avenir Next"/>
              </a:defRPr>
            </a:lvl1pPr>
            <a:lvl2pPr>
              <a:defRPr sz="2025" b="0">
                <a:solidFill>
                  <a:srgbClr val="F5F3E9"/>
                </a:solidFill>
                <a:latin typeface="Avenir Next"/>
                <a:ea typeface="Avenir Next"/>
                <a:cs typeface="Avenir Next"/>
              </a:defRPr>
            </a:lvl2pPr>
            <a:lvl3pPr>
              <a:defRPr sz="2025" b="0">
                <a:solidFill>
                  <a:srgbClr val="F5F3E9"/>
                </a:solidFill>
                <a:latin typeface="Avenir Next"/>
                <a:ea typeface="Avenir Next"/>
                <a:cs typeface="Avenir Next"/>
              </a:defRPr>
            </a:lvl3pPr>
            <a:lvl4pPr>
              <a:defRPr sz="2025" b="0">
                <a:solidFill>
                  <a:srgbClr val="F5F3E9"/>
                </a:solidFill>
                <a:latin typeface="Avenir Next"/>
                <a:ea typeface="Avenir Next"/>
                <a:cs typeface="Avenir Next"/>
              </a:defRPr>
            </a:lvl4pPr>
            <a:lvl5pPr>
              <a:defRPr sz="2025" b="0">
                <a:solidFill>
                  <a:srgbClr val="F5F3E9"/>
                </a:solidFill>
                <a:latin typeface="Avenir Next"/>
                <a:ea typeface="Avenir Next"/>
                <a:cs typeface="Avenir Next"/>
              </a:defRPr>
            </a:lvl5pPr>
            <a:lvl6pPr>
              <a:defRPr sz="2025" b="0">
                <a:solidFill>
                  <a:srgbClr val="F5F3E9"/>
                </a:solidFill>
                <a:latin typeface="Avenir Next"/>
                <a:ea typeface="Avenir Next"/>
                <a:cs typeface="Avenir Next"/>
              </a:defRPr>
            </a:lvl6pPr>
            <a:lvl7pPr>
              <a:defRPr sz="2025" b="0">
                <a:solidFill>
                  <a:srgbClr val="F5F3E9"/>
                </a:solidFill>
                <a:latin typeface="Avenir Next"/>
                <a:ea typeface="Avenir Next"/>
                <a:cs typeface="Avenir Next"/>
              </a:defRPr>
            </a:lvl7pPr>
            <a:lvl8pPr>
              <a:defRPr sz="2025" b="0">
                <a:solidFill>
                  <a:srgbClr val="F5F3E9"/>
                </a:solidFill>
                <a:latin typeface="Avenir Next"/>
                <a:ea typeface="Avenir Next"/>
                <a:cs typeface="Avenir Next"/>
              </a:defRPr>
            </a:lvl8pPr>
            <a:lvl9pPr>
              <a:defRPr sz="2025" b="0">
                <a:solidFill>
                  <a:srgbClr val="F5F3E9"/>
                </a:solidFill>
                <a:latin typeface="Avenir Next"/>
                <a:ea typeface="Avenir Next"/>
                <a:cs typeface="Avenir Next"/>
              </a:defRPr>
            </a:lvl9pPr>
          </a:lstStyle>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menos de venta bruta si se pierde</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el 30% de la cosecha potencial</a:t>
            </a:r>
          </a:p>
        </p:txBody>
      </p:sp>
      <p:sp>
        <p:nvSpPr>
          <p:cNvPr id="5" name="Escenario ilustrativo: 1 ha, 1,000 kg potenci">
            <a:extLst xmlns:a="http://schemas.openxmlformats.org/drawingml/2006/main">
              <a:ext uri="{FF2B5EF4-FFF2-40B4-BE49-F238E27FC236}">
                <a16:creationId xmlns:a16="http://schemas.microsoft.com/office/drawing/2014/main" id="{2A41CE23-E7B0-4761-8E1B-91051D328C44}"/>
              </a:ext>
            </a:extLst>
          </p:cNvPr>
          <p:cNvSpPr>
            <a:spLocks xmlns:a="http://schemas.openxmlformats.org/drawingml/2006/main" noGrp="1"/>
          </p:cNvSpPr>
          <p:nvPr/>
        </p:nvSpPr>
        <p:spPr>
          <a:xfrm xmlns:a="http://schemas.openxmlformats.org/drawingml/2006/main">
            <a:off x="609600" y="5353050"/>
            <a:ext cx="5334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Escenario ilustrativo: 1 ha, 1,000 kg potenciales.</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S/20 por kg, referencia Vraem de 2025.</a:t>
            </a:r>
          </a:p>
        </p:txBody>
      </p:sp>
      <p:sp>
        <p:nvSpPr>
          <p:cNvPr id="6" name="CLIMA Y TERRITORIO&#10;Agricultura y vigilancia s">
            <a:extLst xmlns:a="http://schemas.openxmlformats.org/drawingml/2006/main">
              <a:ext uri="{FF2B5EF4-FFF2-40B4-BE49-F238E27FC236}">
                <a16:creationId xmlns:a16="http://schemas.microsoft.com/office/drawing/2014/main" id="{C6BAACF0-0E9F-4EC3-841D-7803ABEBF650}"/>
              </a:ext>
            </a:extLst>
          </p:cNvPr>
          <p:cNvSpPr>
            <a:spLocks xmlns:a="http://schemas.openxmlformats.org/drawingml/2006/main" noGrp="1"/>
          </p:cNvSpPr>
          <p:nvPr/>
        </p:nvSpPr>
        <p:spPr>
          <a:xfrm xmlns:a="http://schemas.openxmlformats.org/drawingml/2006/main">
            <a:off x="609600" y="62103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F5F3E9"/>
                </a:solidFill>
                <a:latin typeface="Avenir Next"/>
                <a:ea typeface="Avenir Next"/>
                <a:cs typeface="Avenir Next"/>
              </a:defRPr>
            </a:defPPr>
            <a:lvl1pPr>
              <a:defRPr sz="1575" b="1">
                <a:solidFill>
                  <a:srgbClr val="F5F3E9"/>
                </a:solidFill>
                <a:latin typeface="Avenir Next"/>
                <a:ea typeface="Avenir Next"/>
                <a:cs typeface="Avenir Next"/>
              </a:defRPr>
            </a:lvl1pPr>
            <a:lvl2pPr>
              <a:defRPr sz="1575" b="1">
                <a:solidFill>
                  <a:srgbClr val="F5F3E9"/>
                </a:solidFill>
                <a:latin typeface="Avenir Next"/>
                <a:ea typeface="Avenir Next"/>
                <a:cs typeface="Avenir Next"/>
              </a:defRPr>
            </a:lvl2pPr>
            <a:lvl3pPr>
              <a:defRPr sz="1575" b="1">
                <a:solidFill>
                  <a:srgbClr val="F5F3E9"/>
                </a:solidFill>
                <a:latin typeface="Avenir Next"/>
                <a:ea typeface="Avenir Next"/>
                <a:cs typeface="Avenir Next"/>
              </a:defRPr>
            </a:lvl3pPr>
            <a:lvl4pPr>
              <a:defRPr sz="1575" b="1">
                <a:solidFill>
                  <a:srgbClr val="F5F3E9"/>
                </a:solidFill>
                <a:latin typeface="Avenir Next"/>
                <a:ea typeface="Avenir Next"/>
                <a:cs typeface="Avenir Next"/>
              </a:defRPr>
            </a:lvl4pPr>
            <a:lvl5pPr>
              <a:defRPr sz="1575" b="1">
                <a:solidFill>
                  <a:srgbClr val="F5F3E9"/>
                </a:solidFill>
                <a:latin typeface="Avenir Next"/>
                <a:ea typeface="Avenir Next"/>
                <a:cs typeface="Avenir Next"/>
              </a:defRPr>
            </a:lvl5pPr>
            <a:lvl6pPr>
              <a:defRPr sz="1575" b="1">
                <a:solidFill>
                  <a:srgbClr val="F5F3E9"/>
                </a:solidFill>
                <a:latin typeface="Avenir Next"/>
                <a:ea typeface="Avenir Next"/>
                <a:cs typeface="Avenir Next"/>
              </a:defRPr>
            </a:lvl6pPr>
            <a:lvl7pPr>
              <a:defRPr sz="1575" b="1">
                <a:solidFill>
                  <a:srgbClr val="F5F3E9"/>
                </a:solidFill>
                <a:latin typeface="Avenir Next"/>
                <a:ea typeface="Avenir Next"/>
                <a:cs typeface="Avenir Next"/>
              </a:defRPr>
            </a:lvl7pPr>
            <a:lvl8pPr>
              <a:defRPr sz="1575" b="1">
                <a:solidFill>
                  <a:srgbClr val="F5F3E9"/>
                </a:solidFill>
                <a:latin typeface="Avenir Next"/>
                <a:ea typeface="Avenir Next"/>
                <a:cs typeface="Avenir Next"/>
              </a:defRPr>
            </a:lvl8pPr>
            <a:lvl9pPr>
              <a:defRPr sz="1575" b="1">
                <a:solidFill>
                  <a:srgbClr val="F5F3E9"/>
                </a:solidFill>
                <a:latin typeface="Avenir Next"/>
                <a:ea typeface="Avenir Next"/>
                <a:cs typeface="Avenir Next"/>
              </a:defRPr>
            </a:lvl9pPr>
          </a:lstStyle>
          <a:p xmlns:a="http://schemas.openxmlformats.org/drawingml/2006/main">
            <a:pPr>
              <a:defRPr sz="1575" b="1">
                <a:solidFill>
                  <a:srgbClr val="F5F3E9"/>
                </a:solidFill>
                <a:latin typeface="Avenir Next"/>
                <a:ea typeface="Avenir Next"/>
                <a:cs typeface="Avenir Next"/>
              </a:defRPr>
            </a:pPr>
            <a:r>
              <a:rPr sz="1575" b="1">
                <a:solidFill>
                  <a:srgbClr val="F5F3E9"/>
                </a:solidFill>
                <a:latin typeface="Avenir Next"/>
                <a:ea typeface="Avenir Next"/>
                <a:cs typeface="Avenir Next"/>
              </a:rPr>
              <a:t>CLIMA Y TERRITORIO</a:t>
            </a:r>
          </a:p>
          <a:p xmlns:a="http://schemas.openxmlformats.org/drawingml/2006/main">
            <a:pPr>
              <a:defRPr sz="1575" b="1">
                <a:solidFill>
                  <a:srgbClr val="F5F3E9"/>
                </a:solidFill>
                <a:latin typeface="Avenir Next"/>
                <a:ea typeface="Avenir Next"/>
                <a:cs typeface="Avenir Next"/>
              </a:defRPr>
            </a:pPr>
            <a:r>
              <a:rPr sz="1575" b="1">
                <a:solidFill>
                  <a:srgbClr val="F5F3E9"/>
                </a:solidFill>
                <a:latin typeface="Avenir Next"/>
                <a:ea typeface="Avenir Next"/>
                <a:cs typeface="Avenir Next"/>
              </a:rPr>
              <a:t>Agricultura y vigilancia sanitaria del cultivo</a:t>
            </a:r>
          </a:p>
        </p:txBody>
      </p:sp>
      <p:pic>
        <p:nvPicPr>
          <p:cNvPr id="7" name="">
            <a:extLst xmlns:a="http://schemas.openxmlformats.org/drawingml/2006/main">
              <a:ext uri="{FF2B5EF4-FFF2-40B4-BE49-F238E27FC236}">
                <a16:creationId xmlns:a16="http://schemas.microsoft.com/office/drawing/2014/main" id="{BC8DA8AB-A73B-4218-A674-8550B66AF04E}"/>
              </a:ext>
            </a:extLst>
          </p:cNvPr>
          <p:cNvPicPr>
            <a:picLocks xmlns:a="http://schemas.openxmlformats.org/drawingml/2006/main" noChangeAspect="1"/>
          </p:cNvPicPr>
          <p:nvPr/>
        </p:nvPicPr>
        <p:blipFill>
          <a:blip xmlns:r="http://schemas.openxmlformats.org/officeDocument/2006/relationships" xmlns:a="http://schemas.openxmlformats.org/drawingml/2006/main" r:embed="Rc3700210cf3e4961"/>
          <a:stretch xmlns:a="http://schemas.openxmlformats.org/drawingml/2006/main"/>
        </p:blipFill>
        <p:spPr>
          <a:xfrm xmlns:a="http://schemas.openxmlformats.org/drawingml/2006/main">
            <a:off x="6210300" y="1619250"/>
            <a:ext cx="2571750" cy="34290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A26498F-1A3F-41DF-8998-B42BBBAB58DF}"/>
              </a:ext>
            </a:extLst>
          </p:cNvPr>
          <p:cNvPicPr>
            <a:picLocks xmlns:a="http://schemas.openxmlformats.org/drawingml/2006/main" noChangeAspect="1"/>
          </p:cNvPicPr>
          <p:nvPr/>
        </p:nvPicPr>
        <p:blipFill>
          <a:blip xmlns:r="http://schemas.openxmlformats.org/officeDocument/2006/relationships" xmlns:a="http://schemas.openxmlformats.org/drawingml/2006/main" r:embed="R7c49c0811e944fe5"/>
          <a:stretch xmlns:a="http://schemas.openxmlformats.org/drawingml/2006/main"/>
        </p:blipFill>
        <p:spPr>
          <a:xfrm xmlns:a="http://schemas.openxmlformats.org/drawingml/2006/main">
            <a:off x="9010650" y="1619250"/>
            <a:ext cx="2571750" cy="3429000"/>
          </a:xfrm>
          <a:prstGeom xmlns:a="http://schemas.openxmlformats.org/drawingml/2006/main" prst="rect">
            <a:avLst/>
          </a:prstGeom>
        </p:spPr>
      </p:pic>
      <p:sp>
        <p:nvSpPr>
          <p:cNvPr id="9" name="Sano">
            <a:extLst xmlns:a="http://schemas.openxmlformats.org/drawingml/2006/main">
              <a:ext uri="{FF2B5EF4-FFF2-40B4-BE49-F238E27FC236}">
                <a16:creationId xmlns:a16="http://schemas.microsoft.com/office/drawing/2014/main" id="{BA0E0966-6B97-4EDA-AA99-BC968BB34E82}"/>
              </a:ext>
            </a:extLst>
          </p:cNvPr>
          <p:cNvSpPr>
            <a:spLocks xmlns:a="http://schemas.openxmlformats.org/drawingml/2006/main" noGrp="1"/>
          </p:cNvSpPr>
          <p:nvPr/>
        </p:nvSpPr>
        <p:spPr>
          <a:xfrm xmlns:a="http://schemas.openxmlformats.org/drawingml/2006/main">
            <a:off x="6210300" y="52101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5F3E9"/>
                </a:solidFill>
                <a:latin typeface="Avenir Next"/>
                <a:ea typeface="Avenir Next"/>
                <a:cs typeface="Avenir Next"/>
              </a:defRPr>
            </a:defPPr>
            <a:lvl1pPr>
              <a:defRPr sz="2025" b="1">
                <a:solidFill>
                  <a:srgbClr val="F5F3E9"/>
                </a:solidFill>
                <a:latin typeface="Avenir Next"/>
                <a:ea typeface="Avenir Next"/>
                <a:cs typeface="Avenir Next"/>
              </a:defRPr>
            </a:lvl1pPr>
            <a:lvl2pPr>
              <a:defRPr sz="2025" b="1">
                <a:solidFill>
                  <a:srgbClr val="F5F3E9"/>
                </a:solidFill>
                <a:latin typeface="Avenir Next"/>
                <a:ea typeface="Avenir Next"/>
                <a:cs typeface="Avenir Next"/>
              </a:defRPr>
            </a:lvl2pPr>
            <a:lvl3pPr>
              <a:defRPr sz="2025" b="1">
                <a:solidFill>
                  <a:srgbClr val="F5F3E9"/>
                </a:solidFill>
                <a:latin typeface="Avenir Next"/>
                <a:ea typeface="Avenir Next"/>
                <a:cs typeface="Avenir Next"/>
              </a:defRPr>
            </a:lvl3pPr>
            <a:lvl4pPr>
              <a:defRPr sz="2025" b="1">
                <a:solidFill>
                  <a:srgbClr val="F5F3E9"/>
                </a:solidFill>
                <a:latin typeface="Avenir Next"/>
                <a:ea typeface="Avenir Next"/>
                <a:cs typeface="Avenir Next"/>
              </a:defRPr>
            </a:lvl4pPr>
            <a:lvl5pPr>
              <a:defRPr sz="2025" b="1">
                <a:solidFill>
                  <a:srgbClr val="F5F3E9"/>
                </a:solidFill>
                <a:latin typeface="Avenir Next"/>
                <a:ea typeface="Avenir Next"/>
                <a:cs typeface="Avenir Next"/>
              </a:defRPr>
            </a:lvl5pPr>
            <a:lvl6pPr>
              <a:defRPr sz="2025" b="1">
                <a:solidFill>
                  <a:srgbClr val="F5F3E9"/>
                </a:solidFill>
                <a:latin typeface="Avenir Next"/>
                <a:ea typeface="Avenir Next"/>
                <a:cs typeface="Avenir Next"/>
              </a:defRPr>
            </a:lvl6pPr>
            <a:lvl7pPr>
              <a:defRPr sz="2025" b="1">
                <a:solidFill>
                  <a:srgbClr val="F5F3E9"/>
                </a:solidFill>
                <a:latin typeface="Avenir Next"/>
                <a:ea typeface="Avenir Next"/>
                <a:cs typeface="Avenir Next"/>
              </a:defRPr>
            </a:lvl7pPr>
            <a:lvl8pPr>
              <a:defRPr sz="2025" b="1">
                <a:solidFill>
                  <a:srgbClr val="F5F3E9"/>
                </a:solidFill>
                <a:latin typeface="Avenir Next"/>
                <a:ea typeface="Avenir Next"/>
                <a:cs typeface="Avenir Next"/>
              </a:defRPr>
            </a:lvl8pPr>
            <a:lvl9pPr>
              <a:defRPr sz="2025" b="1">
                <a:solidFill>
                  <a:srgbClr val="F5F3E9"/>
                </a:solidFill>
                <a:latin typeface="Avenir Next"/>
                <a:ea typeface="Avenir Next"/>
                <a:cs typeface="Avenir Next"/>
              </a:defRPr>
            </a:lvl9pPr>
          </a:lstStyle>
          <a:p xmlns:a="http://schemas.openxmlformats.org/drawingml/2006/main">
            <a:pPr>
              <a:defRPr sz="2025" b="1">
                <a:solidFill>
                  <a:srgbClr val="F5F3E9"/>
                </a:solidFill>
                <a:latin typeface="Avenir Next"/>
                <a:ea typeface="Avenir Next"/>
                <a:cs typeface="Avenir Next"/>
              </a:defRPr>
            </a:pPr>
            <a:r>
              <a:rPr sz="2025" b="1">
                <a:solidFill>
                  <a:srgbClr val="F5F3E9"/>
                </a:solidFill>
                <a:latin typeface="Avenir Next"/>
                <a:ea typeface="Avenir Next"/>
                <a:cs typeface="Avenir Next"/>
              </a:rPr>
              <a:t>Sano</a:t>
            </a:r>
          </a:p>
        </p:txBody>
      </p:sp>
      <p:sp>
        <p:nvSpPr>
          <p:cNvPr id="10" name="Monilia">
            <a:extLst xmlns:a="http://schemas.openxmlformats.org/drawingml/2006/main">
              <a:ext uri="{FF2B5EF4-FFF2-40B4-BE49-F238E27FC236}">
                <a16:creationId xmlns:a16="http://schemas.microsoft.com/office/drawing/2014/main" id="{06EEB95C-E000-41E6-9D98-63517A94331B}"/>
              </a:ext>
            </a:extLst>
          </p:cNvPr>
          <p:cNvSpPr>
            <a:spLocks xmlns:a="http://schemas.openxmlformats.org/drawingml/2006/main" noGrp="1"/>
          </p:cNvSpPr>
          <p:nvPr/>
        </p:nvSpPr>
        <p:spPr>
          <a:xfrm xmlns:a="http://schemas.openxmlformats.org/drawingml/2006/main">
            <a:off x="9010650" y="52101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5F3E9"/>
                </a:solidFill>
                <a:latin typeface="Avenir Next"/>
                <a:ea typeface="Avenir Next"/>
                <a:cs typeface="Avenir Next"/>
              </a:defRPr>
            </a:defPPr>
            <a:lvl1pPr>
              <a:defRPr sz="2025" b="1">
                <a:solidFill>
                  <a:srgbClr val="F5F3E9"/>
                </a:solidFill>
                <a:latin typeface="Avenir Next"/>
                <a:ea typeface="Avenir Next"/>
                <a:cs typeface="Avenir Next"/>
              </a:defRPr>
            </a:lvl1pPr>
            <a:lvl2pPr>
              <a:defRPr sz="2025" b="1">
                <a:solidFill>
                  <a:srgbClr val="F5F3E9"/>
                </a:solidFill>
                <a:latin typeface="Avenir Next"/>
                <a:ea typeface="Avenir Next"/>
                <a:cs typeface="Avenir Next"/>
              </a:defRPr>
            </a:lvl2pPr>
            <a:lvl3pPr>
              <a:defRPr sz="2025" b="1">
                <a:solidFill>
                  <a:srgbClr val="F5F3E9"/>
                </a:solidFill>
                <a:latin typeface="Avenir Next"/>
                <a:ea typeface="Avenir Next"/>
                <a:cs typeface="Avenir Next"/>
              </a:defRPr>
            </a:lvl3pPr>
            <a:lvl4pPr>
              <a:defRPr sz="2025" b="1">
                <a:solidFill>
                  <a:srgbClr val="F5F3E9"/>
                </a:solidFill>
                <a:latin typeface="Avenir Next"/>
                <a:ea typeface="Avenir Next"/>
                <a:cs typeface="Avenir Next"/>
              </a:defRPr>
            </a:lvl4pPr>
            <a:lvl5pPr>
              <a:defRPr sz="2025" b="1">
                <a:solidFill>
                  <a:srgbClr val="F5F3E9"/>
                </a:solidFill>
                <a:latin typeface="Avenir Next"/>
                <a:ea typeface="Avenir Next"/>
                <a:cs typeface="Avenir Next"/>
              </a:defRPr>
            </a:lvl5pPr>
            <a:lvl6pPr>
              <a:defRPr sz="2025" b="1">
                <a:solidFill>
                  <a:srgbClr val="F5F3E9"/>
                </a:solidFill>
                <a:latin typeface="Avenir Next"/>
                <a:ea typeface="Avenir Next"/>
                <a:cs typeface="Avenir Next"/>
              </a:defRPr>
            </a:lvl6pPr>
            <a:lvl7pPr>
              <a:defRPr sz="2025" b="1">
                <a:solidFill>
                  <a:srgbClr val="F5F3E9"/>
                </a:solidFill>
                <a:latin typeface="Avenir Next"/>
                <a:ea typeface="Avenir Next"/>
                <a:cs typeface="Avenir Next"/>
              </a:defRPr>
            </a:lvl7pPr>
            <a:lvl8pPr>
              <a:defRPr sz="2025" b="1">
                <a:solidFill>
                  <a:srgbClr val="F5F3E9"/>
                </a:solidFill>
                <a:latin typeface="Avenir Next"/>
                <a:ea typeface="Avenir Next"/>
                <a:cs typeface="Avenir Next"/>
              </a:defRPr>
            </a:lvl8pPr>
            <a:lvl9pPr>
              <a:defRPr sz="2025" b="1">
                <a:solidFill>
                  <a:srgbClr val="F5F3E9"/>
                </a:solidFill>
                <a:latin typeface="Avenir Next"/>
                <a:ea typeface="Avenir Next"/>
                <a:cs typeface="Avenir Next"/>
              </a:defRPr>
            </a:lvl9pPr>
          </a:lstStyle>
          <a:p xmlns:a="http://schemas.openxmlformats.org/drawingml/2006/main">
            <a:pPr>
              <a:defRPr sz="2025" b="1">
                <a:solidFill>
                  <a:srgbClr val="F5F3E9"/>
                </a:solidFill>
                <a:latin typeface="Avenir Next"/>
                <a:ea typeface="Avenir Next"/>
                <a:cs typeface="Avenir Next"/>
              </a:defRPr>
            </a:pPr>
            <a:r>
              <a:rPr sz="2025" b="1">
                <a:solidFill>
                  <a:srgbClr val="F5F3E9"/>
                </a:solidFill>
                <a:latin typeface="Avenir Next"/>
                <a:ea typeface="Avenir Next"/>
                <a:cs typeface="Avenir Next"/>
              </a:rPr>
              <a:t>Monilia</a:t>
            </a:r>
          </a:p>
        </p:txBody>
      </p:sp>
      <p:sp>
        <p:nvSpPr>
          <p:cNvPr id="11" name="Fotos reales. Etiquetas del dataset Mendeley.">
            <a:extLst xmlns:a="http://schemas.openxmlformats.org/drawingml/2006/main">
              <a:ext uri="{FF2B5EF4-FFF2-40B4-BE49-F238E27FC236}">
                <a16:creationId xmlns:a16="http://schemas.microsoft.com/office/drawing/2014/main" id="{A656BCAD-D540-4151-B3A6-825C98ECECB7}"/>
              </a:ext>
            </a:extLst>
          </p:cNvPr>
          <p:cNvSpPr>
            <a:spLocks xmlns:a="http://schemas.openxmlformats.org/drawingml/2006/main" noGrp="1"/>
          </p:cNvSpPr>
          <p:nvPr/>
        </p:nvSpPr>
        <p:spPr>
          <a:xfrm xmlns:a="http://schemas.openxmlformats.org/drawingml/2006/main">
            <a:off x="6210300" y="5734050"/>
            <a:ext cx="5372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D5E4AD"/>
                </a:solidFill>
                <a:latin typeface="Avenir Next"/>
                <a:ea typeface="Avenir Next"/>
                <a:cs typeface="Avenir Next"/>
              </a:defRPr>
            </a:defPPr>
            <a:lvl1pPr>
              <a:defRPr sz="1425" b="0">
                <a:solidFill>
                  <a:srgbClr val="D5E4AD"/>
                </a:solidFill>
                <a:latin typeface="Avenir Next"/>
                <a:ea typeface="Avenir Next"/>
                <a:cs typeface="Avenir Next"/>
              </a:defRPr>
            </a:lvl1pPr>
            <a:lvl2pPr>
              <a:defRPr sz="1425" b="0">
                <a:solidFill>
                  <a:srgbClr val="D5E4AD"/>
                </a:solidFill>
                <a:latin typeface="Avenir Next"/>
                <a:ea typeface="Avenir Next"/>
                <a:cs typeface="Avenir Next"/>
              </a:defRPr>
            </a:lvl2pPr>
            <a:lvl3pPr>
              <a:defRPr sz="1425" b="0">
                <a:solidFill>
                  <a:srgbClr val="D5E4AD"/>
                </a:solidFill>
                <a:latin typeface="Avenir Next"/>
                <a:ea typeface="Avenir Next"/>
                <a:cs typeface="Avenir Next"/>
              </a:defRPr>
            </a:lvl3pPr>
            <a:lvl4pPr>
              <a:defRPr sz="1425" b="0">
                <a:solidFill>
                  <a:srgbClr val="D5E4AD"/>
                </a:solidFill>
                <a:latin typeface="Avenir Next"/>
                <a:ea typeface="Avenir Next"/>
                <a:cs typeface="Avenir Next"/>
              </a:defRPr>
            </a:lvl4pPr>
            <a:lvl5pPr>
              <a:defRPr sz="1425" b="0">
                <a:solidFill>
                  <a:srgbClr val="D5E4AD"/>
                </a:solidFill>
                <a:latin typeface="Avenir Next"/>
                <a:ea typeface="Avenir Next"/>
                <a:cs typeface="Avenir Next"/>
              </a:defRPr>
            </a:lvl5pPr>
            <a:lvl6pPr>
              <a:defRPr sz="1425" b="0">
                <a:solidFill>
                  <a:srgbClr val="D5E4AD"/>
                </a:solidFill>
                <a:latin typeface="Avenir Next"/>
                <a:ea typeface="Avenir Next"/>
                <a:cs typeface="Avenir Next"/>
              </a:defRPr>
            </a:lvl6pPr>
            <a:lvl7pPr>
              <a:defRPr sz="1425" b="0">
                <a:solidFill>
                  <a:srgbClr val="D5E4AD"/>
                </a:solidFill>
                <a:latin typeface="Avenir Next"/>
                <a:ea typeface="Avenir Next"/>
                <a:cs typeface="Avenir Next"/>
              </a:defRPr>
            </a:lvl7pPr>
            <a:lvl8pPr>
              <a:defRPr sz="1425" b="0">
                <a:solidFill>
                  <a:srgbClr val="D5E4AD"/>
                </a:solidFill>
                <a:latin typeface="Avenir Next"/>
                <a:ea typeface="Avenir Next"/>
                <a:cs typeface="Avenir Next"/>
              </a:defRPr>
            </a:lvl8pPr>
            <a:lvl9pPr>
              <a:defRPr sz="1425" b="0">
                <a:solidFill>
                  <a:srgbClr val="D5E4AD"/>
                </a:solidFill>
                <a:latin typeface="Avenir Next"/>
                <a:ea typeface="Avenir Next"/>
                <a:cs typeface="Avenir Next"/>
              </a:defRPr>
            </a:lvl9pPr>
          </a:lstStyle>
          <a:p xmlns:a="http://schemas.openxmlformats.org/drawingml/2006/main">
            <a:pPr>
              <a:defRPr sz="1425" b="0">
                <a:solidFill>
                  <a:srgbClr val="D5E4AD"/>
                </a:solidFill>
                <a:latin typeface="Avenir Next"/>
                <a:ea typeface="Avenir Next"/>
                <a:cs typeface="Avenir Next"/>
              </a:defRPr>
            </a:pPr>
            <a:r>
              <a:rPr sz="1425" b="0">
                <a:solidFill>
                  <a:srgbClr val="D5E4AD"/>
                </a:solidFill>
                <a:latin typeface="Avenir Next"/>
                <a:ea typeface="Avenir Next"/>
                <a:cs typeface="Avenir Next"/>
              </a:rPr>
              <a:t>Fotos reales. Etiquetas del dataset Mendeley.</a:t>
            </a:r>
          </a:p>
        </p:txBody>
      </p:sp>
    </p:spTree>
    <p:extLst>
      <p:ext uri="{BB962C8B-B14F-4D97-AF65-F5344CB8AC3E}">
        <p14:creationId xmlns:p14="http://schemas.microsoft.com/office/powerpoint/2010/main" val="152917363"/>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2" name="Modelo entrenado con fotos reales">
            <a:extLst xmlns:a="http://schemas.openxmlformats.org/drawingml/2006/main">
              <a:ext uri="{FF2B5EF4-FFF2-40B4-BE49-F238E27FC236}">
                <a16:creationId xmlns:a16="http://schemas.microsoft.com/office/drawing/2014/main" id="{49A2235F-9877-40B7-AF46-F61DDFF30FCF}"/>
              </a:ext>
            </a:extLst>
          </p:cNvPr>
          <p:cNvSpPr>
            <a:spLocks xmlns:a="http://schemas.openxmlformats.org/drawingml/2006/main" noGrp="1"/>
          </p:cNvSpPr>
          <p:nvPr/>
        </p:nvSpPr>
        <p:spPr>
          <a:xfrm xmlns:a="http://schemas.openxmlformats.org/drawingml/2006/main">
            <a:off x="609600" y="53340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233B2B"/>
                </a:solidFill>
                <a:latin typeface="Avenir Next"/>
                <a:ea typeface="Avenir Next"/>
                <a:cs typeface="Avenir Next"/>
              </a:defRPr>
            </a:defPPr>
            <a:lvl1pPr>
              <a:defRPr sz="3525" b="1">
                <a:solidFill>
                  <a:srgbClr val="233B2B"/>
                </a:solidFill>
                <a:latin typeface="Avenir Next"/>
                <a:ea typeface="Avenir Next"/>
                <a:cs typeface="Avenir Next"/>
              </a:defRPr>
            </a:lvl1pPr>
            <a:lvl2pPr>
              <a:defRPr sz="3525" b="1">
                <a:solidFill>
                  <a:srgbClr val="233B2B"/>
                </a:solidFill>
                <a:latin typeface="Avenir Next"/>
                <a:ea typeface="Avenir Next"/>
                <a:cs typeface="Avenir Next"/>
              </a:defRPr>
            </a:lvl2pPr>
            <a:lvl3pPr>
              <a:defRPr sz="3525" b="1">
                <a:solidFill>
                  <a:srgbClr val="233B2B"/>
                </a:solidFill>
                <a:latin typeface="Avenir Next"/>
                <a:ea typeface="Avenir Next"/>
                <a:cs typeface="Avenir Next"/>
              </a:defRPr>
            </a:lvl3pPr>
            <a:lvl4pPr>
              <a:defRPr sz="3525" b="1">
                <a:solidFill>
                  <a:srgbClr val="233B2B"/>
                </a:solidFill>
                <a:latin typeface="Avenir Next"/>
                <a:ea typeface="Avenir Next"/>
                <a:cs typeface="Avenir Next"/>
              </a:defRPr>
            </a:lvl4pPr>
            <a:lvl5pPr>
              <a:defRPr sz="3525" b="1">
                <a:solidFill>
                  <a:srgbClr val="233B2B"/>
                </a:solidFill>
                <a:latin typeface="Avenir Next"/>
                <a:ea typeface="Avenir Next"/>
                <a:cs typeface="Avenir Next"/>
              </a:defRPr>
            </a:lvl5pPr>
            <a:lvl6pPr>
              <a:defRPr sz="3525" b="1">
                <a:solidFill>
                  <a:srgbClr val="233B2B"/>
                </a:solidFill>
                <a:latin typeface="Avenir Next"/>
                <a:ea typeface="Avenir Next"/>
                <a:cs typeface="Avenir Next"/>
              </a:defRPr>
            </a:lvl6pPr>
            <a:lvl7pPr>
              <a:defRPr sz="3525" b="1">
                <a:solidFill>
                  <a:srgbClr val="233B2B"/>
                </a:solidFill>
                <a:latin typeface="Avenir Next"/>
                <a:ea typeface="Avenir Next"/>
                <a:cs typeface="Avenir Next"/>
              </a:defRPr>
            </a:lvl7pPr>
            <a:lvl8pPr>
              <a:defRPr sz="3525" b="1">
                <a:solidFill>
                  <a:srgbClr val="233B2B"/>
                </a:solidFill>
                <a:latin typeface="Avenir Next"/>
                <a:ea typeface="Avenir Next"/>
                <a:cs typeface="Avenir Next"/>
              </a:defRPr>
            </a:lvl8pPr>
            <a:lvl9pPr>
              <a:defRPr sz="3525" b="1">
                <a:solidFill>
                  <a:srgbClr val="233B2B"/>
                </a:solidFill>
                <a:latin typeface="Avenir Next"/>
                <a:ea typeface="Avenir Next"/>
                <a:cs typeface="Avenir Next"/>
              </a:defRPr>
            </a:lvl9pPr>
          </a:lstStyle>
          <a:p xmlns:a="http://schemas.openxmlformats.org/drawingml/2006/main">
            <a:pPr>
              <a:defRPr sz="3525" b="1">
                <a:solidFill>
                  <a:srgbClr val="233B2B"/>
                </a:solidFill>
                <a:latin typeface="Avenir Next"/>
                <a:ea typeface="Avenir Next"/>
                <a:cs typeface="Avenir Next"/>
              </a:defRPr>
            </a:pPr>
            <a:r>
              <a:rPr sz="3525" b="1">
                <a:solidFill>
                  <a:srgbClr val="233B2B"/>
                </a:solidFill>
                <a:latin typeface="Avenir Next"/>
                <a:ea typeface="Avenir Next"/>
                <a:cs typeface="Avenir Next"/>
              </a:rPr>
              <a:t>Modelo entrenado con fotos reales</a:t>
            </a:r>
          </a:p>
        </p:txBody>
      </p:sp>
      <p:sp>
        <p:nvSpPr>
          <p:cNvPr id="2" name="1,655">
            <a:extLst xmlns:a="http://schemas.openxmlformats.org/drawingml/2006/main">
              <a:ext uri="{FF2B5EF4-FFF2-40B4-BE49-F238E27FC236}">
                <a16:creationId xmlns:a16="http://schemas.microsoft.com/office/drawing/2014/main" id="{C0E7723C-6DBD-40DF-902E-79EF733F95A6}"/>
              </a:ext>
            </a:extLst>
          </p:cNvPr>
          <p:cNvSpPr>
            <a:spLocks xmlns:a="http://schemas.openxmlformats.org/drawingml/2006/main" noGrp="1"/>
          </p:cNvSpPr>
          <p:nvPr/>
        </p:nvSpPr>
        <p:spPr>
          <a:xfrm xmlns:a="http://schemas.openxmlformats.org/drawingml/2006/main">
            <a:off x="609600" y="1628775"/>
            <a:ext cx="647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7392B"/>
                </a:solidFill>
                <a:latin typeface="Avenir Next"/>
                <a:ea typeface="Avenir Next"/>
                <a:cs typeface="Avenir Next"/>
              </a:defRPr>
            </a:defPPr>
            <a:lvl1pPr>
              <a:defRPr sz="5250" b="1">
                <a:solidFill>
                  <a:srgbClr val="17392B"/>
                </a:solidFill>
                <a:latin typeface="Avenir Next"/>
                <a:ea typeface="Avenir Next"/>
                <a:cs typeface="Avenir Next"/>
              </a:defRPr>
            </a:lvl1pPr>
            <a:lvl2pPr>
              <a:defRPr sz="5250" b="1">
                <a:solidFill>
                  <a:srgbClr val="17392B"/>
                </a:solidFill>
                <a:latin typeface="Avenir Next"/>
                <a:ea typeface="Avenir Next"/>
                <a:cs typeface="Avenir Next"/>
              </a:defRPr>
            </a:lvl2pPr>
            <a:lvl3pPr>
              <a:defRPr sz="5250" b="1">
                <a:solidFill>
                  <a:srgbClr val="17392B"/>
                </a:solidFill>
                <a:latin typeface="Avenir Next"/>
                <a:ea typeface="Avenir Next"/>
                <a:cs typeface="Avenir Next"/>
              </a:defRPr>
            </a:lvl3pPr>
            <a:lvl4pPr>
              <a:defRPr sz="5250" b="1">
                <a:solidFill>
                  <a:srgbClr val="17392B"/>
                </a:solidFill>
                <a:latin typeface="Avenir Next"/>
                <a:ea typeface="Avenir Next"/>
                <a:cs typeface="Avenir Next"/>
              </a:defRPr>
            </a:lvl4pPr>
            <a:lvl5pPr>
              <a:defRPr sz="5250" b="1">
                <a:solidFill>
                  <a:srgbClr val="17392B"/>
                </a:solidFill>
                <a:latin typeface="Avenir Next"/>
                <a:ea typeface="Avenir Next"/>
                <a:cs typeface="Avenir Next"/>
              </a:defRPr>
            </a:lvl5pPr>
            <a:lvl6pPr>
              <a:defRPr sz="5250" b="1">
                <a:solidFill>
                  <a:srgbClr val="17392B"/>
                </a:solidFill>
                <a:latin typeface="Avenir Next"/>
                <a:ea typeface="Avenir Next"/>
                <a:cs typeface="Avenir Next"/>
              </a:defRPr>
            </a:lvl6pPr>
            <a:lvl7pPr>
              <a:defRPr sz="5250" b="1">
                <a:solidFill>
                  <a:srgbClr val="17392B"/>
                </a:solidFill>
                <a:latin typeface="Avenir Next"/>
                <a:ea typeface="Avenir Next"/>
                <a:cs typeface="Avenir Next"/>
              </a:defRPr>
            </a:lvl7pPr>
            <a:lvl8pPr>
              <a:defRPr sz="5250" b="1">
                <a:solidFill>
                  <a:srgbClr val="17392B"/>
                </a:solidFill>
                <a:latin typeface="Avenir Next"/>
                <a:ea typeface="Avenir Next"/>
                <a:cs typeface="Avenir Next"/>
              </a:defRPr>
            </a:lvl8pPr>
            <a:lvl9pPr>
              <a:defRPr sz="5250" b="1">
                <a:solidFill>
                  <a:srgbClr val="17392B"/>
                </a:solidFill>
                <a:latin typeface="Avenir Next"/>
                <a:ea typeface="Avenir Next"/>
                <a:cs typeface="Avenir Next"/>
              </a:defRPr>
            </a:lvl9pPr>
          </a:lstStyle>
          <a:p xmlns:a="http://schemas.openxmlformats.org/drawingml/2006/main">
            <a:pPr>
              <a:defRPr sz="5250" b="1">
                <a:solidFill>
                  <a:srgbClr val="17392B"/>
                </a:solidFill>
                <a:latin typeface="Avenir Next"/>
                <a:ea typeface="Avenir Next"/>
                <a:cs typeface="Avenir Next"/>
              </a:defRPr>
            </a:pPr>
            <a:r>
              <a:rPr sz="5250" b="1">
                <a:solidFill>
                  <a:srgbClr val="17392B"/>
                </a:solidFill>
                <a:latin typeface="Avenir Next"/>
                <a:ea typeface="Avenir Next"/>
                <a:cs typeface="Avenir Next"/>
              </a:rPr>
              <a:t>1,655</a:t>
            </a:r>
          </a:p>
        </p:txBody>
      </p:sp>
      <p:sp>
        <p:nvSpPr>
          <p:cNvPr id="3" name="fotografías originales de entrenamiento">
            <a:extLst xmlns:a="http://schemas.openxmlformats.org/drawingml/2006/main">
              <a:ext uri="{FF2B5EF4-FFF2-40B4-BE49-F238E27FC236}">
                <a16:creationId xmlns:a16="http://schemas.microsoft.com/office/drawing/2014/main" id="{F65E3D10-39CB-4BC8-A142-3A45ED79DB02}"/>
              </a:ext>
            </a:extLst>
          </p:cNvPr>
          <p:cNvSpPr>
            <a:spLocks xmlns:a="http://schemas.openxmlformats.org/drawingml/2006/main" noGrp="1"/>
          </p:cNvSpPr>
          <p:nvPr/>
        </p:nvSpPr>
        <p:spPr>
          <a:xfrm xmlns:a="http://schemas.openxmlformats.org/drawingml/2006/main">
            <a:off x="609600" y="26384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fotografías originales de entrenamiento</a:t>
            </a:r>
          </a:p>
        </p:txBody>
      </p:sp>
      <p:sp>
        <p:nvSpPr>
          <p:cNvPr id="4" name="Prueba reservada: 399 fotos reales">
            <a:extLst xmlns:a="http://schemas.openxmlformats.org/drawingml/2006/main">
              <a:ext uri="{FF2B5EF4-FFF2-40B4-BE49-F238E27FC236}">
                <a16:creationId xmlns:a16="http://schemas.microsoft.com/office/drawing/2014/main" id="{42EE64F5-C771-49A1-98CA-E6E427B7BAD6}"/>
              </a:ext>
            </a:extLst>
          </p:cNvPr>
          <p:cNvSpPr>
            <a:spLocks xmlns:a="http://schemas.openxmlformats.org/drawingml/2006/main" noGrp="1"/>
          </p:cNvSpPr>
          <p:nvPr/>
        </p:nvSpPr>
        <p:spPr>
          <a:xfrm xmlns:a="http://schemas.openxmlformats.org/drawingml/2006/main">
            <a:off x="609600" y="354330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Prueba reservada: 399 fotos reales</a:t>
            </a:r>
          </a:p>
        </p:txBody>
      </p:sp>
      <p:sp>
        <p:nvSpPr>
          <p:cNvPr id="5" name="191 / 200">
            <a:extLst xmlns:a="http://schemas.openxmlformats.org/drawingml/2006/main">
              <a:ext uri="{FF2B5EF4-FFF2-40B4-BE49-F238E27FC236}">
                <a16:creationId xmlns:a16="http://schemas.microsoft.com/office/drawing/2014/main" id="{CD735019-B40B-42B8-80CD-931DC7C3911E}"/>
              </a:ext>
            </a:extLst>
          </p:cNvPr>
          <p:cNvSpPr>
            <a:spLocks xmlns:a="http://schemas.openxmlformats.org/drawingml/2006/main" noGrp="1"/>
          </p:cNvSpPr>
          <p:nvPr/>
        </p:nvSpPr>
        <p:spPr>
          <a:xfrm xmlns:a="http://schemas.openxmlformats.org/drawingml/2006/main">
            <a:off x="609600" y="4171950"/>
            <a:ext cx="323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191 / 200</a:t>
            </a:r>
          </a:p>
        </p:txBody>
      </p:sp>
      <p:sp>
        <p:nvSpPr>
          <p:cNvPr id="6" name="Fotos con Monilia&#10;que activaron alerta">
            <a:extLst xmlns:a="http://schemas.openxmlformats.org/drawingml/2006/main">
              <a:ext uri="{FF2B5EF4-FFF2-40B4-BE49-F238E27FC236}">
                <a16:creationId xmlns:a16="http://schemas.microsoft.com/office/drawing/2014/main" id="{38BB9AFF-E930-47E3-BA92-84BFB5233932}"/>
              </a:ext>
            </a:extLst>
          </p:cNvPr>
          <p:cNvSpPr>
            <a:spLocks xmlns:a="http://schemas.openxmlformats.org/drawingml/2006/main" noGrp="1"/>
          </p:cNvSpPr>
          <p:nvPr/>
        </p:nvSpPr>
        <p:spPr>
          <a:xfrm xmlns:a="http://schemas.openxmlformats.org/drawingml/2006/main">
            <a:off x="609600" y="49720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con Monilia</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sp>
        <p:nvSpPr>
          <p:cNvPr id="7" name="8 / 199">
            <a:extLst xmlns:a="http://schemas.openxmlformats.org/drawingml/2006/main">
              <a:ext uri="{FF2B5EF4-FFF2-40B4-BE49-F238E27FC236}">
                <a16:creationId xmlns:a16="http://schemas.microsoft.com/office/drawing/2014/main" id="{79313EAF-95C3-47B4-95CC-6C8119F68784}"/>
              </a:ext>
            </a:extLst>
          </p:cNvPr>
          <p:cNvSpPr>
            <a:spLocks xmlns:a="http://schemas.openxmlformats.org/drawingml/2006/main" noGrp="1"/>
          </p:cNvSpPr>
          <p:nvPr/>
        </p:nvSpPr>
        <p:spPr>
          <a:xfrm xmlns:a="http://schemas.openxmlformats.org/drawingml/2006/main">
            <a:off x="4019550" y="4171950"/>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8 / 199</a:t>
            </a:r>
          </a:p>
        </p:txBody>
      </p:sp>
      <p:sp>
        <p:nvSpPr>
          <p:cNvPr id="8" name="Fotos sanas&#10;que activaron alerta">
            <a:extLst xmlns:a="http://schemas.openxmlformats.org/drawingml/2006/main">
              <a:ext uri="{FF2B5EF4-FFF2-40B4-BE49-F238E27FC236}">
                <a16:creationId xmlns:a16="http://schemas.microsoft.com/office/drawing/2014/main" id="{9263E562-66B4-4939-A0A7-90C430228C91}"/>
              </a:ext>
            </a:extLst>
          </p:cNvPr>
          <p:cNvSpPr>
            <a:spLocks xmlns:a="http://schemas.openxmlformats.org/drawingml/2006/main" noGrp="1"/>
          </p:cNvSpPr>
          <p:nvPr/>
        </p:nvSpPr>
        <p:spPr>
          <a:xfrm xmlns:a="http://schemas.openxmlformats.org/drawingml/2006/main">
            <a:off x="4019550" y="49720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sanas</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pic>
        <p:nvPicPr>
          <p:cNvPr id="9" name="">
            <a:extLst xmlns:a="http://schemas.openxmlformats.org/drawingml/2006/main">
              <a:ext uri="{FF2B5EF4-FFF2-40B4-BE49-F238E27FC236}">
                <a16:creationId xmlns:a16="http://schemas.microsoft.com/office/drawing/2014/main" id="{F0C69B44-F8CF-49EA-A444-2A9D56C6500F}"/>
              </a:ext>
            </a:extLst>
          </p:cNvPr>
          <p:cNvPicPr>
            <a:picLocks xmlns:a="http://schemas.openxmlformats.org/drawingml/2006/main" noChangeAspect="1"/>
          </p:cNvPicPr>
          <p:nvPr/>
        </p:nvPicPr>
        <p:blipFill>
          <a:blip xmlns:r="http://schemas.openxmlformats.org/officeDocument/2006/relationships" xmlns:a="http://schemas.openxmlformats.org/drawingml/2006/main" r:embed="R6039da26c7ac4fcb"/>
          <a:stretch xmlns:a="http://schemas.openxmlformats.org/drawingml/2006/main"/>
        </p:blipFill>
        <p:spPr>
          <a:xfrm xmlns:a="http://schemas.openxmlformats.org/drawingml/2006/main">
            <a:off x="7953375" y="1685925"/>
            <a:ext cx="2857500" cy="3810000"/>
          </a:xfrm>
          <a:prstGeom xmlns:a="http://schemas.openxmlformats.org/drawingml/2006/main" prst="rect">
            <a:avLst/>
          </a:prstGeom>
        </p:spPr>
      </p:pic>
      <p:sp>
        <p:nvSpPr>
          <p:cNvPr id="10" name="Predicción guardada de YOLO11s.&#10;Foto fuera de">
            <a:extLst xmlns:a="http://schemas.openxmlformats.org/drawingml/2006/main">
              <a:ext uri="{FF2B5EF4-FFF2-40B4-BE49-F238E27FC236}">
                <a16:creationId xmlns:a16="http://schemas.microsoft.com/office/drawing/2014/main" id="{8E1A5B67-E037-45C3-B50F-9BF68969F167}"/>
              </a:ext>
            </a:extLst>
          </p:cNvPr>
          <p:cNvSpPr>
            <a:spLocks xmlns:a="http://schemas.openxmlformats.org/drawingml/2006/main" noGrp="1"/>
          </p:cNvSpPr>
          <p:nvPr/>
        </p:nvSpPr>
        <p:spPr>
          <a:xfrm xmlns:a="http://schemas.openxmlformats.org/drawingml/2006/main">
            <a:off x="7572375" y="5667375"/>
            <a:ext cx="4010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Predicción guardada de YOLO11s.</a:t>
            </a:r>
          </a:p>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Foto fuera del entrenamiento.</a:t>
            </a:r>
          </a:p>
        </p:txBody>
      </p:sp>
      <p:sp>
        <p:nvSpPr>
          <p:cNvPr id="11" name="Evaluación por imagen, con fondos distintos s">
            <a:extLst xmlns:a="http://schemas.openxmlformats.org/drawingml/2006/main">
              <a:ext uri="{FF2B5EF4-FFF2-40B4-BE49-F238E27FC236}">
                <a16:creationId xmlns:a16="http://schemas.microsoft.com/office/drawing/2014/main" id="{DF1D4CD5-8CCA-4F0B-99DA-B1B2237D19C9}"/>
              </a:ext>
            </a:extLst>
          </p:cNvPr>
          <p:cNvSpPr>
            <a:spLocks xmlns:a="http://schemas.openxmlformats.org/drawingml/2006/main" noGrp="1"/>
          </p:cNvSpPr>
          <p:nvPr/>
        </p:nvSpPr>
        <p:spPr>
          <a:xfrm xmlns:a="http://schemas.openxmlformats.org/drawingml/2006/main">
            <a:off x="609600" y="6105525"/>
            <a:ext cx="680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96957"/>
                </a:solidFill>
                <a:latin typeface="Avenir Next"/>
                <a:ea typeface="Avenir Next"/>
                <a:cs typeface="Avenir Next"/>
              </a:defRPr>
            </a:defPPr>
            <a:lvl1pPr>
              <a:defRPr sz="1425" b="0">
                <a:solidFill>
                  <a:srgbClr val="596957"/>
                </a:solidFill>
                <a:latin typeface="Avenir Next"/>
                <a:ea typeface="Avenir Next"/>
                <a:cs typeface="Avenir Next"/>
              </a:defRPr>
            </a:lvl1pPr>
            <a:lvl2pPr>
              <a:defRPr sz="1425" b="0">
                <a:solidFill>
                  <a:srgbClr val="596957"/>
                </a:solidFill>
                <a:latin typeface="Avenir Next"/>
                <a:ea typeface="Avenir Next"/>
                <a:cs typeface="Avenir Next"/>
              </a:defRPr>
            </a:lvl2pPr>
            <a:lvl3pPr>
              <a:defRPr sz="1425" b="0">
                <a:solidFill>
                  <a:srgbClr val="596957"/>
                </a:solidFill>
                <a:latin typeface="Avenir Next"/>
                <a:ea typeface="Avenir Next"/>
                <a:cs typeface="Avenir Next"/>
              </a:defRPr>
            </a:lvl3pPr>
            <a:lvl4pPr>
              <a:defRPr sz="1425" b="0">
                <a:solidFill>
                  <a:srgbClr val="596957"/>
                </a:solidFill>
                <a:latin typeface="Avenir Next"/>
                <a:ea typeface="Avenir Next"/>
                <a:cs typeface="Avenir Next"/>
              </a:defRPr>
            </a:lvl4pPr>
            <a:lvl5pPr>
              <a:defRPr sz="1425" b="0">
                <a:solidFill>
                  <a:srgbClr val="596957"/>
                </a:solidFill>
                <a:latin typeface="Avenir Next"/>
                <a:ea typeface="Avenir Next"/>
                <a:cs typeface="Avenir Next"/>
              </a:defRPr>
            </a:lvl5pPr>
            <a:lvl6pPr>
              <a:defRPr sz="1425" b="0">
                <a:solidFill>
                  <a:srgbClr val="596957"/>
                </a:solidFill>
                <a:latin typeface="Avenir Next"/>
                <a:ea typeface="Avenir Next"/>
                <a:cs typeface="Avenir Next"/>
              </a:defRPr>
            </a:lvl6pPr>
            <a:lvl7pPr>
              <a:defRPr sz="1425" b="0">
                <a:solidFill>
                  <a:srgbClr val="596957"/>
                </a:solidFill>
                <a:latin typeface="Avenir Next"/>
                <a:ea typeface="Avenir Next"/>
                <a:cs typeface="Avenir Next"/>
              </a:defRPr>
            </a:lvl7pPr>
            <a:lvl8pPr>
              <a:defRPr sz="1425" b="0">
                <a:solidFill>
                  <a:srgbClr val="596957"/>
                </a:solidFill>
                <a:latin typeface="Avenir Next"/>
                <a:ea typeface="Avenir Next"/>
                <a:cs typeface="Avenir Next"/>
              </a:defRPr>
            </a:lvl8pPr>
            <a:lvl9pPr>
              <a:defRPr sz="1425" b="0">
                <a:solidFill>
                  <a:srgbClr val="596957"/>
                </a:solidFill>
                <a:latin typeface="Avenir Next"/>
                <a:ea typeface="Avenir Next"/>
                <a:cs typeface="Avenir Next"/>
              </a:defRPr>
            </a:lvl9pPr>
          </a:lstStyle>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Evaluación por imagen, con fondos distintos según la clase.</a:t>
            </a:r>
          </a:p>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Rendimiento en vuelo y localización correcta aún por validar.</a:t>
            </a:r>
          </a:p>
        </p:txBody>
      </p:sp>
    </p:spTree>
    <p:extLst>
      <p:ext uri="{BB962C8B-B14F-4D97-AF65-F5344CB8AC3E}">
        <p14:creationId xmlns:p14="http://schemas.microsoft.com/office/powerpoint/2010/main" val="1378123117"/>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para probar la integración">
            <a:extLst xmlns:a="http://schemas.openxmlformats.org/drawingml/2006/main">
              <a:ext uri="{FF2B5EF4-FFF2-40B4-BE49-F238E27FC236}">
                <a16:creationId xmlns:a16="http://schemas.microsoft.com/office/drawing/2014/main" id="{F1ED1F16-C65F-4924-917A-F16C65687C8C}"/>
              </a:ext>
            </a:extLst>
          </p:cNvPr>
          <p:cNvSpPr>
            <a:spLocks xmlns:a="http://schemas.openxmlformats.org/drawingml/2006/main" noGrp="1"/>
          </p:cNvSpPr>
          <p:nvPr/>
        </p:nvSpPr>
        <p:spPr>
          <a:xfrm xmlns:a="http://schemas.openxmlformats.org/drawingml/2006/main">
            <a:off x="609600" y="533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33B2B"/>
                </a:solidFill>
                <a:latin typeface="Avenir Next"/>
                <a:ea typeface="Avenir Next"/>
                <a:cs typeface="Avenir Next"/>
              </a:defRPr>
            </a:defPPr>
            <a:lvl1pPr>
              <a:defRPr sz="3450" b="1">
                <a:solidFill>
                  <a:srgbClr val="233B2B"/>
                </a:solidFill>
                <a:latin typeface="Avenir Next"/>
                <a:ea typeface="Avenir Next"/>
                <a:cs typeface="Avenir Next"/>
              </a:defRPr>
            </a:lvl1pPr>
            <a:lvl2pPr>
              <a:defRPr sz="3450" b="1">
                <a:solidFill>
                  <a:srgbClr val="233B2B"/>
                </a:solidFill>
                <a:latin typeface="Avenir Next"/>
                <a:ea typeface="Avenir Next"/>
                <a:cs typeface="Avenir Next"/>
              </a:defRPr>
            </a:lvl2pPr>
            <a:lvl3pPr>
              <a:defRPr sz="3450" b="1">
                <a:solidFill>
                  <a:srgbClr val="233B2B"/>
                </a:solidFill>
                <a:latin typeface="Avenir Next"/>
                <a:ea typeface="Avenir Next"/>
                <a:cs typeface="Avenir Next"/>
              </a:defRPr>
            </a:lvl3pPr>
            <a:lvl4pPr>
              <a:defRPr sz="3450" b="1">
                <a:solidFill>
                  <a:srgbClr val="233B2B"/>
                </a:solidFill>
                <a:latin typeface="Avenir Next"/>
                <a:ea typeface="Avenir Next"/>
                <a:cs typeface="Avenir Next"/>
              </a:defRPr>
            </a:lvl4pPr>
            <a:lvl5pPr>
              <a:defRPr sz="3450" b="1">
                <a:solidFill>
                  <a:srgbClr val="233B2B"/>
                </a:solidFill>
                <a:latin typeface="Avenir Next"/>
                <a:ea typeface="Avenir Next"/>
                <a:cs typeface="Avenir Next"/>
              </a:defRPr>
            </a:lvl5pPr>
            <a:lvl6pPr>
              <a:defRPr sz="3450" b="1">
                <a:solidFill>
                  <a:srgbClr val="233B2B"/>
                </a:solidFill>
                <a:latin typeface="Avenir Next"/>
                <a:ea typeface="Avenir Next"/>
                <a:cs typeface="Avenir Next"/>
              </a:defRPr>
            </a:lvl6pPr>
            <a:lvl7pPr>
              <a:defRPr sz="3450" b="1">
                <a:solidFill>
                  <a:srgbClr val="233B2B"/>
                </a:solidFill>
                <a:latin typeface="Avenir Next"/>
                <a:ea typeface="Avenir Next"/>
                <a:cs typeface="Avenir Next"/>
              </a:defRPr>
            </a:lvl7pPr>
            <a:lvl8pPr>
              <a:defRPr sz="3450" b="1">
                <a:solidFill>
                  <a:srgbClr val="233B2B"/>
                </a:solidFill>
                <a:latin typeface="Avenir Next"/>
                <a:ea typeface="Avenir Next"/>
                <a:cs typeface="Avenir Next"/>
              </a:defRPr>
            </a:lvl8pPr>
            <a:lvl9pPr>
              <a:defRPr sz="3450" b="1">
                <a:solidFill>
                  <a:srgbClr val="233B2B"/>
                </a:solidFill>
                <a:latin typeface="Avenir Next"/>
                <a:ea typeface="Avenir Next"/>
                <a:cs typeface="Avenir Next"/>
              </a:defRPr>
            </a:lvl9pPr>
          </a:lstStyle>
          <a:p xmlns:a="http://schemas.openxmlformats.org/drawingml/2006/main">
            <a:pPr>
              <a:defRPr sz="3450" b="1">
                <a:solidFill>
                  <a:srgbClr val="233B2B"/>
                </a:solidFill>
                <a:latin typeface="Avenir Next"/>
                <a:ea typeface="Avenir Next"/>
                <a:cs typeface="Avenir Next"/>
              </a:defRPr>
            </a:pPr>
            <a:r>
              <a:rPr sz="3450" b="1">
                <a:solidFill>
                  <a:srgbClr val="233B2B"/>
                </a:solidFill>
                <a:latin typeface="Avenir Next"/>
                <a:ea typeface="Avenir Next"/>
                <a:cs typeface="Avenir Next"/>
              </a:rPr>
              <a:t>Simulación para probar la integración</a:t>
            </a:r>
          </a:p>
        </p:txBody>
      </p:sp>
      <p:sp>
        <p:nvSpPr>
          <p:cNvPr id="2" name="La cámara 3D envía&#10;sus píxeles al mismo&#10;YOLO ">
            <a:extLst xmlns:a="http://schemas.openxmlformats.org/drawingml/2006/main">
              <a:ext uri="{FF2B5EF4-FFF2-40B4-BE49-F238E27FC236}">
                <a16:creationId xmlns:a16="http://schemas.microsoft.com/office/drawing/2014/main" id="{29D52253-9ADD-44CF-AFD2-69499D5E212A}"/>
              </a:ext>
            </a:extLst>
          </p:cNvPr>
          <p:cNvSpPr>
            <a:spLocks xmlns:a="http://schemas.openxmlformats.org/drawingml/2006/main" noGrp="1"/>
          </p:cNvSpPr>
          <p:nvPr/>
        </p:nvSpPr>
        <p:spPr>
          <a:xfrm xmlns:a="http://schemas.openxmlformats.org/drawingml/2006/main">
            <a:off x="609600" y="1943100"/>
            <a:ext cx="4333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33B2B"/>
                </a:solidFill>
                <a:latin typeface="Avenir Next"/>
                <a:ea typeface="Avenir Next"/>
                <a:cs typeface="Avenir Next"/>
              </a:defRPr>
            </a:defPPr>
            <a:lvl1pPr>
              <a:defRPr sz="2475" b="1">
                <a:solidFill>
                  <a:srgbClr val="233B2B"/>
                </a:solidFill>
                <a:latin typeface="Avenir Next"/>
                <a:ea typeface="Avenir Next"/>
                <a:cs typeface="Avenir Next"/>
              </a:defRPr>
            </a:lvl1pPr>
            <a:lvl2pPr>
              <a:defRPr sz="2475" b="1">
                <a:solidFill>
                  <a:srgbClr val="233B2B"/>
                </a:solidFill>
                <a:latin typeface="Avenir Next"/>
                <a:ea typeface="Avenir Next"/>
                <a:cs typeface="Avenir Next"/>
              </a:defRPr>
            </a:lvl2pPr>
            <a:lvl3pPr>
              <a:defRPr sz="2475" b="1">
                <a:solidFill>
                  <a:srgbClr val="233B2B"/>
                </a:solidFill>
                <a:latin typeface="Avenir Next"/>
                <a:ea typeface="Avenir Next"/>
                <a:cs typeface="Avenir Next"/>
              </a:defRPr>
            </a:lvl3pPr>
            <a:lvl4pPr>
              <a:defRPr sz="2475" b="1">
                <a:solidFill>
                  <a:srgbClr val="233B2B"/>
                </a:solidFill>
                <a:latin typeface="Avenir Next"/>
                <a:ea typeface="Avenir Next"/>
                <a:cs typeface="Avenir Next"/>
              </a:defRPr>
            </a:lvl4pPr>
            <a:lvl5pPr>
              <a:defRPr sz="2475" b="1">
                <a:solidFill>
                  <a:srgbClr val="233B2B"/>
                </a:solidFill>
                <a:latin typeface="Avenir Next"/>
                <a:ea typeface="Avenir Next"/>
                <a:cs typeface="Avenir Next"/>
              </a:defRPr>
            </a:lvl5pPr>
            <a:lvl6pPr>
              <a:defRPr sz="2475" b="1">
                <a:solidFill>
                  <a:srgbClr val="233B2B"/>
                </a:solidFill>
                <a:latin typeface="Avenir Next"/>
                <a:ea typeface="Avenir Next"/>
                <a:cs typeface="Avenir Next"/>
              </a:defRPr>
            </a:lvl6pPr>
            <a:lvl7pPr>
              <a:defRPr sz="2475" b="1">
                <a:solidFill>
                  <a:srgbClr val="233B2B"/>
                </a:solidFill>
                <a:latin typeface="Avenir Next"/>
                <a:ea typeface="Avenir Next"/>
                <a:cs typeface="Avenir Next"/>
              </a:defRPr>
            </a:lvl7pPr>
            <a:lvl8pPr>
              <a:defRPr sz="2475" b="1">
                <a:solidFill>
                  <a:srgbClr val="233B2B"/>
                </a:solidFill>
                <a:latin typeface="Avenir Next"/>
                <a:ea typeface="Avenir Next"/>
                <a:cs typeface="Avenir Next"/>
              </a:defRPr>
            </a:lvl8pPr>
            <a:lvl9pPr>
              <a:defRPr sz="2475" b="1">
                <a:solidFill>
                  <a:srgbClr val="233B2B"/>
                </a:solidFill>
                <a:latin typeface="Avenir Next"/>
                <a:ea typeface="Avenir Next"/>
                <a:cs typeface="Avenir Next"/>
              </a:defRPr>
            </a:lvl9pPr>
          </a:lstStyle>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La cámara 3D envía</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sus píxeles al mismo</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YOLO entrenado.</a:t>
            </a:r>
          </a:p>
        </p:txBody>
      </p:sp>
      <p:sp>
        <p:nvSpPr>
          <p:cNvPr id="3" name="Probamos detección,&#10;batería y regreso antes&#10;d">
            <a:extLst xmlns:a="http://schemas.openxmlformats.org/drawingml/2006/main">
              <a:ext uri="{FF2B5EF4-FFF2-40B4-BE49-F238E27FC236}">
                <a16:creationId xmlns:a16="http://schemas.microsoft.com/office/drawing/2014/main" id="{E6175A1D-0C2A-4DC0-8549-F66ACDB18152}"/>
              </a:ext>
            </a:extLst>
          </p:cNvPr>
          <p:cNvSpPr>
            <a:spLocks xmlns:a="http://schemas.openxmlformats.org/drawingml/2006/main" noGrp="1"/>
          </p:cNvSpPr>
          <p:nvPr/>
        </p:nvSpPr>
        <p:spPr>
          <a:xfrm xmlns:a="http://schemas.openxmlformats.org/drawingml/2006/main">
            <a:off x="609600" y="3914775"/>
            <a:ext cx="4333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96957"/>
                </a:solidFill>
                <a:latin typeface="Avenir Next"/>
                <a:ea typeface="Avenir Next"/>
                <a:cs typeface="Avenir Next"/>
              </a:defRPr>
            </a:defPPr>
            <a:lvl1pPr>
              <a:defRPr sz="2025" b="0">
                <a:solidFill>
                  <a:srgbClr val="596957"/>
                </a:solidFill>
                <a:latin typeface="Avenir Next"/>
                <a:ea typeface="Avenir Next"/>
                <a:cs typeface="Avenir Next"/>
              </a:defRPr>
            </a:lvl1pPr>
            <a:lvl2pPr>
              <a:defRPr sz="2025" b="0">
                <a:solidFill>
                  <a:srgbClr val="596957"/>
                </a:solidFill>
                <a:latin typeface="Avenir Next"/>
                <a:ea typeface="Avenir Next"/>
                <a:cs typeface="Avenir Next"/>
              </a:defRPr>
            </a:lvl2pPr>
            <a:lvl3pPr>
              <a:defRPr sz="2025" b="0">
                <a:solidFill>
                  <a:srgbClr val="596957"/>
                </a:solidFill>
                <a:latin typeface="Avenir Next"/>
                <a:ea typeface="Avenir Next"/>
                <a:cs typeface="Avenir Next"/>
              </a:defRPr>
            </a:lvl3pPr>
            <a:lvl4pPr>
              <a:defRPr sz="2025" b="0">
                <a:solidFill>
                  <a:srgbClr val="596957"/>
                </a:solidFill>
                <a:latin typeface="Avenir Next"/>
                <a:ea typeface="Avenir Next"/>
                <a:cs typeface="Avenir Next"/>
              </a:defRPr>
            </a:lvl4pPr>
            <a:lvl5pPr>
              <a:defRPr sz="2025" b="0">
                <a:solidFill>
                  <a:srgbClr val="596957"/>
                </a:solidFill>
                <a:latin typeface="Avenir Next"/>
                <a:ea typeface="Avenir Next"/>
                <a:cs typeface="Avenir Next"/>
              </a:defRPr>
            </a:lvl5pPr>
            <a:lvl6pPr>
              <a:defRPr sz="2025" b="0">
                <a:solidFill>
                  <a:srgbClr val="596957"/>
                </a:solidFill>
                <a:latin typeface="Avenir Next"/>
                <a:ea typeface="Avenir Next"/>
                <a:cs typeface="Avenir Next"/>
              </a:defRPr>
            </a:lvl6pPr>
            <a:lvl7pPr>
              <a:defRPr sz="2025" b="0">
                <a:solidFill>
                  <a:srgbClr val="596957"/>
                </a:solidFill>
                <a:latin typeface="Avenir Next"/>
                <a:ea typeface="Avenir Next"/>
                <a:cs typeface="Avenir Next"/>
              </a:defRPr>
            </a:lvl7pPr>
            <a:lvl8pPr>
              <a:defRPr sz="2025" b="0">
                <a:solidFill>
                  <a:srgbClr val="596957"/>
                </a:solidFill>
                <a:latin typeface="Avenir Next"/>
                <a:ea typeface="Avenir Next"/>
                <a:cs typeface="Avenir Next"/>
              </a:defRPr>
            </a:lvl8pPr>
            <a:lvl9pPr>
              <a:defRPr sz="2025" b="0">
                <a:solidFill>
                  <a:srgbClr val="596957"/>
                </a:solidFill>
                <a:latin typeface="Avenir Next"/>
                <a:ea typeface="Avenir Next"/>
                <a:cs typeface="Avenir Next"/>
              </a:defRPr>
            </a:lvl9pPr>
          </a:lstStyle>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Probamos detección,</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batería y regreso antes</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de usar robots en campo.</a:t>
            </a:r>
          </a:p>
        </p:txBody>
      </p:sp>
      <p:pic>
        <p:nvPicPr>
          <p:cNvPr id="4" name="">
            <a:extLst xmlns:a="http://schemas.openxmlformats.org/drawingml/2006/main">
              <a:ext uri="{FF2B5EF4-FFF2-40B4-BE49-F238E27FC236}">
                <a16:creationId xmlns:a16="http://schemas.microsoft.com/office/drawing/2014/main" id="{5D715F76-A059-48B3-A66B-1DB1F5B09FBA}"/>
              </a:ext>
            </a:extLst>
          </p:cNvPr>
          <p:cNvPicPr>
            <a:picLocks xmlns:a="http://schemas.openxmlformats.org/drawingml/2006/main" noChangeAspect="1"/>
          </p:cNvPicPr>
          <p:nvPr/>
        </p:nvPicPr>
        <p:blipFill>
          <a:blip xmlns:r="http://schemas.openxmlformats.org/officeDocument/2006/relationships" xmlns:a="http://schemas.openxmlformats.org/drawingml/2006/main" r:embed="R11c054383a144f32"/>
          <a:stretch xmlns:a="http://schemas.openxmlformats.org/drawingml/2006/main"/>
        </p:blipFill>
        <p:spPr>
          <a:xfrm xmlns:a="http://schemas.openxmlformats.org/drawingml/2006/main">
            <a:off x="5353050" y="1890400"/>
            <a:ext cx="6229350" cy="3143875"/>
          </a:xfrm>
          <a:prstGeom xmlns:a="http://schemas.openxmlformats.org/drawingml/2006/main" prst="rect">
            <a:avLst/>
          </a:prstGeom>
        </p:spPr>
      </p:pic>
      <p:sp>
        <p:nvSpPr>
          <p:cNvPr id="5" name="Mazorcas 3D con texturas de fotos reales.&#10;El ">
            <a:extLst xmlns:a="http://schemas.openxmlformats.org/drawingml/2006/main">
              <a:ext uri="{FF2B5EF4-FFF2-40B4-BE49-F238E27FC236}">
                <a16:creationId xmlns:a16="http://schemas.microsoft.com/office/drawing/2014/main" id="{759FD803-9B0C-466F-8BA7-E82F0FB3CD1E}"/>
              </a:ext>
            </a:extLst>
          </p:cNvPr>
          <p:cNvSpPr>
            <a:spLocks xmlns:a="http://schemas.openxmlformats.org/drawingml/2006/main" noGrp="1"/>
          </p:cNvSpPr>
          <p:nvPr/>
        </p:nvSpPr>
        <p:spPr>
          <a:xfrm xmlns:a="http://schemas.openxmlformats.org/drawingml/2006/main">
            <a:off x="5353050" y="5238750"/>
            <a:ext cx="622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Mazorcas 3D con texturas de fotos reales.</a:t>
            </a:r>
          </a:p>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El modelo calcula la detección sobre esta imagen.</a:t>
            </a:r>
          </a:p>
        </p:txBody>
      </p:sp>
      <p:sp>
        <p:nvSpPr>
          <p:cNvPr id="6" name="La localización usa geometría conocida. El re">
            <a:extLst xmlns:a="http://schemas.openxmlformats.org/drawingml/2006/main">
              <a:ext uri="{FF2B5EF4-FFF2-40B4-BE49-F238E27FC236}">
                <a16:creationId xmlns:a16="http://schemas.microsoft.com/office/drawing/2014/main" id="{E11C58A5-A0BC-4364-9FE5-55463CE99A3A}"/>
              </a:ext>
            </a:extLst>
          </p:cNvPr>
          <p:cNvSpPr>
            <a:spLocks xmlns:a="http://schemas.openxmlformats.org/drawingml/2006/main" noGrp="1"/>
          </p:cNvSpPr>
          <p:nvPr/>
        </p:nvSpPr>
        <p:spPr>
          <a:xfrm xmlns:a="http://schemas.openxmlformats.org/drawingml/2006/main">
            <a:off x="609600" y="6286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La localización usa geometría conocida. El recorrido virtual verifica integración, no precisión en campo.</a:t>
            </a:r>
          </a:p>
        </p:txBody>
      </p:sp>
    </p:spTree>
    <p:extLst>
      <p:ext uri="{BB962C8B-B14F-4D97-AF65-F5344CB8AC3E}">
        <p14:creationId xmlns:p14="http://schemas.microsoft.com/office/powerpoint/2010/main" val="270093462"/>
      </p:ext>
    </p:extLst>
  </p:cSld>
</p:sld>
</file>

<file path=ppt/slides/slide4.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7" name="Una sospecha que el agricultor puede revisar">
            <a:extLst xmlns:a="http://schemas.openxmlformats.org/drawingml/2006/main">
              <a:ext uri="{FF2B5EF4-FFF2-40B4-BE49-F238E27FC236}">
                <a16:creationId xmlns:a16="http://schemas.microsoft.com/office/drawing/2014/main" id="{1A5E0956-A8FE-40AC-8029-436A031DB941}"/>
              </a:ext>
            </a:extLst>
          </p:cNvPr>
          <p:cNvSpPr>
            <a:spLocks xmlns:a="http://schemas.openxmlformats.org/drawingml/2006/main" noGrp="1"/>
          </p:cNvSpPr>
          <p:nvPr/>
        </p:nvSpPr>
        <p:spPr>
          <a:xfrm xmlns:a="http://schemas.openxmlformats.org/drawingml/2006/main">
            <a:off x="609600" y="5334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Una sospecha que el agricultor puede revisar</a:t>
            </a:r>
          </a:p>
        </p:txBody>
      </p:sp>
      <p:sp>
        <p:nvSpPr>
          <p:cNvPr id="2" name="Foto y ubicación&#10;antes de autorizar&#10;una inter">
            <a:extLst xmlns:a="http://schemas.openxmlformats.org/drawingml/2006/main">
              <a:ext uri="{FF2B5EF4-FFF2-40B4-BE49-F238E27FC236}">
                <a16:creationId xmlns:a16="http://schemas.microsoft.com/office/drawing/2014/main" id="{906C49EA-E16E-4D8D-9299-6265EE777C5A}"/>
              </a:ext>
            </a:extLst>
          </p:cNvPr>
          <p:cNvSpPr>
            <a:spLocks xmlns:a="http://schemas.openxmlformats.org/drawingml/2006/main" noGrp="1"/>
          </p:cNvSpPr>
          <p:nvPr/>
        </p:nvSpPr>
        <p:spPr>
          <a:xfrm xmlns:a="http://schemas.openxmlformats.org/drawingml/2006/main">
            <a:off x="609600" y="1981200"/>
            <a:ext cx="600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F5F3E9"/>
                </a:solidFill>
                <a:latin typeface="Avenir Next"/>
                <a:ea typeface="Avenir Next"/>
                <a:cs typeface="Avenir Next"/>
              </a:defRPr>
            </a:defPPr>
            <a:lvl1pPr>
              <a:defRPr sz="2775" b="1">
                <a:solidFill>
                  <a:srgbClr val="F5F3E9"/>
                </a:solidFill>
                <a:latin typeface="Avenir Next"/>
                <a:ea typeface="Avenir Next"/>
                <a:cs typeface="Avenir Next"/>
              </a:defRPr>
            </a:lvl1pPr>
            <a:lvl2pPr>
              <a:defRPr sz="2775" b="1">
                <a:solidFill>
                  <a:srgbClr val="F5F3E9"/>
                </a:solidFill>
                <a:latin typeface="Avenir Next"/>
                <a:ea typeface="Avenir Next"/>
                <a:cs typeface="Avenir Next"/>
              </a:defRPr>
            </a:lvl2pPr>
            <a:lvl3pPr>
              <a:defRPr sz="2775" b="1">
                <a:solidFill>
                  <a:srgbClr val="F5F3E9"/>
                </a:solidFill>
                <a:latin typeface="Avenir Next"/>
                <a:ea typeface="Avenir Next"/>
                <a:cs typeface="Avenir Next"/>
              </a:defRPr>
            </a:lvl3pPr>
            <a:lvl4pPr>
              <a:defRPr sz="2775" b="1">
                <a:solidFill>
                  <a:srgbClr val="F5F3E9"/>
                </a:solidFill>
                <a:latin typeface="Avenir Next"/>
                <a:ea typeface="Avenir Next"/>
                <a:cs typeface="Avenir Next"/>
              </a:defRPr>
            </a:lvl4pPr>
            <a:lvl5pPr>
              <a:defRPr sz="2775" b="1">
                <a:solidFill>
                  <a:srgbClr val="F5F3E9"/>
                </a:solidFill>
                <a:latin typeface="Avenir Next"/>
                <a:ea typeface="Avenir Next"/>
                <a:cs typeface="Avenir Next"/>
              </a:defRPr>
            </a:lvl5pPr>
            <a:lvl6pPr>
              <a:defRPr sz="2775" b="1">
                <a:solidFill>
                  <a:srgbClr val="F5F3E9"/>
                </a:solidFill>
                <a:latin typeface="Avenir Next"/>
                <a:ea typeface="Avenir Next"/>
                <a:cs typeface="Avenir Next"/>
              </a:defRPr>
            </a:lvl6pPr>
            <a:lvl7pPr>
              <a:defRPr sz="2775" b="1">
                <a:solidFill>
                  <a:srgbClr val="F5F3E9"/>
                </a:solidFill>
                <a:latin typeface="Avenir Next"/>
                <a:ea typeface="Avenir Next"/>
                <a:cs typeface="Avenir Next"/>
              </a:defRPr>
            </a:lvl7pPr>
            <a:lvl8pPr>
              <a:defRPr sz="2775" b="1">
                <a:solidFill>
                  <a:srgbClr val="F5F3E9"/>
                </a:solidFill>
                <a:latin typeface="Avenir Next"/>
                <a:ea typeface="Avenir Next"/>
                <a:cs typeface="Avenir Next"/>
              </a:defRPr>
            </a:lvl8pPr>
            <a:lvl9pPr>
              <a:defRPr sz="2775" b="1">
                <a:solidFill>
                  <a:srgbClr val="F5F3E9"/>
                </a:solidFill>
                <a:latin typeface="Avenir Next"/>
                <a:ea typeface="Avenir Next"/>
                <a:cs typeface="Avenir Next"/>
              </a:defRPr>
            </a:lvl9pPr>
          </a:lstStyle>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Foto y ubicación</a:t>
            </a:r>
          </a:p>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antes de autorizar</a:t>
            </a:r>
          </a:p>
          <a:p xmlns:a="http://schemas.openxmlformats.org/drawingml/2006/main">
            <a:pPr>
              <a:defRPr sz="2775" b="1">
                <a:solidFill>
                  <a:srgbClr val="F5F3E9"/>
                </a:solidFill>
                <a:latin typeface="Avenir Next"/>
                <a:ea typeface="Avenir Next"/>
                <a:cs typeface="Avenir Next"/>
              </a:defRPr>
            </a:pPr>
            <a:r>
              <a:rPr sz="2775" b="1">
                <a:solidFill>
                  <a:srgbClr val="F5F3E9"/>
                </a:solidFill>
                <a:latin typeface="Avenir Next"/>
                <a:ea typeface="Avenir Next"/>
                <a:cs typeface="Avenir Next"/>
              </a:rPr>
              <a:t>una intervención</a:t>
            </a:r>
          </a:p>
        </p:txBody>
      </p:sp>
      <p:sp>
        <p:nvSpPr>
          <p:cNvPr id="3" name="Objetivo del piloto en campo">
            <a:extLst xmlns:a="http://schemas.openxmlformats.org/drawingml/2006/main">
              <a:ext uri="{FF2B5EF4-FFF2-40B4-BE49-F238E27FC236}">
                <a16:creationId xmlns:a16="http://schemas.microsoft.com/office/drawing/2014/main" id="{3B5B0147-D8FE-463D-8617-082CBC059DA0}"/>
              </a:ext>
            </a:extLst>
          </p:cNvPr>
          <p:cNvSpPr>
            <a:spLocks xmlns:a="http://schemas.openxmlformats.org/drawingml/2006/main" noGrp="1"/>
          </p:cNvSpPr>
          <p:nvPr/>
        </p:nvSpPr>
        <p:spPr>
          <a:xfrm xmlns:a="http://schemas.openxmlformats.org/drawingml/2006/main">
            <a:off x="609600" y="401955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D5E4AD"/>
                </a:solidFill>
                <a:latin typeface="Avenir Next"/>
                <a:ea typeface="Avenir Next"/>
                <a:cs typeface="Avenir Next"/>
              </a:defRPr>
            </a:defPPr>
            <a:lvl1pPr>
              <a:defRPr sz="2100" b="1">
                <a:solidFill>
                  <a:srgbClr val="D5E4AD"/>
                </a:solidFill>
                <a:latin typeface="Avenir Next"/>
                <a:ea typeface="Avenir Next"/>
                <a:cs typeface="Avenir Next"/>
              </a:defRPr>
            </a:lvl1pPr>
            <a:lvl2pPr>
              <a:defRPr sz="2100" b="1">
                <a:solidFill>
                  <a:srgbClr val="D5E4AD"/>
                </a:solidFill>
                <a:latin typeface="Avenir Next"/>
                <a:ea typeface="Avenir Next"/>
                <a:cs typeface="Avenir Next"/>
              </a:defRPr>
            </a:lvl2pPr>
            <a:lvl3pPr>
              <a:defRPr sz="2100" b="1">
                <a:solidFill>
                  <a:srgbClr val="D5E4AD"/>
                </a:solidFill>
                <a:latin typeface="Avenir Next"/>
                <a:ea typeface="Avenir Next"/>
                <a:cs typeface="Avenir Next"/>
              </a:defRPr>
            </a:lvl3pPr>
            <a:lvl4pPr>
              <a:defRPr sz="2100" b="1">
                <a:solidFill>
                  <a:srgbClr val="D5E4AD"/>
                </a:solidFill>
                <a:latin typeface="Avenir Next"/>
                <a:ea typeface="Avenir Next"/>
                <a:cs typeface="Avenir Next"/>
              </a:defRPr>
            </a:lvl4pPr>
            <a:lvl5pPr>
              <a:defRPr sz="2100" b="1">
                <a:solidFill>
                  <a:srgbClr val="D5E4AD"/>
                </a:solidFill>
                <a:latin typeface="Avenir Next"/>
                <a:ea typeface="Avenir Next"/>
                <a:cs typeface="Avenir Next"/>
              </a:defRPr>
            </a:lvl5pPr>
            <a:lvl6pPr>
              <a:defRPr sz="2100" b="1">
                <a:solidFill>
                  <a:srgbClr val="D5E4AD"/>
                </a:solidFill>
                <a:latin typeface="Avenir Next"/>
                <a:ea typeface="Avenir Next"/>
                <a:cs typeface="Avenir Next"/>
              </a:defRPr>
            </a:lvl6pPr>
            <a:lvl7pPr>
              <a:defRPr sz="2100" b="1">
                <a:solidFill>
                  <a:srgbClr val="D5E4AD"/>
                </a:solidFill>
                <a:latin typeface="Avenir Next"/>
                <a:ea typeface="Avenir Next"/>
                <a:cs typeface="Avenir Next"/>
              </a:defRPr>
            </a:lvl7pPr>
            <a:lvl8pPr>
              <a:defRPr sz="2100" b="1">
                <a:solidFill>
                  <a:srgbClr val="D5E4AD"/>
                </a:solidFill>
                <a:latin typeface="Avenir Next"/>
                <a:ea typeface="Avenir Next"/>
                <a:cs typeface="Avenir Next"/>
              </a:defRPr>
            </a:lvl8pPr>
            <a:lvl9pPr>
              <a:defRPr sz="2100" b="1">
                <a:solidFill>
                  <a:srgbClr val="D5E4AD"/>
                </a:solidFill>
                <a:latin typeface="Avenir Next"/>
                <a:ea typeface="Avenir Next"/>
                <a:cs typeface="Avenir Next"/>
              </a:defRPr>
            </a:lvl9pPr>
          </a:lstStyle>
          <a:p xmlns:a="http://schemas.openxmlformats.org/drawingml/2006/main">
            <a:pPr>
              <a:defRPr sz="2100" b="1">
                <a:solidFill>
                  <a:srgbClr val="D5E4AD"/>
                </a:solidFill>
                <a:latin typeface="Avenir Next"/>
                <a:ea typeface="Avenir Next"/>
                <a:cs typeface="Avenir Next"/>
              </a:defRPr>
            </a:pPr>
            <a:r>
              <a:rPr sz="2100" b="1">
                <a:solidFill>
                  <a:srgbClr val="D5E4AD"/>
                </a:solidFill>
                <a:latin typeface="Avenir Next"/>
                <a:ea typeface="Avenir Next"/>
                <a:cs typeface="Avenir Next"/>
              </a:rPr>
              <a:t>Objetivo del piloto en campo</a:t>
            </a:r>
          </a:p>
        </p:txBody>
      </p:sp>
      <p:sp>
        <p:nvSpPr>
          <p:cNvPr id="4" name="Comparar kilos comercializables,&#10;horas de ins">
            <a:extLst xmlns:a="http://schemas.openxmlformats.org/drawingml/2006/main">
              <a:ext uri="{FF2B5EF4-FFF2-40B4-BE49-F238E27FC236}">
                <a16:creationId xmlns:a16="http://schemas.microsoft.com/office/drawing/2014/main" id="{E32762CC-C966-4763-867B-9D23E5B0A8A2}"/>
              </a:ext>
            </a:extLst>
          </p:cNvPr>
          <p:cNvSpPr>
            <a:spLocks xmlns:a="http://schemas.openxmlformats.org/drawingml/2006/main" noGrp="1"/>
          </p:cNvSpPr>
          <p:nvPr/>
        </p:nvSpPr>
        <p:spPr>
          <a:xfrm xmlns:a="http://schemas.openxmlformats.org/drawingml/2006/main">
            <a:off x="609600" y="4600575"/>
            <a:ext cx="609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3E9"/>
                </a:solidFill>
                <a:latin typeface="Avenir Next"/>
                <a:ea typeface="Avenir Next"/>
                <a:cs typeface="Avenir Next"/>
              </a:defRPr>
            </a:defPPr>
            <a:lvl1pPr>
              <a:defRPr sz="2025" b="0">
                <a:solidFill>
                  <a:srgbClr val="F5F3E9"/>
                </a:solidFill>
                <a:latin typeface="Avenir Next"/>
                <a:ea typeface="Avenir Next"/>
                <a:cs typeface="Avenir Next"/>
              </a:defRPr>
            </a:lvl1pPr>
            <a:lvl2pPr>
              <a:defRPr sz="2025" b="0">
                <a:solidFill>
                  <a:srgbClr val="F5F3E9"/>
                </a:solidFill>
                <a:latin typeface="Avenir Next"/>
                <a:ea typeface="Avenir Next"/>
                <a:cs typeface="Avenir Next"/>
              </a:defRPr>
            </a:lvl2pPr>
            <a:lvl3pPr>
              <a:defRPr sz="2025" b="0">
                <a:solidFill>
                  <a:srgbClr val="F5F3E9"/>
                </a:solidFill>
                <a:latin typeface="Avenir Next"/>
                <a:ea typeface="Avenir Next"/>
                <a:cs typeface="Avenir Next"/>
              </a:defRPr>
            </a:lvl3pPr>
            <a:lvl4pPr>
              <a:defRPr sz="2025" b="0">
                <a:solidFill>
                  <a:srgbClr val="F5F3E9"/>
                </a:solidFill>
                <a:latin typeface="Avenir Next"/>
                <a:ea typeface="Avenir Next"/>
                <a:cs typeface="Avenir Next"/>
              </a:defRPr>
            </a:lvl4pPr>
            <a:lvl5pPr>
              <a:defRPr sz="2025" b="0">
                <a:solidFill>
                  <a:srgbClr val="F5F3E9"/>
                </a:solidFill>
                <a:latin typeface="Avenir Next"/>
                <a:ea typeface="Avenir Next"/>
                <a:cs typeface="Avenir Next"/>
              </a:defRPr>
            </a:lvl5pPr>
            <a:lvl6pPr>
              <a:defRPr sz="2025" b="0">
                <a:solidFill>
                  <a:srgbClr val="F5F3E9"/>
                </a:solidFill>
                <a:latin typeface="Avenir Next"/>
                <a:ea typeface="Avenir Next"/>
                <a:cs typeface="Avenir Next"/>
              </a:defRPr>
            </a:lvl6pPr>
            <a:lvl7pPr>
              <a:defRPr sz="2025" b="0">
                <a:solidFill>
                  <a:srgbClr val="F5F3E9"/>
                </a:solidFill>
                <a:latin typeface="Avenir Next"/>
                <a:ea typeface="Avenir Next"/>
                <a:cs typeface="Avenir Next"/>
              </a:defRPr>
            </a:lvl7pPr>
            <a:lvl8pPr>
              <a:defRPr sz="2025" b="0">
                <a:solidFill>
                  <a:srgbClr val="F5F3E9"/>
                </a:solidFill>
                <a:latin typeface="Avenir Next"/>
                <a:ea typeface="Avenir Next"/>
                <a:cs typeface="Avenir Next"/>
              </a:defRPr>
            </a:lvl8pPr>
            <a:lvl9pPr>
              <a:defRPr sz="2025" b="0">
                <a:solidFill>
                  <a:srgbClr val="F5F3E9"/>
                </a:solidFill>
                <a:latin typeface="Avenir Next"/>
                <a:ea typeface="Avenir Next"/>
                <a:cs typeface="Avenir Next"/>
              </a:defRPr>
            </a:lvl9pPr>
          </a:lstStyle>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Comparar kilos comercializables,</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horas de inspección y costo</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de operar el servicio.</a:t>
            </a:r>
          </a:p>
        </p:txBody>
      </p:sp>
      <p:sp>
        <p:nvSpPr>
          <p:cNvPr id="5" name="El piloto debe comprobar si el valor recupera">
            <a:extLst xmlns:a="http://schemas.openxmlformats.org/drawingml/2006/main">
              <a:ext uri="{FF2B5EF4-FFF2-40B4-BE49-F238E27FC236}">
                <a16:creationId xmlns:a16="http://schemas.microsoft.com/office/drawing/2014/main" id="{61F00396-5E24-4B2D-A6E0-5786A69A4E7E}"/>
              </a:ext>
            </a:extLst>
          </p:cNvPr>
          <p:cNvSpPr>
            <a:spLocks xmlns:a="http://schemas.openxmlformats.org/drawingml/2006/main" noGrp="1"/>
          </p:cNvSpPr>
          <p:nvPr/>
        </p:nvSpPr>
        <p:spPr>
          <a:xfrm xmlns:a="http://schemas.openxmlformats.org/drawingml/2006/main">
            <a:off x="609600" y="6076950"/>
            <a:ext cx="666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El piloto debe comprobar si el valor recuperado supera el costo.</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Ahorro e impacto en campo pendientes de medir.</a:t>
            </a:r>
          </a:p>
        </p:txBody>
      </p:sp>
      <p:pic>
        <p:nvPicPr>
          <p:cNvPr id="6" name="">
            <a:extLst xmlns:a="http://schemas.openxmlformats.org/drawingml/2006/main">
              <a:ext uri="{FF2B5EF4-FFF2-40B4-BE49-F238E27FC236}">
                <a16:creationId xmlns:a16="http://schemas.microsoft.com/office/drawing/2014/main" id="{0CDAA530-1182-47E0-9380-096812615D6E}"/>
              </a:ext>
            </a:extLst>
          </p:cNvPr>
          <p:cNvPicPr>
            <a:picLocks xmlns:a="http://schemas.openxmlformats.org/drawingml/2006/main" noChangeAspect="1"/>
          </p:cNvPicPr>
          <p:nvPr/>
        </p:nvPicPr>
        <p:blipFill>
          <a:blip xmlns:r="http://schemas.openxmlformats.org/officeDocument/2006/relationships" xmlns:a="http://schemas.openxmlformats.org/drawingml/2006/main" r:embed="R75d35da3b2b84776"/>
          <a:stretch xmlns:a="http://schemas.openxmlformats.org/drawingml/2006/main"/>
        </p:blipFill>
        <p:spPr>
          <a:xfrm xmlns:a="http://schemas.openxmlformats.org/drawingml/2006/main">
            <a:off x="7867650" y="1640380"/>
            <a:ext cx="3286125" cy="4596415"/>
          </a:xfrm>
          <a:prstGeom xmlns:a="http://schemas.openxmlformats.org/drawingml/2006/main" prst="rect">
            <a:avLst/>
          </a:prstGeom>
        </p:spPr>
      </p:pic>
    </p:spTree>
    <p:extLst>
      <p:ext uri="{BB962C8B-B14F-4D97-AF65-F5344CB8AC3E}">
        <p14:creationId xmlns:p14="http://schemas.microsoft.com/office/powerpoint/2010/main" val="1489994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2026-10-18T13:13:00.5530000Z</dcterms:created>
  <dcterms:modified xsi:type="dcterms:W3CDTF">2026-10-18T13:13:00.5530000Z</dcterms:modified>
</coreProperties>
</file>