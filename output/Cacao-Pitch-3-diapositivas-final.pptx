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ee09ffd3aa414f" /><Relationship Type="http://schemas.openxmlformats.org/officeDocument/2006/relationships/extended-properties" Target="/docProps/app.xml" Id="R2a3fd99234fa4401" /><Relationship Type="http://schemas.openxmlformats.org/officeDocument/2006/relationships/officeDocument" Target="/ppt/presentation.xml" Id="R907d2152572a4e71" /></Relationships>
</file>

<file path=ppt/presentation.xml><?xml version="1.0" encoding="utf-8"?>
<p:presentation xmlns:p="http://schemas.openxmlformats.org/presentationml/2006/main">
  <p:sldMasterIdLst>
    <p:sldMasterId xmlns:r="http://schemas.openxmlformats.org/officeDocument/2006/relationships" id="2147483648" r:id="R9c3e24deb5f34cb6"/>
  </p:sldMasterIdLst>
  <p:notesMasterIdLst>
    <p:notesMasterId xmlns:r="http://schemas.openxmlformats.org/officeDocument/2006/relationships" r:id="R66518921375644bf"/>
  </p:notesMasterIdLst>
  <p:sldIdLst>
    <p:sldId xmlns:r="http://schemas.openxmlformats.org/officeDocument/2006/relationships" id="256" r:id="R14b5eb304fde4734"/>
    <p:sldId xmlns:r="http://schemas.openxmlformats.org/officeDocument/2006/relationships" id="257" r:id="R213916a06f33493a"/>
    <p:sldId xmlns:r="http://schemas.openxmlformats.org/officeDocument/2006/relationships" id="258" r:id="R5ee1cb4200054cb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96e727c6904093" /><Relationship Type="http://schemas.openxmlformats.org/officeDocument/2006/relationships/slideMaster" Target="/ppt/slideMasters/slideMaster1.xml" Id="R9c3e24deb5f34cb6" /><Relationship Type="http://schemas.openxmlformats.org/officeDocument/2006/relationships/notesMaster" Target="/ppt/notesMasters/notesMaster1.xml" Id="R66518921375644bf" /><Relationship Type="http://schemas.openxmlformats.org/officeDocument/2006/relationships/presProps" Target="/ppt/presProps.xml" Id="Rb44c4126ceb64e07" /><Relationship Type="http://schemas.openxmlformats.org/officeDocument/2006/relationships/tableStyles" Target="/ppt/tableStyles.xml" Id="R6a6c00e8e41145c2" /><Relationship Type="http://schemas.openxmlformats.org/officeDocument/2006/relationships/slide" Target="/ppt/slides/slide1.xml" Id="R14b5eb304fde4734" /><Relationship Type="http://schemas.openxmlformats.org/officeDocument/2006/relationships/slide" Target="/ppt/slides/slide2.xml" Id="R213916a06f33493a" /><Relationship Type="http://schemas.openxmlformats.org/officeDocument/2006/relationships/slide" Target="/ppt/slides/slide3.xml" Id="R5ee1cb4200054c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34ca2b288346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9270481db94c0e" /><Relationship Type="http://schemas.openxmlformats.org/officeDocument/2006/relationships/notesMaster" Target="/ppt/notesMasters/notesMaster1.xml" Id="Rb3f8a16b70c146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451d83ded247bd" /><Relationship Type="http://schemas.openxmlformats.org/officeDocument/2006/relationships/notesMaster" Target="/ppt/notesMasters/notesMaster1.xml" Id="R3d914f78319b47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0910f359c443e6" /><Relationship Type="http://schemas.openxmlformats.org/officeDocument/2006/relationships/notesMaster" Target="/ppt/notesMasters/notesMaster1.xml" Id="R0e2dbced9b884f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0:00–0:40. Historia real proporcionada por Kevin: a partir del track Clima y Territorio investigó problemas agrícolas, se interesó por el cacao como cultivo importante y por cómo El Niño puede agravar riesgos. No se inventan entrevistas, visitas ni contacto previo con productores. La oportunidad propuesta es apoyar la detección y localización de frutos sospechosos para facilitar el manejo, no afirmar que no existe solución. Ya existen prácticas agronómicas de manejo integrado. La moniliasis es la enfermedad causada por el hongo Moniliophthora roreri y afecta a las mazorcas, cuyos granos se aprovechan para producir chocolate. Sus esporas pueden alcanzar otros frutos. SENASA: https://repositorio.senasa.gob.pe/items/de2bff13-0641-4050-a147-05e963efe8a4 . SENAMHI advirtió en julio de 2026 que mayor humedad puede favorecer la moniliasis: https://www.gob.pe/institucion/senamhi/noticias/1408538-condiciones-agrometeorologicas-influirian-en-cultivos-y-crianzas-en-costa-sierra-centro-y-selva-sur . El Niño altera condiciones climáticas y sus efectos sobre cacao dependen de región y estación. No se afirma que cause la enfermedad ni aumente siempre su incidencia, ni se atribuyen pérdidas actuales a un evento sin medición. Referencia de riesgo agroclimático 2023: https://www.senamhi.gob.pe/load/file/02966SENA-1.pdf . Track oficial: https://hacktheandes.com/guide incluye agricultura y alertas de plagas. PRODUCE informa US$1619 millones de exportaciones peruanas de cacao y derivados en 2025, publicados 17 julio 2026: https://www.gob.pe/institucion/produce/noticias/1420398-cadena-del-cacao-genero-mas-de-1-3-millones-de-empleos-y-alcanzo-una-produccion-de-mas-de-172-mil-toneladas-en-2025 . Es valor exportado, no ingreso en chacra, pérdida por moniliasis, mercado disponible íntegro ni ahorro del producto. INIA documenta un rango de pérdidas del 30 al 80% en un plegable de noviembre de 2011: https://pgc-snia.inia.gob.pe/server/api/core/bitstreams/388ed816-590d-47f4-ae22-d728d046f71a/content . Rango histórico de producción, no media actual ni tasa aplicable a todas las exportaciones. No multiplicar ese porcentaje por el valor exportado como estimación de daño nacional. Foto real de prueba ID017fa25b2cde2609b042a85e, etiqueta a nivel de imagen del dataset, sin diagnóstico nuestro de laboratorio. Fuente y licencia CC BY 4.0: https://data.mendeley.com/datasets/ykbtpsyfv9/1.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 Entrenamos YOLO11s con 1655 fotografías originales y 1655 variantes de luz/desenfoque, además de 278 fotos de validación, durante 40 épocas en RTX 4060. Clases sano, Monilia y Phytophthora. Entrenamiento: CocoaMoniliaDataSet y Serrano/Torres para desarrollo. La muestra Mendeley se mantuvo fuera del entrenamiento y selección de umbral: 399 fotos tras una exclusión por similitud, 200 positivas y 199 negativas. 191 verdaderos positivos, 8 falsas alarmas y 9 omisiones por imagen. La muestra no representa prevalencia real y sus fondos correlacionan con la etiqueta. No hay cajas GT para verificar localización en esta prueba. En regresión por mazorca hubo alertas en 29/80 sanas, precisión 82.7% y recall 82.2%. La intervención debe seguir siendo revisable. La imagen muestra una predicción ya registrada, no una caja inventada: ID 01ce25730c159d83f2abeeab, clase 1, puntuación 0.8171383, umbral 0.74. Recorte fiel de research/cacao-improvement/evidence/prediction-pairs.png. El ejemplo forma parte de una muestra por ID, sin selección por acierto. Fuentes: research/cacao-improvement/artifacts/model-card.json; REPORT.md; evidence/benchmark-v1/benchmarks/new_image_test/detector_v2/predictions/test_clean.jsonl y evaluation.json. Fuente de fotografía: https://data.mendeley.com/datasets/ykbtpsyfv9/1,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1:00–1:20 y demo 1:20–2:20. La simulación permite ejercitar un recorrido integrado sin contar todavía con un robot físico validado. La cámara virtual renderiza el escenario y el navegador envía un JPEG sin cajas ni interfaz al servidor. El mismo checkpoint YOLO11s entrenado hace inferencia real en la RTX 4060 y devuelve clases, puntuaciones y cajas. No recibe las etiquetas sanitarias del mundo. Después, un módulo distinto usa la geometría y pose conocidas para asociar la caja a una mazorca visible. Esa localización no es SLAM ni profundidad aprendida. Las mazorcas son objetos 3D con texturas derivadas de recortes reales de entrenamiento que se reutilizan. Por ello, esta escena no es una nueva prueba independiente del detector. El entorno incluye física, consumo, reserva y retorno, todavía con aproximaciones sin calibración de hardware comercial. Mostrar brevemente la cámara, el estado del modelo y pasar al buzón. Evitar gastar el tiempo recorriendo el bosque sin explicar la tarea. Fuentes: simulator/ORCHARD.md, simulator/assets/CREDITS.md, simulator/assets/pods/provenance.json, simulator/orchard_server.py y simulator/ui/orchard/main.js. Imagen: simulator/evidence/visibility-corrected-frame.jpg.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4047e5e80941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edd18cb71bd41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830397adce43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dcea06807d4f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a9b80af140a4e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1bf76db98ba41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8BE460-9B5E-4F6C-93FF-CD9E8B9F21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A35E09-9472-45B8-B3E0-C2914CEE40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55166A-7202-46AD-BF62-20DFEE71B1C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9C4E62-75AA-42A7-BDDD-E25705FB52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4580B6-6540-4562-AEA8-2E3350B5862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11BEDE-3862-49D7-886F-931A61FA8E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B1E2BB-27A2-4E6F-8A3A-554617D5ED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C32912-6182-4C23-AB44-A6EF0709AAB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F4C5CE-240E-4DD5-929C-4CE05F1979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E6C3BA-56A3-40C3-B971-F2219976FC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9b3c3f118f46fc" /><Relationship Type="http://schemas.openxmlformats.org/officeDocument/2006/relationships/slideLayout" Target="/ppt/slideLayouts/slideLayout1.xml" Id="R9008c745a0b34ae4" /><Relationship Type="http://schemas.openxmlformats.org/officeDocument/2006/relationships/slideLayout" Target="/ppt/slideLayouts/slideLayout2.xml" Id="R79fc189faf2842d2" /><Relationship Type="http://schemas.openxmlformats.org/officeDocument/2006/relationships/slideLayout" Target="/ppt/slideLayouts/slideLayout3.xml" Id="R46e421b1e0eb48fd" /><Relationship Type="http://schemas.openxmlformats.org/officeDocument/2006/relationships/slideLayout" Target="/ppt/slideLayouts/slideLayout4.xml" Id="Rb5247807354e4bdc" /><Relationship Type="http://schemas.openxmlformats.org/officeDocument/2006/relationships/slideLayout" Target="/ppt/slideLayouts/slideLayout5.xml" Id="R3c859e8d0d394cf1" /><Relationship Type="http://schemas.openxmlformats.org/officeDocument/2006/relationships/slideLayout" Target="/ppt/slideLayouts/slideLayout6.xml" Id="Ra0f126c1708a44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08c745a0b34ae4"/>
    <p:sldLayoutId xmlns:r="http://schemas.openxmlformats.org/officeDocument/2006/relationships" id="2147483650" r:id="R79fc189faf2842d2"/>
    <p:sldLayoutId xmlns:r="http://schemas.openxmlformats.org/officeDocument/2006/relationships" id="2147483651" r:id="R46e421b1e0eb48fd"/>
    <p:sldLayoutId xmlns:r="http://schemas.openxmlformats.org/officeDocument/2006/relationships" id="2147483652" r:id="Rb5247807354e4bdc"/>
    <p:sldLayoutId xmlns:r="http://schemas.openxmlformats.org/officeDocument/2006/relationships" id="2147483653" r:id="R3c859e8d0d394cf1"/>
    <p:sldLayoutId xmlns:r="http://schemas.openxmlformats.org/officeDocument/2006/relationships" id="2147483654" r:id="Ra0f126c1708a44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0128ff2f554203" /><Relationship Type="http://schemas.openxmlformats.org/officeDocument/2006/relationships/image" Target="/ppt/media/image.jpeg" Id="R3b9e22d667ca41b5" /><Relationship Type="http://schemas.openxmlformats.org/officeDocument/2006/relationships/notesSlide" Target="/ppt/notesSlides/notesSlide1.xml" Id="Rb4073b43bb924d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eaec78e076f465d" /><Relationship Type="http://schemas.openxmlformats.org/officeDocument/2006/relationships/image" Target="/ppt/media/image.png" Id="R9f7b0908f1d54bad" /><Relationship Type="http://schemas.openxmlformats.org/officeDocument/2006/relationships/notesSlide" Target="/ppt/notesSlides/notesSlide2.xml" Id="Rab808627ca0542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6cc15e8efa4a90" /><Relationship Type="http://schemas.openxmlformats.org/officeDocument/2006/relationships/image" Target="/ppt/media/image2.jpeg" Id="R7606a8ba800541a2" /><Relationship Type="http://schemas.openxmlformats.org/officeDocument/2006/relationships/notesSlide" Target="/ppt/notesSlides/notesSlide3.xml" Id="R0f043d7503b24156" /></Relationships>
</file>

<file path=ppt/slides/slide1.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10" name="Moniliasis: una enfermedad del cacao">
            <a:extLst xmlns:a="http://schemas.openxmlformats.org/drawingml/2006/main">
              <a:ext uri="{FF2B5EF4-FFF2-40B4-BE49-F238E27FC236}">
                <a16:creationId xmlns:a16="http://schemas.microsoft.com/office/drawing/2014/main" id="{EBC2E23E-4982-4218-99B7-AAA7A81777A6}"/>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5F3E9"/>
                </a:solidFill>
                <a:latin typeface="Avenir Next"/>
                <a:ea typeface="Avenir Next"/>
                <a:cs typeface="Avenir Next"/>
              </a:defRPr>
            </a:defPPr>
            <a:lvl1pPr>
              <a:defRPr sz="3375" b="1">
                <a:solidFill>
                  <a:srgbClr val="F5F3E9"/>
                </a:solidFill>
                <a:latin typeface="Avenir Next"/>
                <a:ea typeface="Avenir Next"/>
                <a:cs typeface="Avenir Next"/>
              </a:defRPr>
            </a:lvl1pPr>
            <a:lvl2pPr>
              <a:defRPr sz="3375" b="1">
                <a:solidFill>
                  <a:srgbClr val="F5F3E9"/>
                </a:solidFill>
                <a:latin typeface="Avenir Next"/>
                <a:ea typeface="Avenir Next"/>
                <a:cs typeface="Avenir Next"/>
              </a:defRPr>
            </a:lvl2pPr>
            <a:lvl3pPr>
              <a:defRPr sz="3375" b="1">
                <a:solidFill>
                  <a:srgbClr val="F5F3E9"/>
                </a:solidFill>
                <a:latin typeface="Avenir Next"/>
                <a:ea typeface="Avenir Next"/>
                <a:cs typeface="Avenir Next"/>
              </a:defRPr>
            </a:lvl3pPr>
            <a:lvl4pPr>
              <a:defRPr sz="3375" b="1">
                <a:solidFill>
                  <a:srgbClr val="F5F3E9"/>
                </a:solidFill>
                <a:latin typeface="Avenir Next"/>
                <a:ea typeface="Avenir Next"/>
                <a:cs typeface="Avenir Next"/>
              </a:defRPr>
            </a:lvl4pPr>
            <a:lvl5pPr>
              <a:defRPr sz="3375" b="1">
                <a:solidFill>
                  <a:srgbClr val="F5F3E9"/>
                </a:solidFill>
                <a:latin typeface="Avenir Next"/>
                <a:ea typeface="Avenir Next"/>
                <a:cs typeface="Avenir Next"/>
              </a:defRPr>
            </a:lvl5pPr>
            <a:lvl6pPr>
              <a:defRPr sz="3375" b="1">
                <a:solidFill>
                  <a:srgbClr val="F5F3E9"/>
                </a:solidFill>
                <a:latin typeface="Avenir Next"/>
                <a:ea typeface="Avenir Next"/>
                <a:cs typeface="Avenir Next"/>
              </a:defRPr>
            </a:lvl6pPr>
            <a:lvl7pPr>
              <a:defRPr sz="3375" b="1">
                <a:solidFill>
                  <a:srgbClr val="F5F3E9"/>
                </a:solidFill>
                <a:latin typeface="Avenir Next"/>
                <a:ea typeface="Avenir Next"/>
                <a:cs typeface="Avenir Next"/>
              </a:defRPr>
            </a:lvl7pPr>
            <a:lvl8pPr>
              <a:defRPr sz="3375" b="1">
                <a:solidFill>
                  <a:srgbClr val="F5F3E9"/>
                </a:solidFill>
                <a:latin typeface="Avenir Next"/>
                <a:ea typeface="Avenir Next"/>
                <a:cs typeface="Avenir Next"/>
              </a:defRPr>
            </a:lvl8pPr>
            <a:lvl9pPr>
              <a:defRPr sz="3375" b="1">
                <a:solidFill>
                  <a:srgbClr val="F5F3E9"/>
                </a:solidFill>
                <a:latin typeface="Avenir Next"/>
                <a:ea typeface="Avenir Next"/>
                <a:cs typeface="Avenir Next"/>
              </a:defRPr>
            </a:lvl9pPr>
          </a:lstStyle>
          <a:p xmlns:a="http://schemas.openxmlformats.org/drawingml/2006/main">
            <a:pPr>
              <a:defRPr sz="3375" b="1">
                <a:solidFill>
                  <a:srgbClr val="F5F3E9"/>
                </a:solidFill>
                <a:latin typeface="Avenir Next"/>
                <a:ea typeface="Avenir Next"/>
                <a:cs typeface="Avenir Next"/>
              </a:defRPr>
            </a:pPr>
            <a:r>
              <a:rPr sz="3375" b="1">
                <a:solidFill>
                  <a:srgbClr val="F5F3E9"/>
                </a:solidFill>
                <a:latin typeface="Avenir Next"/>
                <a:ea typeface="Avenir Next"/>
                <a:cs typeface="Avenir Next"/>
              </a:rPr>
              <a:t>Moniliasis: una enfermedad del cacao</a:t>
            </a:r>
          </a:p>
        </p:txBody>
      </p:sp>
      <p:sp>
        <p:nvSpPr>
          <p:cNvPr id="2" name="Investigué riesgos agrícolas frente a El Niño">
            <a:extLst xmlns:a="http://schemas.openxmlformats.org/drawingml/2006/main">
              <a:ext uri="{FF2B5EF4-FFF2-40B4-BE49-F238E27FC236}">
                <a16:creationId xmlns:a16="http://schemas.microsoft.com/office/drawing/2014/main" id="{BA4549DA-814C-4826-9364-695421D6C097}"/>
              </a:ext>
            </a:extLst>
          </p:cNvPr>
          <p:cNvSpPr>
            <a:spLocks xmlns:a="http://schemas.openxmlformats.org/drawingml/2006/main" noGrp="1"/>
          </p:cNvSpPr>
          <p:nvPr/>
        </p:nvSpPr>
        <p:spPr>
          <a:xfrm xmlns:a="http://schemas.openxmlformats.org/drawingml/2006/main">
            <a:off x="609600" y="1676400"/>
            <a:ext cx="714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D5E4AD"/>
                </a:solidFill>
                <a:latin typeface="Avenir Next"/>
                <a:ea typeface="Avenir Next"/>
                <a:cs typeface="Avenir Next"/>
              </a:defRPr>
            </a:defPPr>
            <a:lvl1pPr>
              <a:defRPr sz="2175" b="1">
                <a:solidFill>
                  <a:srgbClr val="D5E4AD"/>
                </a:solidFill>
                <a:latin typeface="Avenir Next"/>
                <a:ea typeface="Avenir Next"/>
                <a:cs typeface="Avenir Next"/>
              </a:defRPr>
            </a:lvl1pPr>
            <a:lvl2pPr>
              <a:defRPr sz="2175" b="1">
                <a:solidFill>
                  <a:srgbClr val="D5E4AD"/>
                </a:solidFill>
                <a:latin typeface="Avenir Next"/>
                <a:ea typeface="Avenir Next"/>
                <a:cs typeface="Avenir Next"/>
              </a:defRPr>
            </a:lvl2pPr>
            <a:lvl3pPr>
              <a:defRPr sz="2175" b="1">
                <a:solidFill>
                  <a:srgbClr val="D5E4AD"/>
                </a:solidFill>
                <a:latin typeface="Avenir Next"/>
                <a:ea typeface="Avenir Next"/>
                <a:cs typeface="Avenir Next"/>
              </a:defRPr>
            </a:lvl3pPr>
            <a:lvl4pPr>
              <a:defRPr sz="2175" b="1">
                <a:solidFill>
                  <a:srgbClr val="D5E4AD"/>
                </a:solidFill>
                <a:latin typeface="Avenir Next"/>
                <a:ea typeface="Avenir Next"/>
                <a:cs typeface="Avenir Next"/>
              </a:defRPr>
            </a:lvl4pPr>
            <a:lvl5pPr>
              <a:defRPr sz="2175" b="1">
                <a:solidFill>
                  <a:srgbClr val="D5E4AD"/>
                </a:solidFill>
                <a:latin typeface="Avenir Next"/>
                <a:ea typeface="Avenir Next"/>
                <a:cs typeface="Avenir Next"/>
              </a:defRPr>
            </a:lvl5pPr>
            <a:lvl6pPr>
              <a:defRPr sz="2175" b="1">
                <a:solidFill>
                  <a:srgbClr val="D5E4AD"/>
                </a:solidFill>
                <a:latin typeface="Avenir Next"/>
                <a:ea typeface="Avenir Next"/>
                <a:cs typeface="Avenir Next"/>
              </a:defRPr>
            </a:lvl6pPr>
            <a:lvl7pPr>
              <a:defRPr sz="2175" b="1">
                <a:solidFill>
                  <a:srgbClr val="D5E4AD"/>
                </a:solidFill>
                <a:latin typeface="Avenir Next"/>
                <a:ea typeface="Avenir Next"/>
                <a:cs typeface="Avenir Next"/>
              </a:defRPr>
            </a:lvl7pPr>
            <a:lvl8pPr>
              <a:defRPr sz="2175" b="1">
                <a:solidFill>
                  <a:srgbClr val="D5E4AD"/>
                </a:solidFill>
                <a:latin typeface="Avenir Next"/>
                <a:ea typeface="Avenir Next"/>
                <a:cs typeface="Avenir Next"/>
              </a:defRPr>
            </a:lvl8pPr>
            <a:lvl9pPr>
              <a:defRPr sz="2175" b="1">
                <a:solidFill>
                  <a:srgbClr val="D5E4AD"/>
                </a:solidFill>
                <a:latin typeface="Avenir Next"/>
                <a:ea typeface="Avenir Next"/>
                <a:cs typeface="Avenir Next"/>
              </a:defRPr>
            </a:lvl9pPr>
          </a:lstStyle>
          <a:p xmlns:a="http://schemas.openxmlformats.org/drawingml/2006/main">
            <a:pPr>
              <a:defRPr sz="2175" b="1">
                <a:solidFill>
                  <a:srgbClr val="D5E4AD"/>
                </a:solidFill>
                <a:latin typeface="Avenir Next"/>
                <a:ea typeface="Avenir Next"/>
                <a:cs typeface="Avenir Next"/>
              </a:defRPr>
            </a:pPr>
            <a:r>
              <a:rPr sz="2175" b="1">
                <a:solidFill>
                  <a:srgbClr val="D5E4AD"/>
                </a:solidFill>
                <a:latin typeface="Avenir Next"/>
                <a:ea typeface="Avenir Next"/>
                <a:cs typeface="Avenir Next"/>
              </a:rPr>
              <a:t>Investigué riesgos agrícolas frente a El Niño</a:t>
            </a:r>
          </a:p>
          <a:p xmlns:a="http://schemas.openxmlformats.org/drawingml/2006/main">
            <a:pPr>
              <a:defRPr sz="2175" b="1">
                <a:solidFill>
                  <a:srgbClr val="D5E4AD"/>
                </a:solidFill>
                <a:latin typeface="Avenir Next"/>
                <a:ea typeface="Avenir Next"/>
                <a:cs typeface="Avenir Next"/>
              </a:defRPr>
            </a:pPr>
            <a:r>
              <a:rPr sz="2175" b="1">
                <a:solidFill>
                  <a:srgbClr val="D5E4AD"/>
                </a:solidFill>
                <a:latin typeface="Avenir Next"/>
                <a:ea typeface="Avenir Next"/>
                <a:cs typeface="Avenir Next"/>
              </a:rPr>
              <a:t>y elegí proteger el cacao.</a:t>
            </a:r>
          </a:p>
        </p:txBody>
      </p:sp>
      <p:sp>
        <p:nvSpPr>
          <p:cNvPr id="3" name="Un hongo daña las mazorcas.&#10;La humedad favore">
            <a:extLst xmlns:a="http://schemas.openxmlformats.org/drawingml/2006/main">
              <a:ext uri="{FF2B5EF4-FFF2-40B4-BE49-F238E27FC236}">
                <a16:creationId xmlns:a16="http://schemas.microsoft.com/office/drawing/2014/main" id="{E799A3BB-ACAC-40FA-9939-54F74013EA20}"/>
              </a:ext>
            </a:extLst>
          </p:cNvPr>
          <p:cNvSpPr>
            <a:spLocks xmlns:a="http://schemas.openxmlformats.org/drawingml/2006/main" noGrp="1"/>
          </p:cNvSpPr>
          <p:nvPr/>
        </p:nvSpPr>
        <p:spPr>
          <a:xfrm xmlns:a="http://schemas.openxmlformats.org/drawingml/2006/main">
            <a:off x="609600" y="2857500"/>
            <a:ext cx="704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5F3E9"/>
                </a:solidFill>
                <a:latin typeface="Avenir Next"/>
                <a:ea typeface="Avenir Next"/>
                <a:cs typeface="Avenir Next"/>
              </a:defRPr>
            </a:defPPr>
            <a:lvl1pPr>
              <a:defRPr sz="2175" b="0">
                <a:solidFill>
                  <a:srgbClr val="F5F3E9"/>
                </a:solidFill>
                <a:latin typeface="Avenir Next"/>
                <a:ea typeface="Avenir Next"/>
                <a:cs typeface="Avenir Next"/>
              </a:defRPr>
            </a:lvl1pPr>
            <a:lvl2pPr>
              <a:defRPr sz="2175" b="0">
                <a:solidFill>
                  <a:srgbClr val="F5F3E9"/>
                </a:solidFill>
                <a:latin typeface="Avenir Next"/>
                <a:ea typeface="Avenir Next"/>
                <a:cs typeface="Avenir Next"/>
              </a:defRPr>
            </a:lvl2pPr>
            <a:lvl3pPr>
              <a:defRPr sz="2175" b="0">
                <a:solidFill>
                  <a:srgbClr val="F5F3E9"/>
                </a:solidFill>
                <a:latin typeface="Avenir Next"/>
                <a:ea typeface="Avenir Next"/>
                <a:cs typeface="Avenir Next"/>
              </a:defRPr>
            </a:lvl3pPr>
            <a:lvl4pPr>
              <a:defRPr sz="2175" b="0">
                <a:solidFill>
                  <a:srgbClr val="F5F3E9"/>
                </a:solidFill>
                <a:latin typeface="Avenir Next"/>
                <a:ea typeface="Avenir Next"/>
                <a:cs typeface="Avenir Next"/>
              </a:defRPr>
            </a:lvl4pPr>
            <a:lvl5pPr>
              <a:defRPr sz="2175" b="0">
                <a:solidFill>
                  <a:srgbClr val="F5F3E9"/>
                </a:solidFill>
                <a:latin typeface="Avenir Next"/>
                <a:ea typeface="Avenir Next"/>
                <a:cs typeface="Avenir Next"/>
              </a:defRPr>
            </a:lvl5pPr>
            <a:lvl6pPr>
              <a:defRPr sz="2175" b="0">
                <a:solidFill>
                  <a:srgbClr val="F5F3E9"/>
                </a:solidFill>
                <a:latin typeface="Avenir Next"/>
                <a:ea typeface="Avenir Next"/>
                <a:cs typeface="Avenir Next"/>
              </a:defRPr>
            </a:lvl6pPr>
            <a:lvl7pPr>
              <a:defRPr sz="2175" b="0">
                <a:solidFill>
                  <a:srgbClr val="F5F3E9"/>
                </a:solidFill>
                <a:latin typeface="Avenir Next"/>
                <a:ea typeface="Avenir Next"/>
                <a:cs typeface="Avenir Next"/>
              </a:defRPr>
            </a:lvl7pPr>
            <a:lvl8pPr>
              <a:defRPr sz="2175" b="0">
                <a:solidFill>
                  <a:srgbClr val="F5F3E9"/>
                </a:solidFill>
                <a:latin typeface="Avenir Next"/>
                <a:ea typeface="Avenir Next"/>
                <a:cs typeface="Avenir Next"/>
              </a:defRPr>
            </a:lvl8pPr>
            <a:lvl9pPr>
              <a:defRPr sz="2175" b="0">
                <a:solidFill>
                  <a:srgbClr val="F5F3E9"/>
                </a:solidFill>
                <a:latin typeface="Avenir Next"/>
                <a:ea typeface="Avenir Next"/>
                <a:cs typeface="Avenir Next"/>
              </a:defRPr>
            </a:lvl9pPr>
          </a:lstStyle>
          <a:p xmlns:a="http://schemas.openxmlformats.org/drawingml/2006/main">
            <a:pPr>
              <a:defRPr sz="2175" b="0">
                <a:solidFill>
                  <a:srgbClr val="F5F3E9"/>
                </a:solidFill>
                <a:latin typeface="Avenir Next"/>
                <a:ea typeface="Avenir Next"/>
                <a:cs typeface="Avenir Next"/>
              </a:defRPr>
            </a:pPr>
            <a:r>
              <a:rPr sz="2175" b="0">
                <a:solidFill>
                  <a:srgbClr val="F5F3E9"/>
                </a:solidFill>
                <a:latin typeface="Avenir Next"/>
                <a:ea typeface="Avenir Next"/>
                <a:cs typeface="Avenir Next"/>
              </a:rPr>
              <a:t>Un hongo daña las mazorcas.</a:t>
            </a:r>
          </a:p>
          <a:p xmlns:a="http://schemas.openxmlformats.org/drawingml/2006/main">
            <a:pPr>
              <a:defRPr sz="2175" b="0">
                <a:solidFill>
                  <a:srgbClr val="F5F3E9"/>
                </a:solidFill>
                <a:latin typeface="Avenir Next"/>
                <a:ea typeface="Avenir Next"/>
                <a:cs typeface="Avenir Next"/>
              </a:defRPr>
            </a:pPr>
            <a:r>
              <a:rPr sz="2175" b="0">
                <a:solidFill>
                  <a:srgbClr val="F5F3E9"/>
                </a:solidFill>
                <a:latin typeface="Avenir Next"/>
                <a:ea typeface="Avenir Next"/>
                <a:cs typeface="Avenir Next"/>
              </a:rPr>
              <a:t>La humedad favorece su desarrollo.</a:t>
            </a:r>
          </a:p>
        </p:txBody>
      </p:sp>
      <p:sp>
        <p:nvSpPr>
          <p:cNvPr id="4" name="US$ 1,619 millones">
            <a:extLst xmlns:a="http://schemas.openxmlformats.org/drawingml/2006/main">
              <a:ext uri="{FF2B5EF4-FFF2-40B4-BE49-F238E27FC236}">
                <a16:creationId xmlns:a16="http://schemas.microsoft.com/office/drawing/2014/main" id="{3A8F75CE-3468-4691-A590-FB7E69E61B03}"/>
              </a:ext>
            </a:extLst>
          </p:cNvPr>
          <p:cNvSpPr>
            <a:spLocks xmlns:a="http://schemas.openxmlformats.org/drawingml/2006/main" noGrp="1"/>
          </p:cNvSpPr>
          <p:nvPr/>
        </p:nvSpPr>
        <p:spPr>
          <a:xfrm xmlns:a="http://schemas.openxmlformats.org/drawingml/2006/main">
            <a:off x="609600" y="4067175"/>
            <a:ext cx="7334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D5E4AD"/>
                </a:solidFill>
                <a:latin typeface="Avenir Next"/>
                <a:ea typeface="Avenir Next"/>
                <a:cs typeface="Avenir Next"/>
              </a:defRPr>
            </a:defPPr>
            <a:lvl1pPr>
              <a:defRPr sz="4500" b="1">
                <a:solidFill>
                  <a:srgbClr val="D5E4AD"/>
                </a:solidFill>
                <a:latin typeface="Avenir Next"/>
                <a:ea typeface="Avenir Next"/>
                <a:cs typeface="Avenir Next"/>
              </a:defRPr>
            </a:lvl1pPr>
            <a:lvl2pPr>
              <a:defRPr sz="4500" b="1">
                <a:solidFill>
                  <a:srgbClr val="D5E4AD"/>
                </a:solidFill>
                <a:latin typeface="Avenir Next"/>
                <a:ea typeface="Avenir Next"/>
                <a:cs typeface="Avenir Next"/>
              </a:defRPr>
            </a:lvl2pPr>
            <a:lvl3pPr>
              <a:defRPr sz="4500" b="1">
                <a:solidFill>
                  <a:srgbClr val="D5E4AD"/>
                </a:solidFill>
                <a:latin typeface="Avenir Next"/>
                <a:ea typeface="Avenir Next"/>
                <a:cs typeface="Avenir Next"/>
              </a:defRPr>
            </a:lvl3pPr>
            <a:lvl4pPr>
              <a:defRPr sz="4500" b="1">
                <a:solidFill>
                  <a:srgbClr val="D5E4AD"/>
                </a:solidFill>
                <a:latin typeface="Avenir Next"/>
                <a:ea typeface="Avenir Next"/>
                <a:cs typeface="Avenir Next"/>
              </a:defRPr>
            </a:lvl4pPr>
            <a:lvl5pPr>
              <a:defRPr sz="4500" b="1">
                <a:solidFill>
                  <a:srgbClr val="D5E4AD"/>
                </a:solidFill>
                <a:latin typeface="Avenir Next"/>
                <a:ea typeface="Avenir Next"/>
                <a:cs typeface="Avenir Next"/>
              </a:defRPr>
            </a:lvl5pPr>
            <a:lvl6pPr>
              <a:defRPr sz="4500" b="1">
                <a:solidFill>
                  <a:srgbClr val="D5E4AD"/>
                </a:solidFill>
                <a:latin typeface="Avenir Next"/>
                <a:ea typeface="Avenir Next"/>
                <a:cs typeface="Avenir Next"/>
              </a:defRPr>
            </a:lvl6pPr>
            <a:lvl7pPr>
              <a:defRPr sz="4500" b="1">
                <a:solidFill>
                  <a:srgbClr val="D5E4AD"/>
                </a:solidFill>
                <a:latin typeface="Avenir Next"/>
                <a:ea typeface="Avenir Next"/>
                <a:cs typeface="Avenir Next"/>
              </a:defRPr>
            </a:lvl7pPr>
            <a:lvl8pPr>
              <a:defRPr sz="4500" b="1">
                <a:solidFill>
                  <a:srgbClr val="D5E4AD"/>
                </a:solidFill>
                <a:latin typeface="Avenir Next"/>
                <a:ea typeface="Avenir Next"/>
                <a:cs typeface="Avenir Next"/>
              </a:defRPr>
            </a:lvl8pPr>
            <a:lvl9pPr>
              <a:defRPr sz="4500" b="1">
                <a:solidFill>
                  <a:srgbClr val="D5E4AD"/>
                </a:solidFill>
                <a:latin typeface="Avenir Next"/>
                <a:ea typeface="Avenir Next"/>
                <a:cs typeface="Avenir Next"/>
              </a:defRPr>
            </a:lvl9pPr>
          </a:lstStyle>
          <a:p xmlns:a="http://schemas.openxmlformats.org/drawingml/2006/main">
            <a:pPr>
              <a:defRPr sz="4500" b="1">
                <a:solidFill>
                  <a:srgbClr val="D5E4AD"/>
                </a:solidFill>
                <a:latin typeface="Avenir Next"/>
                <a:ea typeface="Avenir Next"/>
                <a:cs typeface="Avenir Next"/>
              </a:defRPr>
            </a:pPr>
            <a:r>
              <a:rPr sz="4500" b="1">
                <a:solidFill>
                  <a:srgbClr val="D5E4AD"/>
                </a:solidFill>
                <a:latin typeface="Avenir Next"/>
                <a:ea typeface="Avenir Next"/>
                <a:cs typeface="Avenir Next"/>
              </a:rPr>
              <a:t>US$ 1,619 millones</a:t>
            </a:r>
          </a:p>
        </p:txBody>
      </p:sp>
      <p:sp>
        <p:nvSpPr>
          <p:cNvPr id="5" name="Exportaciones peruanas de cacao y derivados e">
            <a:extLst xmlns:a="http://schemas.openxmlformats.org/drawingml/2006/main">
              <a:ext uri="{FF2B5EF4-FFF2-40B4-BE49-F238E27FC236}">
                <a16:creationId xmlns:a16="http://schemas.microsoft.com/office/drawing/2014/main" id="{D95F7436-A9BC-4745-AC45-834282F25612}"/>
              </a:ext>
            </a:extLst>
          </p:cNvPr>
          <p:cNvSpPr>
            <a:spLocks xmlns:a="http://schemas.openxmlformats.org/drawingml/2006/main" noGrp="1"/>
          </p:cNvSpPr>
          <p:nvPr/>
        </p:nvSpPr>
        <p:spPr>
          <a:xfrm xmlns:a="http://schemas.openxmlformats.org/drawingml/2006/main">
            <a:off x="609600" y="5019675"/>
            <a:ext cx="7334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F5F3E9"/>
                </a:solidFill>
                <a:latin typeface="Avenir Next"/>
                <a:ea typeface="Avenir Next"/>
                <a:cs typeface="Avenir Next"/>
              </a:defRPr>
            </a:defPPr>
            <a:lvl1pPr>
              <a:defRPr sz="1725" b="0">
                <a:solidFill>
                  <a:srgbClr val="F5F3E9"/>
                </a:solidFill>
                <a:latin typeface="Avenir Next"/>
                <a:ea typeface="Avenir Next"/>
                <a:cs typeface="Avenir Next"/>
              </a:defRPr>
            </a:lvl1pPr>
            <a:lvl2pPr>
              <a:defRPr sz="1725" b="0">
                <a:solidFill>
                  <a:srgbClr val="F5F3E9"/>
                </a:solidFill>
                <a:latin typeface="Avenir Next"/>
                <a:ea typeface="Avenir Next"/>
                <a:cs typeface="Avenir Next"/>
              </a:defRPr>
            </a:lvl2pPr>
            <a:lvl3pPr>
              <a:defRPr sz="1725" b="0">
                <a:solidFill>
                  <a:srgbClr val="F5F3E9"/>
                </a:solidFill>
                <a:latin typeface="Avenir Next"/>
                <a:ea typeface="Avenir Next"/>
                <a:cs typeface="Avenir Next"/>
              </a:defRPr>
            </a:lvl3pPr>
            <a:lvl4pPr>
              <a:defRPr sz="1725" b="0">
                <a:solidFill>
                  <a:srgbClr val="F5F3E9"/>
                </a:solidFill>
                <a:latin typeface="Avenir Next"/>
                <a:ea typeface="Avenir Next"/>
                <a:cs typeface="Avenir Next"/>
              </a:defRPr>
            </a:lvl4pPr>
            <a:lvl5pPr>
              <a:defRPr sz="1725" b="0">
                <a:solidFill>
                  <a:srgbClr val="F5F3E9"/>
                </a:solidFill>
                <a:latin typeface="Avenir Next"/>
                <a:ea typeface="Avenir Next"/>
                <a:cs typeface="Avenir Next"/>
              </a:defRPr>
            </a:lvl5pPr>
            <a:lvl6pPr>
              <a:defRPr sz="1725" b="0">
                <a:solidFill>
                  <a:srgbClr val="F5F3E9"/>
                </a:solidFill>
                <a:latin typeface="Avenir Next"/>
                <a:ea typeface="Avenir Next"/>
                <a:cs typeface="Avenir Next"/>
              </a:defRPr>
            </a:lvl6pPr>
            <a:lvl7pPr>
              <a:defRPr sz="1725" b="0">
                <a:solidFill>
                  <a:srgbClr val="F5F3E9"/>
                </a:solidFill>
                <a:latin typeface="Avenir Next"/>
                <a:ea typeface="Avenir Next"/>
                <a:cs typeface="Avenir Next"/>
              </a:defRPr>
            </a:lvl7pPr>
            <a:lvl8pPr>
              <a:defRPr sz="1725" b="0">
                <a:solidFill>
                  <a:srgbClr val="F5F3E9"/>
                </a:solidFill>
                <a:latin typeface="Avenir Next"/>
                <a:ea typeface="Avenir Next"/>
                <a:cs typeface="Avenir Next"/>
              </a:defRPr>
            </a:lvl8pPr>
            <a:lvl9pPr>
              <a:defRPr sz="1725" b="0">
                <a:solidFill>
                  <a:srgbClr val="F5F3E9"/>
                </a:solidFill>
                <a:latin typeface="Avenir Next"/>
                <a:ea typeface="Avenir Next"/>
                <a:cs typeface="Avenir Next"/>
              </a:defRPr>
            </a:lvl9pPr>
          </a:lstStyle>
          <a:p xmlns:a="http://schemas.openxmlformats.org/drawingml/2006/main">
            <a:pPr>
              <a:defRPr sz="1725" b="0">
                <a:solidFill>
                  <a:srgbClr val="F5F3E9"/>
                </a:solidFill>
                <a:latin typeface="Avenir Next"/>
                <a:ea typeface="Avenir Next"/>
                <a:cs typeface="Avenir Next"/>
              </a:defRPr>
            </a:pPr>
            <a:r>
              <a:rPr sz="1725" b="0">
                <a:solidFill>
                  <a:srgbClr val="F5F3E9"/>
                </a:solidFill>
                <a:latin typeface="Avenir Next"/>
                <a:ea typeface="Avenir Next"/>
                <a:cs typeface="Avenir Next"/>
              </a:rPr>
              <a:t>Exportaciones peruanas de cacao y derivados en 2025.</a:t>
            </a:r>
          </a:p>
          <a:p xmlns:a="http://schemas.openxmlformats.org/drawingml/2006/main">
            <a:pPr>
              <a:defRPr sz="1725" b="0">
                <a:solidFill>
                  <a:srgbClr val="F5F3E9"/>
                </a:solidFill>
                <a:latin typeface="Avenir Next"/>
                <a:ea typeface="Avenir Next"/>
                <a:cs typeface="Avenir Next"/>
              </a:defRPr>
            </a:pPr>
            <a:r>
              <a:rPr sz="1725" b="0">
                <a:solidFill>
                  <a:srgbClr val="F5F3E9"/>
                </a:solidFill>
                <a:latin typeface="Avenir Next"/>
                <a:ea typeface="Avenir Next"/>
                <a:cs typeface="Avenir Next"/>
              </a:rPr>
              <a:t>Valor de la cadena, no pérdidas por la enfermedad.</a:t>
            </a:r>
          </a:p>
        </p:txBody>
      </p:sp>
      <p:sp>
        <p:nvSpPr>
          <p:cNvPr id="6" name="30–80%">
            <a:extLst xmlns:a="http://schemas.openxmlformats.org/drawingml/2006/main">
              <a:ext uri="{FF2B5EF4-FFF2-40B4-BE49-F238E27FC236}">
                <a16:creationId xmlns:a16="http://schemas.microsoft.com/office/drawing/2014/main" id="{B3AA412D-3C74-44A3-9256-0CBA64043401}"/>
              </a:ext>
            </a:extLst>
          </p:cNvPr>
          <p:cNvSpPr>
            <a:spLocks xmlns:a="http://schemas.openxmlformats.org/drawingml/2006/main" noGrp="1"/>
          </p:cNvSpPr>
          <p:nvPr/>
        </p:nvSpPr>
        <p:spPr>
          <a:xfrm xmlns:a="http://schemas.openxmlformats.org/drawingml/2006/main">
            <a:off x="609600" y="60293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D5E4AD"/>
                </a:solidFill>
                <a:latin typeface="Avenir Next"/>
                <a:ea typeface="Avenir Next"/>
                <a:cs typeface="Avenir Next"/>
              </a:defRPr>
            </a:defPPr>
            <a:lvl1pPr>
              <a:defRPr sz="3150" b="1">
                <a:solidFill>
                  <a:srgbClr val="D5E4AD"/>
                </a:solidFill>
                <a:latin typeface="Avenir Next"/>
                <a:ea typeface="Avenir Next"/>
                <a:cs typeface="Avenir Next"/>
              </a:defRPr>
            </a:lvl1pPr>
            <a:lvl2pPr>
              <a:defRPr sz="3150" b="1">
                <a:solidFill>
                  <a:srgbClr val="D5E4AD"/>
                </a:solidFill>
                <a:latin typeface="Avenir Next"/>
                <a:ea typeface="Avenir Next"/>
                <a:cs typeface="Avenir Next"/>
              </a:defRPr>
            </a:lvl2pPr>
            <a:lvl3pPr>
              <a:defRPr sz="3150" b="1">
                <a:solidFill>
                  <a:srgbClr val="D5E4AD"/>
                </a:solidFill>
                <a:latin typeface="Avenir Next"/>
                <a:ea typeface="Avenir Next"/>
                <a:cs typeface="Avenir Next"/>
              </a:defRPr>
            </a:lvl3pPr>
            <a:lvl4pPr>
              <a:defRPr sz="3150" b="1">
                <a:solidFill>
                  <a:srgbClr val="D5E4AD"/>
                </a:solidFill>
                <a:latin typeface="Avenir Next"/>
                <a:ea typeface="Avenir Next"/>
                <a:cs typeface="Avenir Next"/>
              </a:defRPr>
            </a:lvl4pPr>
            <a:lvl5pPr>
              <a:defRPr sz="3150" b="1">
                <a:solidFill>
                  <a:srgbClr val="D5E4AD"/>
                </a:solidFill>
                <a:latin typeface="Avenir Next"/>
                <a:ea typeface="Avenir Next"/>
                <a:cs typeface="Avenir Next"/>
              </a:defRPr>
            </a:lvl5pPr>
            <a:lvl6pPr>
              <a:defRPr sz="3150" b="1">
                <a:solidFill>
                  <a:srgbClr val="D5E4AD"/>
                </a:solidFill>
                <a:latin typeface="Avenir Next"/>
                <a:ea typeface="Avenir Next"/>
                <a:cs typeface="Avenir Next"/>
              </a:defRPr>
            </a:lvl6pPr>
            <a:lvl7pPr>
              <a:defRPr sz="3150" b="1">
                <a:solidFill>
                  <a:srgbClr val="D5E4AD"/>
                </a:solidFill>
                <a:latin typeface="Avenir Next"/>
                <a:ea typeface="Avenir Next"/>
                <a:cs typeface="Avenir Next"/>
              </a:defRPr>
            </a:lvl7pPr>
            <a:lvl8pPr>
              <a:defRPr sz="3150" b="1">
                <a:solidFill>
                  <a:srgbClr val="D5E4AD"/>
                </a:solidFill>
                <a:latin typeface="Avenir Next"/>
                <a:ea typeface="Avenir Next"/>
                <a:cs typeface="Avenir Next"/>
              </a:defRPr>
            </a:lvl8pPr>
            <a:lvl9pPr>
              <a:defRPr sz="3150" b="1">
                <a:solidFill>
                  <a:srgbClr val="D5E4AD"/>
                </a:solidFill>
                <a:latin typeface="Avenir Next"/>
                <a:ea typeface="Avenir Next"/>
                <a:cs typeface="Avenir Next"/>
              </a:defRPr>
            </a:lvl9pPr>
          </a:lstStyle>
          <a:p xmlns:a="http://schemas.openxmlformats.org/drawingml/2006/main">
            <a:pPr>
              <a:defRPr sz="3150" b="1">
                <a:solidFill>
                  <a:srgbClr val="D5E4AD"/>
                </a:solidFill>
                <a:latin typeface="Avenir Next"/>
                <a:ea typeface="Avenir Next"/>
                <a:cs typeface="Avenir Next"/>
              </a:defRPr>
            </a:pPr>
            <a:r>
              <a:rPr sz="3150" b="1">
                <a:solidFill>
                  <a:srgbClr val="D5E4AD"/>
                </a:solidFill>
                <a:latin typeface="Avenir Next"/>
                <a:ea typeface="Avenir Next"/>
                <a:cs typeface="Avenir Next"/>
              </a:rPr>
              <a:t>30–80%</a:t>
            </a:r>
          </a:p>
        </p:txBody>
      </p:sp>
      <p:sp>
        <p:nvSpPr>
          <p:cNvPr id="7" name="Pérdidas de producción descritas por INIA (20">
            <a:extLst xmlns:a="http://schemas.openxmlformats.org/drawingml/2006/main">
              <a:ext uri="{FF2B5EF4-FFF2-40B4-BE49-F238E27FC236}">
                <a16:creationId xmlns:a16="http://schemas.microsoft.com/office/drawing/2014/main" id="{77A0C8AE-8813-4E5C-9EE9-5A49ECE6CFD2}"/>
              </a:ext>
            </a:extLst>
          </p:cNvPr>
          <p:cNvSpPr>
            <a:spLocks xmlns:a="http://schemas.openxmlformats.org/drawingml/2006/main" noGrp="1"/>
          </p:cNvSpPr>
          <p:nvPr/>
        </p:nvSpPr>
        <p:spPr>
          <a:xfrm xmlns:a="http://schemas.openxmlformats.org/drawingml/2006/main">
            <a:off x="2914650" y="6115050"/>
            <a:ext cx="866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F5F3E9"/>
                </a:solidFill>
                <a:latin typeface="Avenir Next"/>
                <a:ea typeface="Avenir Next"/>
                <a:cs typeface="Avenir Next"/>
              </a:defRPr>
            </a:defPPr>
            <a:lvl1pPr>
              <a:defRPr sz="1575" b="0">
                <a:solidFill>
                  <a:srgbClr val="F5F3E9"/>
                </a:solidFill>
                <a:latin typeface="Avenir Next"/>
                <a:ea typeface="Avenir Next"/>
                <a:cs typeface="Avenir Next"/>
              </a:defRPr>
            </a:lvl1pPr>
            <a:lvl2pPr>
              <a:defRPr sz="1575" b="0">
                <a:solidFill>
                  <a:srgbClr val="F5F3E9"/>
                </a:solidFill>
                <a:latin typeface="Avenir Next"/>
                <a:ea typeface="Avenir Next"/>
                <a:cs typeface="Avenir Next"/>
              </a:defRPr>
            </a:lvl2pPr>
            <a:lvl3pPr>
              <a:defRPr sz="1575" b="0">
                <a:solidFill>
                  <a:srgbClr val="F5F3E9"/>
                </a:solidFill>
                <a:latin typeface="Avenir Next"/>
                <a:ea typeface="Avenir Next"/>
                <a:cs typeface="Avenir Next"/>
              </a:defRPr>
            </a:lvl3pPr>
            <a:lvl4pPr>
              <a:defRPr sz="1575" b="0">
                <a:solidFill>
                  <a:srgbClr val="F5F3E9"/>
                </a:solidFill>
                <a:latin typeface="Avenir Next"/>
                <a:ea typeface="Avenir Next"/>
                <a:cs typeface="Avenir Next"/>
              </a:defRPr>
            </a:lvl4pPr>
            <a:lvl5pPr>
              <a:defRPr sz="1575" b="0">
                <a:solidFill>
                  <a:srgbClr val="F5F3E9"/>
                </a:solidFill>
                <a:latin typeface="Avenir Next"/>
                <a:ea typeface="Avenir Next"/>
                <a:cs typeface="Avenir Next"/>
              </a:defRPr>
            </a:lvl5pPr>
            <a:lvl6pPr>
              <a:defRPr sz="1575" b="0">
                <a:solidFill>
                  <a:srgbClr val="F5F3E9"/>
                </a:solidFill>
                <a:latin typeface="Avenir Next"/>
                <a:ea typeface="Avenir Next"/>
                <a:cs typeface="Avenir Next"/>
              </a:defRPr>
            </a:lvl6pPr>
            <a:lvl7pPr>
              <a:defRPr sz="1575" b="0">
                <a:solidFill>
                  <a:srgbClr val="F5F3E9"/>
                </a:solidFill>
                <a:latin typeface="Avenir Next"/>
                <a:ea typeface="Avenir Next"/>
                <a:cs typeface="Avenir Next"/>
              </a:defRPr>
            </a:lvl7pPr>
            <a:lvl8pPr>
              <a:defRPr sz="1575" b="0">
                <a:solidFill>
                  <a:srgbClr val="F5F3E9"/>
                </a:solidFill>
                <a:latin typeface="Avenir Next"/>
                <a:ea typeface="Avenir Next"/>
                <a:cs typeface="Avenir Next"/>
              </a:defRPr>
            </a:lvl8pPr>
            <a:lvl9pPr>
              <a:defRPr sz="1575" b="0">
                <a:solidFill>
                  <a:srgbClr val="F5F3E9"/>
                </a:solidFill>
                <a:latin typeface="Avenir Next"/>
                <a:ea typeface="Avenir Next"/>
                <a:cs typeface="Avenir Next"/>
              </a:defRPr>
            </a:lvl9pPr>
          </a:lstStyle>
          <a:p xmlns:a="http://schemas.openxmlformats.org/drawingml/2006/main">
            <a:pPr>
              <a:defRPr sz="1575" b="0">
                <a:solidFill>
                  <a:srgbClr val="F5F3E9"/>
                </a:solidFill>
                <a:latin typeface="Avenir Next"/>
                <a:ea typeface="Avenir Next"/>
                <a:cs typeface="Avenir Next"/>
              </a:defRPr>
            </a:pPr>
            <a:r>
              <a:rPr sz="1575" b="0">
                <a:solidFill>
                  <a:srgbClr val="F5F3E9"/>
                </a:solidFill>
                <a:latin typeface="Avenir Next"/>
                <a:ea typeface="Avenir Next"/>
                <a:cs typeface="Avenir Next"/>
              </a:rPr>
              <a:t>Pérdidas de producción descritas por INIA (2011).</a:t>
            </a:r>
          </a:p>
          <a:p xmlns:a="http://schemas.openxmlformats.org/drawingml/2006/main">
            <a:pPr>
              <a:defRPr sz="1575" b="0">
                <a:solidFill>
                  <a:srgbClr val="F5F3E9"/>
                </a:solidFill>
                <a:latin typeface="Avenir Next"/>
                <a:ea typeface="Avenir Next"/>
                <a:cs typeface="Avenir Next"/>
              </a:defRPr>
            </a:pPr>
            <a:r>
              <a:rPr sz="1575" b="0">
                <a:solidFill>
                  <a:srgbClr val="F5F3E9"/>
                </a:solidFill>
                <a:latin typeface="Avenir Next"/>
                <a:ea typeface="Avenir Next"/>
                <a:cs typeface="Avenir Next"/>
              </a:rPr>
              <a:t>Rango documentado, no promedio nacional actual.</a:t>
            </a:r>
          </a:p>
        </p:txBody>
      </p:sp>
      <p:pic>
        <p:nvPicPr>
          <p:cNvPr id="8" name="">
            <a:extLst xmlns:a="http://schemas.openxmlformats.org/drawingml/2006/main">
              <a:ext uri="{FF2B5EF4-FFF2-40B4-BE49-F238E27FC236}">
                <a16:creationId xmlns:a16="http://schemas.microsoft.com/office/drawing/2014/main" id="{09FC9592-0433-48C4-AACC-4DAF6C35778F}"/>
              </a:ext>
            </a:extLst>
          </p:cNvPr>
          <p:cNvPicPr>
            <a:picLocks xmlns:a="http://schemas.openxmlformats.org/drawingml/2006/main" noChangeAspect="1"/>
          </p:cNvPicPr>
          <p:nvPr/>
        </p:nvPicPr>
        <p:blipFill>
          <a:blip xmlns:r="http://schemas.openxmlformats.org/officeDocument/2006/relationships" xmlns:a="http://schemas.openxmlformats.org/drawingml/2006/main" r:embed="R3b9e22d667ca41b5"/>
          <a:stretch xmlns:a="http://schemas.openxmlformats.org/drawingml/2006/main"/>
        </p:blipFill>
        <p:spPr>
          <a:xfrm xmlns:a="http://schemas.openxmlformats.org/drawingml/2006/main">
            <a:off x="8429625" y="1743075"/>
            <a:ext cx="2857500" cy="3810000"/>
          </a:xfrm>
          <a:prstGeom xmlns:a="http://schemas.openxmlformats.org/drawingml/2006/main" prst="rect">
            <a:avLst/>
          </a:prstGeom>
        </p:spPr>
      </p:pic>
      <p:sp>
        <p:nvSpPr>
          <p:cNvPr id="9" name="Foto real etiquetada Monilia.&#10;Dataset Mendele">
            <a:extLst xmlns:a="http://schemas.openxmlformats.org/drawingml/2006/main">
              <a:ext uri="{FF2B5EF4-FFF2-40B4-BE49-F238E27FC236}">
                <a16:creationId xmlns:a16="http://schemas.microsoft.com/office/drawing/2014/main" id="{F77580F3-19EF-47C3-8982-20AAC6CAA13A}"/>
              </a:ext>
            </a:extLst>
          </p:cNvPr>
          <p:cNvSpPr>
            <a:spLocks xmlns:a="http://schemas.openxmlformats.org/drawingml/2006/main" noGrp="1"/>
          </p:cNvSpPr>
          <p:nvPr/>
        </p:nvSpPr>
        <p:spPr>
          <a:xfrm xmlns:a="http://schemas.openxmlformats.org/drawingml/2006/main">
            <a:off x="8429625" y="5724525"/>
            <a:ext cx="31527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5E4AD"/>
                </a:solidFill>
                <a:latin typeface="Avenir Next"/>
                <a:ea typeface="Avenir Next"/>
                <a:cs typeface="Avenir Next"/>
              </a:defRPr>
            </a:defPPr>
            <a:lvl1pPr>
              <a:defRPr sz="1500" b="0">
                <a:solidFill>
                  <a:srgbClr val="D5E4AD"/>
                </a:solidFill>
                <a:latin typeface="Avenir Next"/>
                <a:ea typeface="Avenir Next"/>
                <a:cs typeface="Avenir Next"/>
              </a:defRPr>
            </a:lvl1pPr>
            <a:lvl2pPr>
              <a:defRPr sz="1500" b="0">
                <a:solidFill>
                  <a:srgbClr val="D5E4AD"/>
                </a:solidFill>
                <a:latin typeface="Avenir Next"/>
                <a:ea typeface="Avenir Next"/>
                <a:cs typeface="Avenir Next"/>
              </a:defRPr>
            </a:lvl2pPr>
            <a:lvl3pPr>
              <a:defRPr sz="1500" b="0">
                <a:solidFill>
                  <a:srgbClr val="D5E4AD"/>
                </a:solidFill>
                <a:latin typeface="Avenir Next"/>
                <a:ea typeface="Avenir Next"/>
                <a:cs typeface="Avenir Next"/>
              </a:defRPr>
            </a:lvl3pPr>
            <a:lvl4pPr>
              <a:defRPr sz="1500" b="0">
                <a:solidFill>
                  <a:srgbClr val="D5E4AD"/>
                </a:solidFill>
                <a:latin typeface="Avenir Next"/>
                <a:ea typeface="Avenir Next"/>
                <a:cs typeface="Avenir Next"/>
              </a:defRPr>
            </a:lvl4pPr>
            <a:lvl5pPr>
              <a:defRPr sz="1500" b="0">
                <a:solidFill>
                  <a:srgbClr val="D5E4AD"/>
                </a:solidFill>
                <a:latin typeface="Avenir Next"/>
                <a:ea typeface="Avenir Next"/>
                <a:cs typeface="Avenir Next"/>
              </a:defRPr>
            </a:lvl5pPr>
            <a:lvl6pPr>
              <a:defRPr sz="1500" b="0">
                <a:solidFill>
                  <a:srgbClr val="D5E4AD"/>
                </a:solidFill>
                <a:latin typeface="Avenir Next"/>
                <a:ea typeface="Avenir Next"/>
                <a:cs typeface="Avenir Next"/>
              </a:defRPr>
            </a:lvl6pPr>
            <a:lvl7pPr>
              <a:defRPr sz="1500" b="0">
                <a:solidFill>
                  <a:srgbClr val="D5E4AD"/>
                </a:solidFill>
                <a:latin typeface="Avenir Next"/>
                <a:ea typeface="Avenir Next"/>
                <a:cs typeface="Avenir Next"/>
              </a:defRPr>
            </a:lvl7pPr>
            <a:lvl8pPr>
              <a:defRPr sz="1500" b="0">
                <a:solidFill>
                  <a:srgbClr val="D5E4AD"/>
                </a:solidFill>
                <a:latin typeface="Avenir Next"/>
                <a:ea typeface="Avenir Next"/>
                <a:cs typeface="Avenir Next"/>
              </a:defRPr>
            </a:lvl8pPr>
            <a:lvl9pPr>
              <a:defRPr sz="1500" b="0">
                <a:solidFill>
                  <a:srgbClr val="D5E4AD"/>
                </a:solidFill>
                <a:latin typeface="Avenir Next"/>
                <a:ea typeface="Avenir Next"/>
                <a:cs typeface="Avenir Next"/>
              </a:defRPr>
            </a:lvl9pPr>
          </a:lstStyle>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Foto real etiquetada Monilia.</a:t>
            </a:r>
          </a:p>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Dataset Mendeley.</a:t>
            </a:r>
          </a:p>
        </p:txBody>
      </p:sp>
    </p:spTree>
    <p:extLst>
      <p:ext uri="{BB962C8B-B14F-4D97-AF65-F5344CB8AC3E}">
        <p14:creationId xmlns:p14="http://schemas.microsoft.com/office/powerpoint/2010/main" val="808866399"/>
      </p:ext>
    </p:extLst>
  </p:cSld>
</p:sld>
</file>

<file path=ppt/slides/slide2.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2" name="Modelo entrenado con fotos reales">
            <a:extLst xmlns:a="http://schemas.openxmlformats.org/drawingml/2006/main">
              <a:ext uri="{FF2B5EF4-FFF2-40B4-BE49-F238E27FC236}">
                <a16:creationId xmlns:a16="http://schemas.microsoft.com/office/drawing/2014/main" id="{F52905B6-ACC7-4356-B01B-3131D6514D37}"/>
              </a:ext>
            </a:extLst>
          </p:cNvPr>
          <p:cNvSpPr>
            <a:spLocks xmlns:a="http://schemas.openxmlformats.org/drawingml/2006/main" noGrp="1"/>
          </p:cNvSpPr>
          <p:nvPr/>
        </p:nvSpPr>
        <p:spPr>
          <a:xfrm xmlns:a="http://schemas.openxmlformats.org/drawingml/2006/main">
            <a:off x="609600" y="533400"/>
            <a:ext cx="10972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233B2B"/>
                </a:solidFill>
                <a:latin typeface="Avenir Next"/>
                <a:ea typeface="Avenir Next"/>
                <a:cs typeface="Avenir Next"/>
              </a:defRPr>
            </a:defPPr>
            <a:lvl1pPr>
              <a:defRPr sz="3525" b="1">
                <a:solidFill>
                  <a:srgbClr val="233B2B"/>
                </a:solidFill>
                <a:latin typeface="Avenir Next"/>
                <a:ea typeface="Avenir Next"/>
                <a:cs typeface="Avenir Next"/>
              </a:defRPr>
            </a:lvl1pPr>
            <a:lvl2pPr>
              <a:defRPr sz="3525" b="1">
                <a:solidFill>
                  <a:srgbClr val="233B2B"/>
                </a:solidFill>
                <a:latin typeface="Avenir Next"/>
                <a:ea typeface="Avenir Next"/>
                <a:cs typeface="Avenir Next"/>
              </a:defRPr>
            </a:lvl2pPr>
            <a:lvl3pPr>
              <a:defRPr sz="3525" b="1">
                <a:solidFill>
                  <a:srgbClr val="233B2B"/>
                </a:solidFill>
                <a:latin typeface="Avenir Next"/>
                <a:ea typeface="Avenir Next"/>
                <a:cs typeface="Avenir Next"/>
              </a:defRPr>
            </a:lvl3pPr>
            <a:lvl4pPr>
              <a:defRPr sz="3525" b="1">
                <a:solidFill>
                  <a:srgbClr val="233B2B"/>
                </a:solidFill>
                <a:latin typeface="Avenir Next"/>
                <a:ea typeface="Avenir Next"/>
                <a:cs typeface="Avenir Next"/>
              </a:defRPr>
            </a:lvl4pPr>
            <a:lvl5pPr>
              <a:defRPr sz="3525" b="1">
                <a:solidFill>
                  <a:srgbClr val="233B2B"/>
                </a:solidFill>
                <a:latin typeface="Avenir Next"/>
                <a:ea typeface="Avenir Next"/>
                <a:cs typeface="Avenir Next"/>
              </a:defRPr>
            </a:lvl5pPr>
            <a:lvl6pPr>
              <a:defRPr sz="3525" b="1">
                <a:solidFill>
                  <a:srgbClr val="233B2B"/>
                </a:solidFill>
                <a:latin typeface="Avenir Next"/>
                <a:ea typeface="Avenir Next"/>
                <a:cs typeface="Avenir Next"/>
              </a:defRPr>
            </a:lvl6pPr>
            <a:lvl7pPr>
              <a:defRPr sz="3525" b="1">
                <a:solidFill>
                  <a:srgbClr val="233B2B"/>
                </a:solidFill>
                <a:latin typeface="Avenir Next"/>
                <a:ea typeface="Avenir Next"/>
                <a:cs typeface="Avenir Next"/>
              </a:defRPr>
            </a:lvl7pPr>
            <a:lvl8pPr>
              <a:defRPr sz="3525" b="1">
                <a:solidFill>
                  <a:srgbClr val="233B2B"/>
                </a:solidFill>
                <a:latin typeface="Avenir Next"/>
                <a:ea typeface="Avenir Next"/>
                <a:cs typeface="Avenir Next"/>
              </a:defRPr>
            </a:lvl8pPr>
            <a:lvl9pPr>
              <a:defRPr sz="3525" b="1">
                <a:solidFill>
                  <a:srgbClr val="233B2B"/>
                </a:solidFill>
                <a:latin typeface="Avenir Next"/>
                <a:ea typeface="Avenir Next"/>
                <a:cs typeface="Avenir Next"/>
              </a:defRPr>
            </a:lvl9pPr>
          </a:lstStyle>
          <a:p xmlns:a="http://schemas.openxmlformats.org/drawingml/2006/main">
            <a:pPr>
              <a:defRPr sz="3525" b="1">
                <a:solidFill>
                  <a:srgbClr val="233B2B"/>
                </a:solidFill>
                <a:latin typeface="Avenir Next"/>
                <a:ea typeface="Avenir Next"/>
                <a:cs typeface="Avenir Next"/>
              </a:defRPr>
            </a:pPr>
            <a:r>
              <a:rPr sz="3525" b="1">
                <a:solidFill>
                  <a:srgbClr val="233B2B"/>
                </a:solidFill>
                <a:latin typeface="Avenir Next"/>
                <a:ea typeface="Avenir Next"/>
                <a:cs typeface="Avenir Next"/>
              </a:rPr>
              <a:t>Modelo entrenado con fotos reales</a:t>
            </a:r>
          </a:p>
        </p:txBody>
      </p:sp>
      <p:sp>
        <p:nvSpPr>
          <p:cNvPr id="2" name="1,655">
            <a:extLst xmlns:a="http://schemas.openxmlformats.org/drawingml/2006/main">
              <a:ext uri="{FF2B5EF4-FFF2-40B4-BE49-F238E27FC236}">
                <a16:creationId xmlns:a16="http://schemas.microsoft.com/office/drawing/2014/main" id="{3EFDF964-0C1A-4CCB-92E2-B97EAC803BFD}"/>
              </a:ext>
            </a:extLst>
          </p:cNvPr>
          <p:cNvSpPr>
            <a:spLocks xmlns:a="http://schemas.openxmlformats.org/drawingml/2006/main" noGrp="1"/>
          </p:cNvSpPr>
          <p:nvPr/>
        </p:nvSpPr>
        <p:spPr>
          <a:xfrm xmlns:a="http://schemas.openxmlformats.org/drawingml/2006/main">
            <a:off x="609600" y="1628775"/>
            <a:ext cx="647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17392B"/>
                </a:solidFill>
                <a:latin typeface="Avenir Next"/>
                <a:ea typeface="Avenir Next"/>
                <a:cs typeface="Avenir Next"/>
              </a:defRPr>
            </a:defPPr>
            <a:lvl1pPr>
              <a:defRPr sz="5250" b="1">
                <a:solidFill>
                  <a:srgbClr val="17392B"/>
                </a:solidFill>
                <a:latin typeface="Avenir Next"/>
                <a:ea typeface="Avenir Next"/>
                <a:cs typeface="Avenir Next"/>
              </a:defRPr>
            </a:lvl1pPr>
            <a:lvl2pPr>
              <a:defRPr sz="5250" b="1">
                <a:solidFill>
                  <a:srgbClr val="17392B"/>
                </a:solidFill>
                <a:latin typeface="Avenir Next"/>
                <a:ea typeface="Avenir Next"/>
                <a:cs typeface="Avenir Next"/>
              </a:defRPr>
            </a:lvl2pPr>
            <a:lvl3pPr>
              <a:defRPr sz="5250" b="1">
                <a:solidFill>
                  <a:srgbClr val="17392B"/>
                </a:solidFill>
                <a:latin typeface="Avenir Next"/>
                <a:ea typeface="Avenir Next"/>
                <a:cs typeface="Avenir Next"/>
              </a:defRPr>
            </a:lvl3pPr>
            <a:lvl4pPr>
              <a:defRPr sz="5250" b="1">
                <a:solidFill>
                  <a:srgbClr val="17392B"/>
                </a:solidFill>
                <a:latin typeface="Avenir Next"/>
                <a:ea typeface="Avenir Next"/>
                <a:cs typeface="Avenir Next"/>
              </a:defRPr>
            </a:lvl4pPr>
            <a:lvl5pPr>
              <a:defRPr sz="5250" b="1">
                <a:solidFill>
                  <a:srgbClr val="17392B"/>
                </a:solidFill>
                <a:latin typeface="Avenir Next"/>
                <a:ea typeface="Avenir Next"/>
                <a:cs typeface="Avenir Next"/>
              </a:defRPr>
            </a:lvl5pPr>
            <a:lvl6pPr>
              <a:defRPr sz="5250" b="1">
                <a:solidFill>
                  <a:srgbClr val="17392B"/>
                </a:solidFill>
                <a:latin typeface="Avenir Next"/>
                <a:ea typeface="Avenir Next"/>
                <a:cs typeface="Avenir Next"/>
              </a:defRPr>
            </a:lvl6pPr>
            <a:lvl7pPr>
              <a:defRPr sz="5250" b="1">
                <a:solidFill>
                  <a:srgbClr val="17392B"/>
                </a:solidFill>
                <a:latin typeface="Avenir Next"/>
                <a:ea typeface="Avenir Next"/>
                <a:cs typeface="Avenir Next"/>
              </a:defRPr>
            </a:lvl7pPr>
            <a:lvl8pPr>
              <a:defRPr sz="5250" b="1">
                <a:solidFill>
                  <a:srgbClr val="17392B"/>
                </a:solidFill>
                <a:latin typeface="Avenir Next"/>
                <a:ea typeface="Avenir Next"/>
                <a:cs typeface="Avenir Next"/>
              </a:defRPr>
            </a:lvl8pPr>
            <a:lvl9pPr>
              <a:defRPr sz="5250" b="1">
                <a:solidFill>
                  <a:srgbClr val="17392B"/>
                </a:solidFill>
                <a:latin typeface="Avenir Next"/>
                <a:ea typeface="Avenir Next"/>
                <a:cs typeface="Avenir Next"/>
              </a:defRPr>
            </a:lvl9pPr>
          </a:lstStyle>
          <a:p xmlns:a="http://schemas.openxmlformats.org/drawingml/2006/main">
            <a:pPr>
              <a:defRPr sz="5250" b="1">
                <a:solidFill>
                  <a:srgbClr val="17392B"/>
                </a:solidFill>
                <a:latin typeface="Avenir Next"/>
                <a:ea typeface="Avenir Next"/>
                <a:cs typeface="Avenir Next"/>
              </a:defRPr>
            </a:pPr>
            <a:r>
              <a:rPr sz="5250" b="1">
                <a:solidFill>
                  <a:srgbClr val="17392B"/>
                </a:solidFill>
                <a:latin typeface="Avenir Next"/>
                <a:ea typeface="Avenir Next"/>
                <a:cs typeface="Avenir Next"/>
              </a:rPr>
              <a:t>1,655</a:t>
            </a:r>
          </a:p>
        </p:txBody>
      </p:sp>
      <p:sp>
        <p:nvSpPr>
          <p:cNvPr id="3" name="fotografías originales de entrenamiento">
            <a:extLst xmlns:a="http://schemas.openxmlformats.org/drawingml/2006/main">
              <a:ext uri="{FF2B5EF4-FFF2-40B4-BE49-F238E27FC236}">
                <a16:creationId xmlns:a16="http://schemas.microsoft.com/office/drawing/2014/main" id="{2C23EB50-B01F-4455-A625-99180CD7F119}"/>
              </a:ext>
            </a:extLst>
          </p:cNvPr>
          <p:cNvSpPr>
            <a:spLocks xmlns:a="http://schemas.openxmlformats.org/drawingml/2006/main" noGrp="1"/>
          </p:cNvSpPr>
          <p:nvPr/>
        </p:nvSpPr>
        <p:spPr>
          <a:xfrm xmlns:a="http://schemas.openxmlformats.org/drawingml/2006/main">
            <a:off x="609600" y="26384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B2B"/>
                </a:solidFill>
                <a:latin typeface="Avenir Next"/>
                <a:ea typeface="Avenir Next"/>
                <a:cs typeface="Avenir Next"/>
              </a:defRPr>
            </a:defPPr>
            <a:lvl1pPr>
              <a:defRPr sz="2175" b="0">
                <a:solidFill>
                  <a:srgbClr val="233B2B"/>
                </a:solidFill>
                <a:latin typeface="Avenir Next"/>
                <a:ea typeface="Avenir Next"/>
                <a:cs typeface="Avenir Next"/>
              </a:defRPr>
            </a:lvl1pPr>
            <a:lvl2pPr>
              <a:defRPr sz="2175" b="0">
                <a:solidFill>
                  <a:srgbClr val="233B2B"/>
                </a:solidFill>
                <a:latin typeface="Avenir Next"/>
                <a:ea typeface="Avenir Next"/>
                <a:cs typeface="Avenir Next"/>
              </a:defRPr>
            </a:lvl2pPr>
            <a:lvl3pPr>
              <a:defRPr sz="2175" b="0">
                <a:solidFill>
                  <a:srgbClr val="233B2B"/>
                </a:solidFill>
                <a:latin typeface="Avenir Next"/>
                <a:ea typeface="Avenir Next"/>
                <a:cs typeface="Avenir Next"/>
              </a:defRPr>
            </a:lvl3pPr>
            <a:lvl4pPr>
              <a:defRPr sz="2175" b="0">
                <a:solidFill>
                  <a:srgbClr val="233B2B"/>
                </a:solidFill>
                <a:latin typeface="Avenir Next"/>
                <a:ea typeface="Avenir Next"/>
                <a:cs typeface="Avenir Next"/>
              </a:defRPr>
            </a:lvl4pPr>
            <a:lvl5pPr>
              <a:defRPr sz="2175" b="0">
                <a:solidFill>
                  <a:srgbClr val="233B2B"/>
                </a:solidFill>
                <a:latin typeface="Avenir Next"/>
                <a:ea typeface="Avenir Next"/>
                <a:cs typeface="Avenir Next"/>
              </a:defRPr>
            </a:lvl5pPr>
            <a:lvl6pPr>
              <a:defRPr sz="2175" b="0">
                <a:solidFill>
                  <a:srgbClr val="233B2B"/>
                </a:solidFill>
                <a:latin typeface="Avenir Next"/>
                <a:ea typeface="Avenir Next"/>
                <a:cs typeface="Avenir Next"/>
              </a:defRPr>
            </a:lvl6pPr>
            <a:lvl7pPr>
              <a:defRPr sz="2175" b="0">
                <a:solidFill>
                  <a:srgbClr val="233B2B"/>
                </a:solidFill>
                <a:latin typeface="Avenir Next"/>
                <a:ea typeface="Avenir Next"/>
                <a:cs typeface="Avenir Next"/>
              </a:defRPr>
            </a:lvl7pPr>
            <a:lvl8pPr>
              <a:defRPr sz="2175" b="0">
                <a:solidFill>
                  <a:srgbClr val="233B2B"/>
                </a:solidFill>
                <a:latin typeface="Avenir Next"/>
                <a:ea typeface="Avenir Next"/>
                <a:cs typeface="Avenir Next"/>
              </a:defRPr>
            </a:lvl8pPr>
            <a:lvl9pPr>
              <a:defRPr sz="2175" b="0">
                <a:solidFill>
                  <a:srgbClr val="233B2B"/>
                </a:solidFill>
                <a:latin typeface="Avenir Next"/>
                <a:ea typeface="Avenir Next"/>
                <a:cs typeface="Avenir Next"/>
              </a:defRPr>
            </a:lvl9pPr>
          </a:lstStyle>
          <a:p xmlns:a="http://schemas.openxmlformats.org/drawingml/2006/main">
            <a:pPr>
              <a:defRPr sz="2175" b="0">
                <a:solidFill>
                  <a:srgbClr val="233B2B"/>
                </a:solidFill>
                <a:latin typeface="Avenir Next"/>
                <a:ea typeface="Avenir Next"/>
                <a:cs typeface="Avenir Next"/>
              </a:defRPr>
            </a:pPr>
            <a:r>
              <a:rPr sz="2175" b="0">
                <a:solidFill>
                  <a:srgbClr val="233B2B"/>
                </a:solidFill>
                <a:latin typeface="Avenir Next"/>
                <a:ea typeface="Avenir Next"/>
                <a:cs typeface="Avenir Next"/>
              </a:rPr>
              <a:t>fotografías originales de entrenamiento</a:t>
            </a:r>
          </a:p>
        </p:txBody>
      </p:sp>
      <p:sp>
        <p:nvSpPr>
          <p:cNvPr id="4" name="Prueba reservada: 399 fotos reales">
            <a:extLst xmlns:a="http://schemas.openxmlformats.org/drawingml/2006/main">
              <a:ext uri="{FF2B5EF4-FFF2-40B4-BE49-F238E27FC236}">
                <a16:creationId xmlns:a16="http://schemas.microsoft.com/office/drawing/2014/main" id="{8F47F887-E10D-4080-BDD5-D4DA06EE5B3F}"/>
              </a:ext>
            </a:extLst>
          </p:cNvPr>
          <p:cNvSpPr>
            <a:spLocks xmlns:a="http://schemas.openxmlformats.org/drawingml/2006/main" noGrp="1"/>
          </p:cNvSpPr>
          <p:nvPr/>
        </p:nvSpPr>
        <p:spPr>
          <a:xfrm xmlns:a="http://schemas.openxmlformats.org/drawingml/2006/main">
            <a:off x="609600" y="3543300"/>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33B2B"/>
                </a:solidFill>
                <a:latin typeface="Avenir Next"/>
                <a:ea typeface="Avenir Next"/>
                <a:cs typeface="Avenir Next"/>
              </a:defRPr>
            </a:defPPr>
            <a:lvl1pPr>
              <a:defRPr sz="2025" b="1">
                <a:solidFill>
                  <a:srgbClr val="233B2B"/>
                </a:solidFill>
                <a:latin typeface="Avenir Next"/>
                <a:ea typeface="Avenir Next"/>
                <a:cs typeface="Avenir Next"/>
              </a:defRPr>
            </a:lvl1pPr>
            <a:lvl2pPr>
              <a:defRPr sz="2025" b="1">
                <a:solidFill>
                  <a:srgbClr val="233B2B"/>
                </a:solidFill>
                <a:latin typeface="Avenir Next"/>
                <a:ea typeface="Avenir Next"/>
                <a:cs typeface="Avenir Next"/>
              </a:defRPr>
            </a:lvl2pPr>
            <a:lvl3pPr>
              <a:defRPr sz="2025" b="1">
                <a:solidFill>
                  <a:srgbClr val="233B2B"/>
                </a:solidFill>
                <a:latin typeface="Avenir Next"/>
                <a:ea typeface="Avenir Next"/>
                <a:cs typeface="Avenir Next"/>
              </a:defRPr>
            </a:lvl3pPr>
            <a:lvl4pPr>
              <a:defRPr sz="2025" b="1">
                <a:solidFill>
                  <a:srgbClr val="233B2B"/>
                </a:solidFill>
                <a:latin typeface="Avenir Next"/>
                <a:ea typeface="Avenir Next"/>
                <a:cs typeface="Avenir Next"/>
              </a:defRPr>
            </a:lvl4pPr>
            <a:lvl5pPr>
              <a:defRPr sz="2025" b="1">
                <a:solidFill>
                  <a:srgbClr val="233B2B"/>
                </a:solidFill>
                <a:latin typeface="Avenir Next"/>
                <a:ea typeface="Avenir Next"/>
                <a:cs typeface="Avenir Next"/>
              </a:defRPr>
            </a:lvl5pPr>
            <a:lvl6pPr>
              <a:defRPr sz="2025" b="1">
                <a:solidFill>
                  <a:srgbClr val="233B2B"/>
                </a:solidFill>
                <a:latin typeface="Avenir Next"/>
                <a:ea typeface="Avenir Next"/>
                <a:cs typeface="Avenir Next"/>
              </a:defRPr>
            </a:lvl6pPr>
            <a:lvl7pPr>
              <a:defRPr sz="2025" b="1">
                <a:solidFill>
                  <a:srgbClr val="233B2B"/>
                </a:solidFill>
                <a:latin typeface="Avenir Next"/>
                <a:ea typeface="Avenir Next"/>
                <a:cs typeface="Avenir Next"/>
              </a:defRPr>
            </a:lvl7pPr>
            <a:lvl8pPr>
              <a:defRPr sz="2025" b="1">
                <a:solidFill>
                  <a:srgbClr val="233B2B"/>
                </a:solidFill>
                <a:latin typeface="Avenir Next"/>
                <a:ea typeface="Avenir Next"/>
                <a:cs typeface="Avenir Next"/>
              </a:defRPr>
            </a:lvl8pPr>
            <a:lvl9pPr>
              <a:defRPr sz="2025" b="1">
                <a:solidFill>
                  <a:srgbClr val="233B2B"/>
                </a:solidFill>
                <a:latin typeface="Avenir Next"/>
                <a:ea typeface="Avenir Next"/>
                <a:cs typeface="Avenir Next"/>
              </a:defRPr>
            </a:lvl9pPr>
          </a:lstStyle>
          <a:p xmlns:a="http://schemas.openxmlformats.org/drawingml/2006/main">
            <a:pPr>
              <a:defRPr sz="2025" b="1">
                <a:solidFill>
                  <a:srgbClr val="233B2B"/>
                </a:solidFill>
                <a:latin typeface="Avenir Next"/>
                <a:ea typeface="Avenir Next"/>
                <a:cs typeface="Avenir Next"/>
              </a:defRPr>
            </a:pPr>
            <a:r>
              <a:rPr sz="2025" b="1">
                <a:solidFill>
                  <a:srgbClr val="233B2B"/>
                </a:solidFill>
                <a:latin typeface="Avenir Next"/>
                <a:ea typeface="Avenir Next"/>
                <a:cs typeface="Avenir Next"/>
              </a:rPr>
              <a:t>Prueba reservada: 399 fotos reales</a:t>
            </a:r>
          </a:p>
        </p:txBody>
      </p:sp>
      <p:sp>
        <p:nvSpPr>
          <p:cNvPr id="5" name="191 / 200">
            <a:extLst xmlns:a="http://schemas.openxmlformats.org/drawingml/2006/main">
              <a:ext uri="{FF2B5EF4-FFF2-40B4-BE49-F238E27FC236}">
                <a16:creationId xmlns:a16="http://schemas.microsoft.com/office/drawing/2014/main" id="{472E8861-4BBB-47EA-B4E9-80591EE99F3B}"/>
              </a:ext>
            </a:extLst>
          </p:cNvPr>
          <p:cNvSpPr>
            <a:spLocks xmlns:a="http://schemas.openxmlformats.org/drawingml/2006/main" noGrp="1"/>
          </p:cNvSpPr>
          <p:nvPr/>
        </p:nvSpPr>
        <p:spPr>
          <a:xfrm xmlns:a="http://schemas.openxmlformats.org/drawingml/2006/main">
            <a:off x="609600" y="4171950"/>
            <a:ext cx="323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92B"/>
                </a:solidFill>
                <a:latin typeface="Avenir Next"/>
                <a:ea typeface="Avenir Next"/>
                <a:cs typeface="Avenir Next"/>
              </a:defRPr>
            </a:defPPr>
            <a:lvl1pPr>
              <a:defRPr sz="3600" b="1">
                <a:solidFill>
                  <a:srgbClr val="17392B"/>
                </a:solidFill>
                <a:latin typeface="Avenir Next"/>
                <a:ea typeface="Avenir Next"/>
                <a:cs typeface="Avenir Next"/>
              </a:defRPr>
            </a:lvl1pPr>
            <a:lvl2pPr>
              <a:defRPr sz="3600" b="1">
                <a:solidFill>
                  <a:srgbClr val="17392B"/>
                </a:solidFill>
                <a:latin typeface="Avenir Next"/>
                <a:ea typeface="Avenir Next"/>
                <a:cs typeface="Avenir Next"/>
              </a:defRPr>
            </a:lvl2pPr>
            <a:lvl3pPr>
              <a:defRPr sz="3600" b="1">
                <a:solidFill>
                  <a:srgbClr val="17392B"/>
                </a:solidFill>
                <a:latin typeface="Avenir Next"/>
                <a:ea typeface="Avenir Next"/>
                <a:cs typeface="Avenir Next"/>
              </a:defRPr>
            </a:lvl3pPr>
            <a:lvl4pPr>
              <a:defRPr sz="3600" b="1">
                <a:solidFill>
                  <a:srgbClr val="17392B"/>
                </a:solidFill>
                <a:latin typeface="Avenir Next"/>
                <a:ea typeface="Avenir Next"/>
                <a:cs typeface="Avenir Next"/>
              </a:defRPr>
            </a:lvl4pPr>
            <a:lvl5pPr>
              <a:defRPr sz="3600" b="1">
                <a:solidFill>
                  <a:srgbClr val="17392B"/>
                </a:solidFill>
                <a:latin typeface="Avenir Next"/>
                <a:ea typeface="Avenir Next"/>
                <a:cs typeface="Avenir Next"/>
              </a:defRPr>
            </a:lvl5pPr>
            <a:lvl6pPr>
              <a:defRPr sz="3600" b="1">
                <a:solidFill>
                  <a:srgbClr val="17392B"/>
                </a:solidFill>
                <a:latin typeface="Avenir Next"/>
                <a:ea typeface="Avenir Next"/>
                <a:cs typeface="Avenir Next"/>
              </a:defRPr>
            </a:lvl6pPr>
            <a:lvl7pPr>
              <a:defRPr sz="3600" b="1">
                <a:solidFill>
                  <a:srgbClr val="17392B"/>
                </a:solidFill>
                <a:latin typeface="Avenir Next"/>
                <a:ea typeface="Avenir Next"/>
                <a:cs typeface="Avenir Next"/>
              </a:defRPr>
            </a:lvl7pPr>
            <a:lvl8pPr>
              <a:defRPr sz="3600" b="1">
                <a:solidFill>
                  <a:srgbClr val="17392B"/>
                </a:solidFill>
                <a:latin typeface="Avenir Next"/>
                <a:ea typeface="Avenir Next"/>
                <a:cs typeface="Avenir Next"/>
              </a:defRPr>
            </a:lvl8pPr>
            <a:lvl9pPr>
              <a:defRPr sz="3600" b="1">
                <a:solidFill>
                  <a:srgbClr val="17392B"/>
                </a:solidFill>
                <a:latin typeface="Avenir Next"/>
                <a:ea typeface="Avenir Next"/>
                <a:cs typeface="Avenir Next"/>
              </a:defRPr>
            </a:lvl9pPr>
          </a:lstStyle>
          <a:p xmlns:a="http://schemas.openxmlformats.org/drawingml/2006/main">
            <a:pPr>
              <a:defRPr sz="3600" b="1">
                <a:solidFill>
                  <a:srgbClr val="17392B"/>
                </a:solidFill>
                <a:latin typeface="Avenir Next"/>
                <a:ea typeface="Avenir Next"/>
                <a:cs typeface="Avenir Next"/>
              </a:defRPr>
            </a:pPr>
            <a:r>
              <a:rPr sz="3600" b="1">
                <a:solidFill>
                  <a:srgbClr val="17392B"/>
                </a:solidFill>
                <a:latin typeface="Avenir Next"/>
                <a:ea typeface="Avenir Next"/>
                <a:cs typeface="Avenir Next"/>
              </a:rPr>
              <a:t>191 / 200</a:t>
            </a:r>
          </a:p>
        </p:txBody>
      </p:sp>
      <p:sp>
        <p:nvSpPr>
          <p:cNvPr id="6" name="Fotos con Monilia&#10;que activaron alerta">
            <a:extLst xmlns:a="http://schemas.openxmlformats.org/drawingml/2006/main">
              <a:ext uri="{FF2B5EF4-FFF2-40B4-BE49-F238E27FC236}">
                <a16:creationId xmlns:a16="http://schemas.microsoft.com/office/drawing/2014/main" id="{978537C6-71F2-4C60-ACAC-CD1484F67BE8}"/>
              </a:ext>
            </a:extLst>
          </p:cNvPr>
          <p:cNvSpPr>
            <a:spLocks xmlns:a="http://schemas.openxmlformats.org/drawingml/2006/main" noGrp="1"/>
          </p:cNvSpPr>
          <p:nvPr/>
        </p:nvSpPr>
        <p:spPr>
          <a:xfrm xmlns:a="http://schemas.openxmlformats.org/drawingml/2006/main">
            <a:off x="609600" y="497205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96957"/>
                </a:solidFill>
                <a:latin typeface="Avenir Next"/>
                <a:ea typeface="Avenir Next"/>
                <a:cs typeface="Avenir Next"/>
              </a:defRPr>
            </a:defPPr>
            <a:lvl1pPr>
              <a:defRPr sz="1875" b="0">
                <a:solidFill>
                  <a:srgbClr val="596957"/>
                </a:solidFill>
                <a:latin typeface="Avenir Next"/>
                <a:ea typeface="Avenir Next"/>
                <a:cs typeface="Avenir Next"/>
              </a:defRPr>
            </a:lvl1pPr>
            <a:lvl2pPr>
              <a:defRPr sz="1875" b="0">
                <a:solidFill>
                  <a:srgbClr val="596957"/>
                </a:solidFill>
                <a:latin typeface="Avenir Next"/>
                <a:ea typeface="Avenir Next"/>
                <a:cs typeface="Avenir Next"/>
              </a:defRPr>
            </a:lvl2pPr>
            <a:lvl3pPr>
              <a:defRPr sz="1875" b="0">
                <a:solidFill>
                  <a:srgbClr val="596957"/>
                </a:solidFill>
                <a:latin typeface="Avenir Next"/>
                <a:ea typeface="Avenir Next"/>
                <a:cs typeface="Avenir Next"/>
              </a:defRPr>
            </a:lvl3pPr>
            <a:lvl4pPr>
              <a:defRPr sz="1875" b="0">
                <a:solidFill>
                  <a:srgbClr val="596957"/>
                </a:solidFill>
                <a:latin typeface="Avenir Next"/>
                <a:ea typeface="Avenir Next"/>
                <a:cs typeface="Avenir Next"/>
              </a:defRPr>
            </a:lvl4pPr>
            <a:lvl5pPr>
              <a:defRPr sz="1875" b="0">
                <a:solidFill>
                  <a:srgbClr val="596957"/>
                </a:solidFill>
                <a:latin typeface="Avenir Next"/>
                <a:ea typeface="Avenir Next"/>
                <a:cs typeface="Avenir Next"/>
              </a:defRPr>
            </a:lvl5pPr>
            <a:lvl6pPr>
              <a:defRPr sz="1875" b="0">
                <a:solidFill>
                  <a:srgbClr val="596957"/>
                </a:solidFill>
                <a:latin typeface="Avenir Next"/>
                <a:ea typeface="Avenir Next"/>
                <a:cs typeface="Avenir Next"/>
              </a:defRPr>
            </a:lvl6pPr>
            <a:lvl7pPr>
              <a:defRPr sz="1875" b="0">
                <a:solidFill>
                  <a:srgbClr val="596957"/>
                </a:solidFill>
                <a:latin typeface="Avenir Next"/>
                <a:ea typeface="Avenir Next"/>
                <a:cs typeface="Avenir Next"/>
              </a:defRPr>
            </a:lvl7pPr>
            <a:lvl8pPr>
              <a:defRPr sz="1875" b="0">
                <a:solidFill>
                  <a:srgbClr val="596957"/>
                </a:solidFill>
                <a:latin typeface="Avenir Next"/>
                <a:ea typeface="Avenir Next"/>
                <a:cs typeface="Avenir Next"/>
              </a:defRPr>
            </a:lvl8pPr>
            <a:lvl9pPr>
              <a:defRPr sz="1875" b="0">
                <a:solidFill>
                  <a:srgbClr val="596957"/>
                </a:solidFill>
                <a:latin typeface="Avenir Next"/>
                <a:ea typeface="Avenir Next"/>
                <a:cs typeface="Avenir Next"/>
              </a:defRPr>
            </a:lvl9pPr>
          </a:lstStyle>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Fotos con Monilia</a:t>
            </a:r>
          </a:p>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que activaron alerta</a:t>
            </a:r>
          </a:p>
        </p:txBody>
      </p:sp>
      <p:sp>
        <p:nvSpPr>
          <p:cNvPr id="7" name="8 / 199">
            <a:extLst xmlns:a="http://schemas.openxmlformats.org/drawingml/2006/main">
              <a:ext uri="{FF2B5EF4-FFF2-40B4-BE49-F238E27FC236}">
                <a16:creationId xmlns:a16="http://schemas.microsoft.com/office/drawing/2014/main" id="{079D8ED3-1FEE-415E-BF74-93941D8BFA7D}"/>
              </a:ext>
            </a:extLst>
          </p:cNvPr>
          <p:cNvSpPr>
            <a:spLocks xmlns:a="http://schemas.openxmlformats.org/drawingml/2006/main" noGrp="1"/>
          </p:cNvSpPr>
          <p:nvPr/>
        </p:nvSpPr>
        <p:spPr>
          <a:xfrm xmlns:a="http://schemas.openxmlformats.org/drawingml/2006/main">
            <a:off x="4019550" y="4171950"/>
            <a:ext cx="314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92B"/>
                </a:solidFill>
                <a:latin typeface="Avenir Next"/>
                <a:ea typeface="Avenir Next"/>
                <a:cs typeface="Avenir Next"/>
              </a:defRPr>
            </a:defPPr>
            <a:lvl1pPr>
              <a:defRPr sz="3600" b="1">
                <a:solidFill>
                  <a:srgbClr val="17392B"/>
                </a:solidFill>
                <a:latin typeface="Avenir Next"/>
                <a:ea typeface="Avenir Next"/>
                <a:cs typeface="Avenir Next"/>
              </a:defRPr>
            </a:lvl1pPr>
            <a:lvl2pPr>
              <a:defRPr sz="3600" b="1">
                <a:solidFill>
                  <a:srgbClr val="17392B"/>
                </a:solidFill>
                <a:latin typeface="Avenir Next"/>
                <a:ea typeface="Avenir Next"/>
                <a:cs typeface="Avenir Next"/>
              </a:defRPr>
            </a:lvl2pPr>
            <a:lvl3pPr>
              <a:defRPr sz="3600" b="1">
                <a:solidFill>
                  <a:srgbClr val="17392B"/>
                </a:solidFill>
                <a:latin typeface="Avenir Next"/>
                <a:ea typeface="Avenir Next"/>
                <a:cs typeface="Avenir Next"/>
              </a:defRPr>
            </a:lvl3pPr>
            <a:lvl4pPr>
              <a:defRPr sz="3600" b="1">
                <a:solidFill>
                  <a:srgbClr val="17392B"/>
                </a:solidFill>
                <a:latin typeface="Avenir Next"/>
                <a:ea typeface="Avenir Next"/>
                <a:cs typeface="Avenir Next"/>
              </a:defRPr>
            </a:lvl4pPr>
            <a:lvl5pPr>
              <a:defRPr sz="3600" b="1">
                <a:solidFill>
                  <a:srgbClr val="17392B"/>
                </a:solidFill>
                <a:latin typeface="Avenir Next"/>
                <a:ea typeface="Avenir Next"/>
                <a:cs typeface="Avenir Next"/>
              </a:defRPr>
            </a:lvl5pPr>
            <a:lvl6pPr>
              <a:defRPr sz="3600" b="1">
                <a:solidFill>
                  <a:srgbClr val="17392B"/>
                </a:solidFill>
                <a:latin typeface="Avenir Next"/>
                <a:ea typeface="Avenir Next"/>
                <a:cs typeface="Avenir Next"/>
              </a:defRPr>
            </a:lvl6pPr>
            <a:lvl7pPr>
              <a:defRPr sz="3600" b="1">
                <a:solidFill>
                  <a:srgbClr val="17392B"/>
                </a:solidFill>
                <a:latin typeface="Avenir Next"/>
                <a:ea typeface="Avenir Next"/>
                <a:cs typeface="Avenir Next"/>
              </a:defRPr>
            </a:lvl7pPr>
            <a:lvl8pPr>
              <a:defRPr sz="3600" b="1">
                <a:solidFill>
                  <a:srgbClr val="17392B"/>
                </a:solidFill>
                <a:latin typeface="Avenir Next"/>
                <a:ea typeface="Avenir Next"/>
                <a:cs typeface="Avenir Next"/>
              </a:defRPr>
            </a:lvl8pPr>
            <a:lvl9pPr>
              <a:defRPr sz="3600" b="1">
                <a:solidFill>
                  <a:srgbClr val="17392B"/>
                </a:solidFill>
                <a:latin typeface="Avenir Next"/>
                <a:ea typeface="Avenir Next"/>
                <a:cs typeface="Avenir Next"/>
              </a:defRPr>
            </a:lvl9pPr>
          </a:lstStyle>
          <a:p xmlns:a="http://schemas.openxmlformats.org/drawingml/2006/main">
            <a:pPr>
              <a:defRPr sz="3600" b="1">
                <a:solidFill>
                  <a:srgbClr val="17392B"/>
                </a:solidFill>
                <a:latin typeface="Avenir Next"/>
                <a:ea typeface="Avenir Next"/>
                <a:cs typeface="Avenir Next"/>
              </a:defRPr>
            </a:pPr>
            <a:r>
              <a:rPr sz="3600" b="1">
                <a:solidFill>
                  <a:srgbClr val="17392B"/>
                </a:solidFill>
                <a:latin typeface="Avenir Next"/>
                <a:ea typeface="Avenir Next"/>
                <a:cs typeface="Avenir Next"/>
              </a:rPr>
              <a:t>8 / 199</a:t>
            </a:r>
          </a:p>
        </p:txBody>
      </p:sp>
      <p:sp>
        <p:nvSpPr>
          <p:cNvPr id="8" name="Fotos sanas&#10;que activaron alerta">
            <a:extLst xmlns:a="http://schemas.openxmlformats.org/drawingml/2006/main">
              <a:ext uri="{FF2B5EF4-FFF2-40B4-BE49-F238E27FC236}">
                <a16:creationId xmlns:a16="http://schemas.microsoft.com/office/drawing/2014/main" id="{16620131-3290-4895-88A6-8BAB710AB4EA}"/>
              </a:ext>
            </a:extLst>
          </p:cNvPr>
          <p:cNvSpPr>
            <a:spLocks xmlns:a="http://schemas.openxmlformats.org/drawingml/2006/main" noGrp="1"/>
          </p:cNvSpPr>
          <p:nvPr/>
        </p:nvSpPr>
        <p:spPr>
          <a:xfrm xmlns:a="http://schemas.openxmlformats.org/drawingml/2006/main">
            <a:off x="4019550" y="4972050"/>
            <a:ext cx="314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96957"/>
                </a:solidFill>
                <a:latin typeface="Avenir Next"/>
                <a:ea typeface="Avenir Next"/>
                <a:cs typeface="Avenir Next"/>
              </a:defRPr>
            </a:defPPr>
            <a:lvl1pPr>
              <a:defRPr sz="1875" b="0">
                <a:solidFill>
                  <a:srgbClr val="596957"/>
                </a:solidFill>
                <a:latin typeface="Avenir Next"/>
                <a:ea typeface="Avenir Next"/>
                <a:cs typeface="Avenir Next"/>
              </a:defRPr>
            </a:lvl1pPr>
            <a:lvl2pPr>
              <a:defRPr sz="1875" b="0">
                <a:solidFill>
                  <a:srgbClr val="596957"/>
                </a:solidFill>
                <a:latin typeface="Avenir Next"/>
                <a:ea typeface="Avenir Next"/>
                <a:cs typeface="Avenir Next"/>
              </a:defRPr>
            </a:lvl2pPr>
            <a:lvl3pPr>
              <a:defRPr sz="1875" b="0">
                <a:solidFill>
                  <a:srgbClr val="596957"/>
                </a:solidFill>
                <a:latin typeface="Avenir Next"/>
                <a:ea typeface="Avenir Next"/>
                <a:cs typeface="Avenir Next"/>
              </a:defRPr>
            </a:lvl3pPr>
            <a:lvl4pPr>
              <a:defRPr sz="1875" b="0">
                <a:solidFill>
                  <a:srgbClr val="596957"/>
                </a:solidFill>
                <a:latin typeface="Avenir Next"/>
                <a:ea typeface="Avenir Next"/>
                <a:cs typeface="Avenir Next"/>
              </a:defRPr>
            </a:lvl4pPr>
            <a:lvl5pPr>
              <a:defRPr sz="1875" b="0">
                <a:solidFill>
                  <a:srgbClr val="596957"/>
                </a:solidFill>
                <a:latin typeface="Avenir Next"/>
                <a:ea typeface="Avenir Next"/>
                <a:cs typeface="Avenir Next"/>
              </a:defRPr>
            </a:lvl5pPr>
            <a:lvl6pPr>
              <a:defRPr sz="1875" b="0">
                <a:solidFill>
                  <a:srgbClr val="596957"/>
                </a:solidFill>
                <a:latin typeface="Avenir Next"/>
                <a:ea typeface="Avenir Next"/>
                <a:cs typeface="Avenir Next"/>
              </a:defRPr>
            </a:lvl6pPr>
            <a:lvl7pPr>
              <a:defRPr sz="1875" b="0">
                <a:solidFill>
                  <a:srgbClr val="596957"/>
                </a:solidFill>
                <a:latin typeface="Avenir Next"/>
                <a:ea typeface="Avenir Next"/>
                <a:cs typeface="Avenir Next"/>
              </a:defRPr>
            </a:lvl7pPr>
            <a:lvl8pPr>
              <a:defRPr sz="1875" b="0">
                <a:solidFill>
                  <a:srgbClr val="596957"/>
                </a:solidFill>
                <a:latin typeface="Avenir Next"/>
                <a:ea typeface="Avenir Next"/>
                <a:cs typeface="Avenir Next"/>
              </a:defRPr>
            </a:lvl8pPr>
            <a:lvl9pPr>
              <a:defRPr sz="1875" b="0">
                <a:solidFill>
                  <a:srgbClr val="596957"/>
                </a:solidFill>
                <a:latin typeface="Avenir Next"/>
                <a:ea typeface="Avenir Next"/>
                <a:cs typeface="Avenir Next"/>
              </a:defRPr>
            </a:lvl9pPr>
          </a:lstStyle>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Fotos sanas</a:t>
            </a:r>
          </a:p>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que activaron alerta</a:t>
            </a:r>
          </a:p>
        </p:txBody>
      </p:sp>
      <p:pic>
        <p:nvPicPr>
          <p:cNvPr id="9" name="">
            <a:extLst xmlns:a="http://schemas.openxmlformats.org/drawingml/2006/main">
              <a:ext uri="{FF2B5EF4-FFF2-40B4-BE49-F238E27FC236}">
                <a16:creationId xmlns:a16="http://schemas.microsoft.com/office/drawing/2014/main" id="{DD153A20-A14C-4301-8B03-3C984EF6C0EC}"/>
              </a:ext>
            </a:extLst>
          </p:cNvPr>
          <p:cNvPicPr>
            <a:picLocks xmlns:a="http://schemas.openxmlformats.org/drawingml/2006/main" noChangeAspect="1"/>
          </p:cNvPicPr>
          <p:nvPr/>
        </p:nvPicPr>
        <p:blipFill>
          <a:blip xmlns:r="http://schemas.openxmlformats.org/officeDocument/2006/relationships" xmlns:a="http://schemas.openxmlformats.org/drawingml/2006/main" r:embed="R9f7b0908f1d54bad"/>
          <a:stretch xmlns:a="http://schemas.openxmlformats.org/drawingml/2006/main"/>
        </p:blipFill>
        <p:spPr>
          <a:xfrm xmlns:a="http://schemas.openxmlformats.org/drawingml/2006/main">
            <a:off x="7953375" y="1685925"/>
            <a:ext cx="2857500" cy="3810000"/>
          </a:xfrm>
          <a:prstGeom xmlns:a="http://schemas.openxmlformats.org/drawingml/2006/main" prst="rect">
            <a:avLst/>
          </a:prstGeom>
        </p:spPr>
      </p:pic>
      <p:sp>
        <p:nvSpPr>
          <p:cNvPr id="10" name="Predicción guardada de YOLO11s.&#10;Foto fuera de">
            <a:extLst xmlns:a="http://schemas.openxmlformats.org/drawingml/2006/main">
              <a:ext uri="{FF2B5EF4-FFF2-40B4-BE49-F238E27FC236}">
                <a16:creationId xmlns:a16="http://schemas.microsoft.com/office/drawing/2014/main" id="{364419B2-7AFA-4D52-90B3-0F8F21856F37}"/>
              </a:ext>
            </a:extLst>
          </p:cNvPr>
          <p:cNvSpPr>
            <a:spLocks xmlns:a="http://schemas.openxmlformats.org/drawingml/2006/main" noGrp="1"/>
          </p:cNvSpPr>
          <p:nvPr/>
        </p:nvSpPr>
        <p:spPr>
          <a:xfrm xmlns:a="http://schemas.openxmlformats.org/drawingml/2006/main">
            <a:off x="7572375" y="5667375"/>
            <a:ext cx="40100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Predicción guardada de YOLO11s.</a:t>
            </a:r>
          </a:p>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Foto fuera del entrenamiento.</a:t>
            </a:r>
          </a:p>
        </p:txBody>
      </p:sp>
      <p:sp>
        <p:nvSpPr>
          <p:cNvPr id="11" name="Evaluación por imagen, con fondos distintos s">
            <a:extLst xmlns:a="http://schemas.openxmlformats.org/drawingml/2006/main">
              <a:ext uri="{FF2B5EF4-FFF2-40B4-BE49-F238E27FC236}">
                <a16:creationId xmlns:a16="http://schemas.microsoft.com/office/drawing/2014/main" id="{084C3AC6-F0D3-4F27-BBA4-C9D29B56AAA9}"/>
              </a:ext>
            </a:extLst>
          </p:cNvPr>
          <p:cNvSpPr>
            <a:spLocks xmlns:a="http://schemas.openxmlformats.org/drawingml/2006/main" noGrp="1"/>
          </p:cNvSpPr>
          <p:nvPr/>
        </p:nvSpPr>
        <p:spPr>
          <a:xfrm xmlns:a="http://schemas.openxmlformats.org/drawingml/2006/main">
            <a:off x="609600" y="6105525"/>
            <a:ext cx="6800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96957"/>
                </a:solidFill>
                <a:latin typeface="Avenir Next"/>
                <a:ea typeface="Avenir Next"/>
                <a:cs typeface="Avenir Next"/>
              </a:defRPr>
            </a:defPPr>
            <a:lvl1pPr>
              <a:defRPr sz="1425" b="0">
                <a:solidFill>
                  <a:srgbClr val="596957"/>
                </a:solidFill>
                <a:latin typeface="Avenir Next"/>
                <a:ea typeface="Avenir Next"/>
                <a:cs typeface="Avenir Next"/>
              </a:defRPr>
            </a:lvl1pPr>
            <a:lvl2pPr>
              <a:defRPr sz="1425" b="0">
                <a:solidFill>
                  <a:srgbClr val="596957"/>
                </a:solidFill>
                <a:latin typeface="Avenir Next"/>
                <a:ea typeface="Avenir Next"/>
                <a:cs typeface="Avenir Next"/>
              </a:defRPr>
            </a:lvl2pPr>
            <a:lvl3pPr>
              <a:defRPr sz="1425" b="0">
                <a:solidFill>
                  <a:srgbClr val="596957"/>
                </a:solidFill>
                <a:latin typeface="Avenir Next"/>
                <a:ea typeface="Avenir Next"/>
                <a:cs typeface="Avenir Next"/>
              </a:defRPr>
            </a:lvl3pPr>
            <a:lvl4pPr>
              <a:defRPr sz="1425" b="0">
                <a:solidFill>
                  <a:srgbClr val="596957"/>
                </a:solidFill>
                <a:latin typeface="Avenir Next"/>
                <a:ea typeface="Avenir Next"/>
                <a:cs typeface="Avenir Next"/>
              </a:defRPr>
            </a:lvl4pPr>
            <a:lvl5pPr>
              <a:defRPr sz="1425" b="0">
                <a:solidFill>
                  <a:srgbClr val="596957"/>
                </a:solidFill>
                <a:latin typeface="Avenir Next"/>
                <a:ea typeface="Avenir Next"/>
                <a:cs typeface="Avenir Next"/>
              </a:defRPr>
            </a:lvl5pPr>
            <a:lvl6pPr>
              <a:defRPr sz="1425" b="0">
                <a:solidFill>
                  <a:srgbClr val="596957"/>
                </a:solidFill>
                <a:latin typeface="Avenir Next"/>
                <a:ea typeface="Avenir Next"/>
                <a:cs typeface="Avenir Next"/>
              </a:defRPr>
            </a:lvl6pPr>
            <a:lvl7pPr>
              <a:defRPr sz="1425" b="0">
                <a:solidFill>
                  <a:srgbClr val="596957"/>
                </a:solidFill>
                <a:latin typeface="Avenir Next"/>
                <a:ea typeface="Avenir Next"/>
                <a:cs typeface="Avenir Next"/>
              </a:defRPr>
            </a:lvl7pPr>
            <a:lvl8pPr>
              <a:defRPr sz="1425" b="0">
                <a:solidFill>
                  <a:srgbClr val="596957"/>
                </a:solidFill>
                <a:latin typeface="Avenir Next"/>
                <a:ea typeface="Avenir Next"/>
                <a:cs typeface="Avenir Next"/>
              </a:defRPr>
            </a:lvl8pPr>
            <a:lvl9pPr>
              <a:defRPr sz="1425" b="0">
                <a:solidFill>
                  <a:srgbClr val="596957"/>
                </a:solidFill>
                <a:latin typeface="Avenir Next"/>
                <a:ea typeface="Avenir Next"/>
                <a:cs typeface="Avenir Next"/>
              </a:defRPr>
            </a:lvl9pPr>
          </a:lstStyle>
          <a:p xmlns:a="http://schemas.openxmlformats.org/drawingml/2006/main">
            <a:pPr>
              <a:defRPr sz="1425" b="0">
                <a:solidFill>
                  <a:srgbClr val="596957"/>
                </a:solidFill>
                <a:latin typeface="Avenir Next"/>
                <a:ea typeface="Avenir Next"/>
                <a:cs typeface="Avenir Next"/>
              </a:defRPr>
            </a:pPr>
            <a:r>
              <a:rPr sz="1425" b="0">
                <a:solidFill>
                  <a:srgbClr val="596957"/>
                </a:solidFill>
                <a:latin typeface="Avenir Next"/>
                <a:ea typeface="Avenir Next"/>
                <a:cs typeface="Avenir Next"/>
              </a:rPr>
              <a:t>Evaluación por imagen, con fondos distintos según la clase.</a:t>
            </a:r>
          </a:p>
          <a:p xmlns:a="http://schemas.openxmlformats.org/drawingml/2006/main">
            <a:pPr>
              <a:defRPr sz="1425" b="0">
                <a:solidFill>
                  <a:srgbClr val="596957"/>
                </a:solidFill>
                <a:latin typeface="Avenir Next"/>
                <a:ea typeface="Avenir Next"/>
                <a:cs typeface="Avenir Next"/>
              </a:defRPr>
            </a:pPr>
            <a:r>
              <a:rPr sz="1425" b="0">
                <a:solidFill>
                  <a:srgbClr val="596957"/>
                </a:solidFill>
                <a:latin typeface="Avenir Next"/>
                <a:ea typeface="Avenir Next"/>
                <a:cs typeface="Avenir Next"/>
              </a:rPr>
              <a:t>Rendimiento en vuelo y localización correcta aún por validar.</a:t>
            </a:r>
          </a:p>
        </p:txBody>
      </p:sp>
    </p:spTree>
    <p:extLst>
      <p:ext uri="{BB962C8B-B14F-4D97-AF65-F5344CB8AC3E}">
        <p14:creationId xmlns:p14="http://schemas.microsoft.com/office/powerpoint/2010/main" val="239272588"/>
      </p:ext>
    </p:extLst>
  </p:cSld>
</p:sld>
</file>

<file path=ppt/slides/slide3.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7" name="Simulación para probar la integración">
            <a:extLst xmlns:a="http://schemas.openxmlformats.org/drawingml/2006/main">
              <a:ext uri="{FF2B5EF4-FFF2-40B4-BE49-F238E27FC236}">
                <a16:creationId xmlns:a16="http://schemas.microsoft.com/office/drawing/2014/main" id="{195D7DCB-B8D7-4063-BE2B-772DC7E90782}"/>
              </a:ext>
            </a:extLst>
          </p:cNvPr>
          <p:cNvSpPr>
            <a:spLocks xmlns:a="http://schemas.openxmlformats.org/drawingml/2006/main" noGrp="1"/>
          </p:cNvSpPr>
          <p:nvPr/>
        </p:nvSpPr>
        <p:spPr>
          <a:xfrm xmlns:a="http://schemas.openxmlformats.org/drawingml/2006/main">
            <a:off x="609600" y="5334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33B2B"/>
                </a:solidFill>
                <a:latin typeface="Avenir Next"/>
                <a:ea typeface="Avenir Next"/>
                <a:cs typeface="Avenir Next"/>
              </a:defRPr>
            </a:defPPr>
            <a:lvl1pPr>
              <a:defRPr sz="3450" b="1">
                <a:solidFill>
                  <a:srgbClr val="233B2B"/>
                </a:solidFill>
                <a:latin typeface="Avenir Next"/>
                <a:ea typeface="Avenir Next"/>
                <a:cs typeface="Avenir Next"/>
              </a:defRPr>
            </a:lvl1pPr>
            <a:lvl2pPr>
              <a:defRPr sz="3450" b="1">
                <a:solidFill>
                  <a:srgbClr val="233B2B"/>
                </a:solidFill>
                <a:latin typeface="Avenir Next"/>
                <a:ea typeface="Avenir Next"/>
                <a:cs typeface="Avenir Next"/>
              </a:defRPr>
            </a:lvl2pPr>
            <a:lvl3pPr>
              <a:defRPr sz="3450" b="1">
                <a:solidFill>
                  <a:srgbClr val="233B2B"/>
                </a:solidFill>
                <a:latin typeface="Avenir Next"/>
                <a:ea typeface="Avenir Next"/>
                <a:cs typeface="Avenir Next"/>
              </a:defRPr>
            </a:lvl3pPr>
            <a:lvl4pPr>
              <a:defRPr sz="3450" b="1">
                <a:solidFill>
                  <a:srgbClr val="233B2B"/>
                </a:solidFill>
                <a:latin typeface="Avenir Next"/>
                <a:ea typeface="Avenir Next"/>
                <a:cs typeface="Avenir Next"/>
              </a:defRPr>
            </a:lvl4pPr>
            <a:lvl5pPr>
              <a:defRPr sz="3450" b="1">
                <a:solidFill>
                  <a:srgbClr val="233B2B"/>
                </a:solidFill>
                <a:latin typeface="Avenir Next"/>
                <a:ea typeface="Avenir Next"/>
                <a:cs typeface="Avenir Next"/>
              </a:defRPr>
            </a:lvl5pPr>
            <a:lvl6pPr>
              <a:defRPr sz="3450" b="1">
                <a:solidFill>
                  <a:srgbClr val="233B2B"/>
                </a:solidFill>
                <a:latin typeface="Avenir Next"/>
                <a:ea typeface="Avenir Next"/>
                <a:cs typeface="Avenir Next"/>
              </a:defRPr>
            </a:lvl6pPr>
            <a:lvl7pPr>
              <a:defRPr sz="3450" b="1">
                <a:solidFill>
                  <a:srgbClr val="233B2B"/>
                </a:solidFill>
                <a:latin typeface="Avenir Next"/>
                <a:ea typeface="Avenir Next"/>
                <a:cs typeface="Avenir Next"/>
              </a:defRPr>
            </a:lvl7pPr>
            <a:lvl8pPr>
              <a:defRPr sz="3450" b="1">
                <a:solidFill>
                  <a:srgbClr val="233B2B"/>
                </a:solidFill>
                <a:latin typeface="Avenir Next"/>
                <a:ea typeface="Avenir Next"/>
                <a:cs typeface="Avenir Next"/>
              </a:defRPr>
            </a:lvl8pPr>
            <a:lvl9pPr>
              <a:defRPr sz="3450" b="1">
                <a:solidFill>
                  <a:srgbClr val="233B2B"/>
                </a:solidFill>
                <a:latin typeface="Avenir Next"/>
                <a:ea typeface="Avenir Next"/>
                <a:cs typeface="Avenir Next"/>
              </a:defRPr>
            </a:lvl9pPr>
          </a:lstStyle>
          <a:p xmlns:a="http://schemas.openxmlformats.org/drawingml/2006/main">
            <a:pPr>
              <a:defRPr sz="3450" b="1">
                <a:solidFill>
                  <a:srgbClr val="233B2B"/>
                </a:solidFill>
                <a:latin typeface="Avenir Next"/>
                <a:ea typeface="Avenir Next"/>
                <a:cs typeface="Avenir Next"/>
              </a:defRPr>
            </a:pPr>
            <a:r>
              <a:rPr sz="3450" b="1">
                <a:solidFill>
                  <a:srgbClr val="233B2B"/>
                </a:solidFill>
                <a:latin typeface="Avenir Next"/>
                <a:ea typeface="Avenir Next"/>
                <a:cs typeface="Avenir Next"/>
              </a:rPr>
              <a:t>Simulación para probar la integración</a:t>
            </a:r>
          </a:p>
        </p:txBody>
      </p:sp>
      <p:sp>
        <p:nvSpPr>
          <p:cNvPr id="2" name="La cámara 3D envía&#10;sus píxeles al mismo&#10;YOLO ">
            <a:extLst xmlns:a="http://schemas.openxmlformats.org/drawingml/2006/main">
              <a:ext uri="{FF2B5EF4-FFF2-40B4-BE49-F238E27FC236}">
                <a16:creationId xmlns:a16="http://schemas.microsoft.com/office/drawing/2014/main" id="{14AD2DC2-E38E-4F2F-A452-261AC0C2934C}"/>
              </a:ext>
            </a:extLst>
          </p:cNvPr>
          <p:cNvSpPr>
            <a:spLocks xmlns:a="http://schemas.openxmlformats.org/drawingml/2006/main" noGrp="1"/>
          </p:cNvSpPr>
          <p:nvPr/>
        </p:nvSpPr>
        <p:spPr>
          <a:xfrm xmlns:a="http://schemas.openxmlformats.org/drawingml/2006/main">
            <a:off x="609600" y="1943100"/>
            <a:ext cx="43338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33B2B"/>
                </a:solidFill>
                <a:latin typeface="Avenir Next"/>
                <a:ea typeface="Avenir Next"/>
                <a:cs typeface="Avenir Next"/>
              </a:defRPr>
            </a:defPPr>
            <a:lvl1pPr>
              <a:defRPr sz="2475" b="1">
                <a:solidFill>
                  <a:srgbClr val="233B2B"/>
                </a:solidFill>
                <a:latin typeface="Avenir Next"/>
                <a:ea typeface="Avenir Next"/>
                <a:cs typeface="Avenir Next"/>
              </a:defRPr>
            </a:lvl1pPr>
            <a:lvl2pPr>
              <a:defRPr sz="2475" b="1">
                <a:solidFill>
                  <a:srgbClr val="233B2B"/>
                </a:solidFill>
                <a:latin typeface="Avenir Next"/>
                <a:ea typeface="Avenir Next"/>
                <a:cs typeface="Avenir Next"/>
              </a:defRPr>
            </a:lvl2pPr>
            <a:lvl3pPr>
              <a:defRPr sz="2475" b="1">
                <a:solidFill>
                  <a:srgbClr val="233B2B"/>
                </a:solidFill>
                <a:latin typeface="Avenir Next"/>
                <a:ea typeface="Avenir Next"/>
                <a:cs typeface="Avenir Next"/>
              </a:defRPr>
            </a:lvl3pPr>
            <a:lvl4pPr>
              <a:defRPr sz="2475" b="1">
                <a:solidFill>
                  <a:srgbClr val="233B2B"/>
                </a:solidFill>
                <a:latin typeface="Avenir Next"/>
                <a:ea typeface="Avenir Next"/>
                <a:cs typeface="Avenir Next"/>
              </a:defRPr>
            </a:lvl4pPr>
            <a:lvl5pPr>
              <a:defRPr sz="2475" b="1">
                <a:solidFill>
                  <a:srgbClr val="233B2B"/>
                </a:solidFill>
                <a:latin typeface="Avenir Next"/>
                <a:ea typeface="Avenir Next"/>
                <a:cs typeface="Avenir Next"/>
              </a:defRPr>
            </a:lvl5pPr>
            <a:lvl6pPr>
              <a:defRPr sz="2475" b="1">
                <a:solidFill>
                  <a:srgbClr val="233B2B"/>
                </a:solidFill>
                <a:latin typeface="Avenir Next"/>
                <a:ea typeface="Avenir Next"/>
                <a:cs typeface="Avenir Next"/>
              </a:defRPr>
            </a:lvl6pPr>
            <a:lvl7pPr>
              <a:defRPr sz="2475" b="1">
                <a:solidFill>
                  <a:srgbClr val="233B2B"/>
                </a:solidFill>
                <a:latin typeface="Avenir Next"/>
                <a:ea typeface="Avenir Next"/>
                <a:cs typeface="Avenir Next"/>
              </a:defRPr>
            </a:lvl7pPr>
            <a:lvl8pPr>
              <a:defRPr sz="2475" b="1">
                <a:solidFill>
                  <a:srgbClr val="233B2B"/>
                </a:solidFill>
                <a:latin typeface="Avenir Next"/>
                <a:ea typeface="Avenir Next"/>
                <a:cs typeface="Avenir Next"/>
              </a:defRPr>
            </a:lvl8pPr>
            <a:lvl9pPr>
              <a:defRPr sz="2475" b="1">
                <a:solidFill>
                  <a:srgbClr val="233B2B"/>
                </a:solidFill>
                <a:latin typeface="Avenir Next"/>
                <a:ea typeface="Avenir Next"/>
                <a:cs typeface="Avenir Next"/>
              </a:defRPr>
            </a:lvl9pPr>
          </a:lstStyle>
          <a:p xmlns:a="http://schemas.openxmlformats.org/drawingml/2006/main">
            <a:pPr>
              <a:defRPr sz="2475" b="1">
                <a:solidFill>
                  <a:srgbClr val="233B2B"/>
                </a:solidFill>
                <a:latin typeface="Avenir Next"/>
                <a:ea typeface="Avenir Next"/>
                <a:cs typeface="Avenir Next"/>
              </a:defRPr>
            </a:pPr>
            <a:r>
              <a:rPr sz="2475" b="1">
                <a:solidFill>
                  <a:srgbClr val="233B2B"/>
                </a:solidFill>
                <a:latin typeface="Avenir Next"/>
                <a:ea typeface="Avenir Next"/>
                <a:cs typeface="Avenir Next"/>
              </a:rPr>
              <a:t>La cámara 3D envía</a:t>
            </a:r>
          </a:p>
          <a:p xmlns:a="http://schemas.openxmlformats.org/drawingml/2006/main">
            <a:pPr>
              <a:defRPr sz="2475" b="1">
                <a:solidFill>
                  <a:srgbClr val="233B2B"/>
                </a:solidFill>
                <a:latin typeface="Avenir Next"/>
                <a:ea typeface="Avenir Next"/>
                <a:cs typeface="Avenir Next"/>
              </a:defRPr>
            </a:pPr>
            <a:r>
              <a:rPr sz="2475" b="1">
                <a:solidFill>
                  <a:srgbClr val="233B2B"/>
                </a:solidFill>
                <a:latin typeface="Avenir Next"/>
                <a:ea typeface="Avenir Next"/>
                <a:cs typeface="Avenir Next"/>
              </a:rPr>
              <a:t>sus píxeles al mismo</a:t>
            </a:r>
          </a:p>
          <a:p xmlns:a="http://schemas.openxmlformats.org/drawingml/2006/main">
            <a:pPr>
              <a:defRPr sz="2475" b="1">
                <a:solidFill>
                  <a:srgbClr val="233B2B"/>
                </a:solidFill>
                <a:latin typeface="Avenir Next"/>
                <a:ea typeface="Avenir Next"/>
                <a:cs typeface="Avenir Next"/>
              </a:defRPr>
            </a:pPr>
            <a:r>
              <a:rPr sz="2475" b="1">
                <a:solidFill>
                  <a:srgbClr val="233B2B"/>
                </a:solidFill>
                <a:latin typeface="Avenir Next"/>
                <a:ea typeface="Avenir Next"/>
                <a:cs typeface="Avenir Next"/>
              </a:rPr>
              <a:t>YOLO entrenado.</a:t>
            </a:r>
          </a:p>
        </p:txBody>
      </p:sp>
      <p:sp>
        <p:nvSpPr>
          <p:cNvPr id="3" name="Probamos detección,&#10;batería y regreso antes&#10;d">
            <a:extLst xmlns:a="http://schemas.openxmlformats.org/drawingml/2006/main">
              <a:ext uri="{FF2B5EF4-FFF2-40B4-BE49-F238E27FC236}">
                <a16:creationId xmlns:a16="http://schemas.microsoft.com/office/drawing/2014/main" id="{222C8DD0-7FAA-4C62-A24F-FC29D08BBDEF}"/>
              </a:ext>
            </a:extLst>
          </p:cNvPr>
          <p:cNvSpPr>
            <a:spLocks xmlns:a="http://schemas.openxmlformats.org/drawingml/2006/main" noGrp="1"/>
          </p:cNvSpPr>
          <p:nvPr/>
        </p:nvSpPr>
        <p:spPr>
          <a:xfrm xmlns:a="http://schemas.openxmlformats.org/drawingml/2006/main">
            <a:off x="609600" y="3914775"/>
            <a:ext cx="4333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96957"/>
                </a:solidFill>
                <a:latin typeface="Avenir Next"/>
                <a:ea typeface="Avenir Next"/>
                <a:cs typeface="Avenir Next"/>
              </a:defRPr>
            </a:defPPr>
            <a:lvl1pPr>
              <a:defRPr sz="2025" b="0">
                <a:solidFill>
                  <a:srgbClr val="596957"/>
                </a:solidFill>
                <a:latin typeface="Avenir Next"/>
                <a:ea typeface="Avenir Next"/>
                <a:cs typeface="Avenir Next"/>
              </a:defRPr>
            </a:lvl1pPr>
            <a:lvl2pPr>
              <a:defRPr sz="2025" b="0">
                <a:solidFill>
                  <a:srgbClr val="596957"/>
                </a:solidFill>
                <a:latin typeface="Avenir Next"/>
                <a:ea typeface="Avenir Next"/>
                <a:cs typeface="Avenir Next"/>
              </a:defRPr>
            </a:lvl2pPr>
            <a:lvl3pPr>
              <a:defRPr sz="2025" b="0">
                <a:solidFill>
                  <a:srgbClr val="596957"/>
                </a:solidFill>
                <a:latin typeface="Avenir Next"/>
                <a:ea typeface="Avenir Next"/>
                <a:cs typeface="Avenir Next"/>
              </a:defRPr>
            </a:lvl3pPr>
            <a:lvl4pPr>
              <a:defRPr sz="2025" b="0">
                <a:solidFill>
                  <a:srgbClr val="596957"/>
                </a:solidFill>
                <a:latin typeface="Avenir Next"/>
                <a:ea typeface="Avenir Next"/>
                <a:cs typeface="Avenir Next"/>
              </a:defRPr>
            </a:lvl4pPr>
            <a:lvl5pPr>
              <a:defRPr sz="2025" b="0">
                <a:solidFill>
                  <a:srgbClr val="596957"/>
                </a:solidFill>
                <a:latin typeface="Avenir Next"/>
                <a:ea typeface="Avenir Next"/>
                <a:cs typeface="Avenir Next"/>
              </a:defRPr>
            </a:lvl5pPr>
            <a:lvl6pPr>
              <a:defRPr sz="2025" b="0">
                <a:solidFill>
                  <a:srgbClr val="596957"/>
                </a:solidFill>
                <a:latin typeface="Avenir Next"/>
                <a:ea typeface="Avenir Next"/>
                <a:cs typeface="Avenir Next"/>
              </a:defRPr>
            </a:lvl6pPr>
            <a:lvl7pPr>
              <a:defRPr sz="2025" b="0">
                <a:solidFill>
                  <a:srgbClr val="596957"/>
                </a:solidFill>
                <a:latin typeface="Avenir Next"/>
                <a:ea typeface="Avenir Next"/>
                <a:cs typeface="Avenir Next"/>
              </a:defRPr>
            </a:lvl7pPr>
            <a:lvl8pPr>
              <a:defRPr sz="2025" b="0">
                <a:solidFill>
                  <a:srgbClr val="596957"/>
                </a:solidFill>
                <a:latin typeface="Avenir Next"/>
                <a:ea typeface="Avenir Next"/>
                <a:cs typeface="Avenir Next"/>
              </a:defRPr>
            </a:lvl8pPr>
            <a:lvl9pPr>
              <a:defRPr sz="2025" b="0">
                <a:solidFill>
                  <a:srgbClr val="596957"/>
                </a:solidFill>
                <a:latin typeface="Avenir Next"/>
                <a:ea typeface="Avenir Next"/>
                <a:cs typeface="Avenir Next"/>
              </a:defRPr>
            </a:lvl9pPr>
          </a:lstStyle>
          <a:p xmlns:a="http://schemas.openxmlformats.org/drawingml/2006/main">
            <a:pPr>
              <a:defRPr sz="2025" b="0">
                <a:solidFill>
                  <a:srgbClr val="596957"/>
                </a:solidFill>
                <a:latin typeface="Avenir Next"/>
                <a:ea typeface="Avenir Next"/>
                <a:cs typeface="Avenir Next"/>
              </a:defRPr>
            </a:pPr>
            <a:r>
              <a:rPr sz="2025" b="0">
                <a:solidFill>
                  <a:srgbClr val="596957"/>
                </a:solidFill>
                <a:latin typeface="Avenir Next"/>
                <a:ea typeface="Avenir Next"/>
                <a:cs typeface="Avenir Next"/>
              </a:rPr>
              <a:t>Probamos detección,</a:t>
            </a:r>
          </a:p>
          <a:p xmlns:a="http://schemas.openxmlformats.org/drawingml/2006/main">
            <a:pPr>
              <a:defRPr sz="2025" b="0">
                <a:solidFill>
                  <a:srgbClr val="596957"/>
                </a:solidFill>
                <a:latin typeface="Avenir Next"/>
                <a:ea typeface="Avenir Next"/>
                <a:cs typeface="Avenir Next"/>
              </a:defRPr>
            </a:pPr>
            <a:r>
              <a:rPr sz="2025" b="0">
                <a:solidFill>
                  <a:srgbClr val="596957"/>
                </a:solidFill>
                <a:latin typeface="Avenir Next"/>
                <a:ea typeface="Avenir Next"/>
                <a:cs typeface="Avenir Next"/>
              </a:rPr>
              <a:t>batería y regreso antes</a:t>
            </a:r>
          </a:p>
          <a:p xmlns:a="http://schemas.openxmlformats.org/drawingml/2006/main">
            <a:pPr>
              <a:defRPr sz="2025" b="0">
                <a:solidFill>
                  <a:srgbClr val="596957"/>
                </a:solidFill>
                <a:latin typeface="Avenir Next"/>
                <a:ea typeface="Avenir Next"/>
                <a:cs typeface="Avenir Next"/>
              </a:defRPr>
            </a:pPr>
            <a:r>
              <a:rPr sz="2025" b="0">
                <a:solidFill>
                  <a:srgbClr val="596957"/>
                </a:solidFill>
                <a:latin typeface="Avenir Next"/>
                <a:ea typeface="Avenir Next"/>
                <a:cs typeface="Avenir Next"/>
              </a:rPr>
              <a:t>de usar robots en campo.</a:t>
            </a:r>
          </a:p>
        </p:txBody>
      </p:sp>
      <p:pic>
        <p:nvPicPr>
          <p:cNvPr id="4" name="">
            <a:extLst xmlns:a="http://schemas.openxmlformats.org/drawingml/2006/main">
              <a:ext uri="{FF2B5EF4-FFF2-40B4-BE49-F238E27FC236}">
                <a16:creationId xmlns:a16="http://schemas.microsoft.com/office/drawing/2014/main" id="{495B1892-4245-47A4-8C55-20392BC2A8F4}"/>
              </a:ext>
            </a:extLst>
          </p:cNvPr>
          <p:cNvPicPr>
            <a:picLocks xmlns:a="http://schemas.openxmlformats.org/drawingml/2006/main" noChangeAspect="1"/>
          </p:cNvPicPr>
          <p:nvPr/>
        </p:nvPicPr>
        <p:blipFill>
          <a:blip xmlns:r="http://schemas.openxmlformats.org/officeDocument/2006/relationships" xmlns:a="http://schemas.openxmlformats.org/drawingml/2006/main" r:embed="R7606a8ba800541a2"/>
          <a:stretch xmlns:a="http://schemas.openxmlformats.org/drawingml/2006/main"/>
        </p:blipFill>
        <p:spPr>
          <a:xfrm xmlns:a="http://schemas.openxmlformats.org/drawingml/2006/main">
            <a:off x="5353050" y="1890400"/>
            <a:ext cx="6229350" cy="3143875"/>
          </a:xfrm>
          <a:prstGeom xmlns:a="http://schemas.openxmlformats.org/drawingml/2006/main" prst="rect">
            <a:avLst/>
          </a:prstGeom>
        </p:spPr>
      </p:pic>
      <p:sp>
        <p:nvSpPr>
          <p:cNvPr id="5" name="Mazorcas 3D con texturas de fotos reales.&#10;El ">
            <a:extLst xmlns:a="http://schemas.openxmlformats.org/drawingml/2006/main">
              <a:ext uri="{FF2B5EF4-FFF2-40B4-BE49-F238E27FC236}">
                <a16:creationId xmlns:a16="http://schemas.microsoft.com/office/drawing/2014/main" id="{5C7304DB-93E9-4E45-B809-9BA1DBEB8E9F}"/>
              </a:ext>
            </a:extLst>
          </p:cNvPr>
          <p:cNvSpPr>
            <a:spLocks xmlns:a="http://schemas.openxmlformats.org/drawingml/2006/main" noGrp="1"/>
          </p:cNvSpPr>
          <p:nvPr/>
        </p:nvSpPr>
        <p:spPr>
          <a:xfrm xmlns:a="http://schemas.openxmlformats.org/drawingml/2006/main">
            <a:off x="5353050" y="5238750"/>
            <a:ext cx="622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96957"/>
                </a:solidFill>
                <a:latin typeface="Avenir Next"/>
                <a:ea typeface="Avenir Next"/>
                <a:cs typeface="Avenir Next"/>
              </a:defRPr>
            </a:defPPr>
            <a:lvl1pPr>
              <a:defRPr sz="1650" b="0">
                <a:solidFill>
                  <a:srgbClr val="596957"/>
                </a:solidFill>
                <a:latin typeface="Avenir Next"/>
                <a:ea typeface="Avenir Next"/>
                <a:cs typeface="Avenir Next"/>
              </a:defRPr>
            </a:lvl1pPr>
            <a:lvl2pPr>
              <a:defRPr sz="1650" b="0">
                <a:solidFill>
                  <a:srgbClr val="596957"/>
                </a:solidFill>
                <a:latin typeface="Avenir Next"/>
                <a:ea typeface="Avenir Next"/>
                <a:cs typeface="Avenir Next"/>
              </a:defRPr>
            </a:lvl2pPr>
            <a:lvl3pPr>
              <a:defRPr sz="1650" b="0">
                <a:solidFill>
                  <a:srgbClr val="596957"/>
                </a:solidFill>
                <a:latin typeface="Avenir Next"/>
                <a:ea typeface="Avenir Next"/>
                <a:cs typeface="Avenir Next"/>
              </a:defRPr>
            </a:lvl3pPr>
            <a:lvl4pPr>
              <a:defRPr sz="1650" b="0">
                <a:solidFill>
                  <a:srgbClr val="596957"/>
                </a:solidFill>
                <a:latin typeface="Avenir Next"/>
                <a:ea typeface="Avenir Next"/>
                <a:cs typeface="Avenir Next"/>
              </a:defRPr>
            </a:lvl4pPr>
            <a:lvl5pPr>
              <a:defRPr sz="1650" b="0">
                <a:solidFill>
                  <a:srgbClr val="596957"/>
                </a:solidFill>
                <a:latin typeface="Avenir Next"/>
                <a:ea typeface="Avenir Next"/>
                <a:cs typeface="Avenir Next"/>
              </a:defRPr>
            </a:lvl5pPr>
            <a:lvl6pPr>
              <a:defRPr sz="1650" b="0">
                <a:solidFill>
                  <a:srgbClr val="596957"/>
                </a:solidFill>
                <a:latin typeface="Avenir Next"/>
                <a:ea typeface="Avenir Next"/>
                <a:cs typeface="Avenir Next"/>
              </a:defRPr>
            </a:lvl6pPr>
            <a:lvl7pPr>
              <a:defRPr sz="1650" b="0">
                <a:solidFill>
                  <a:srgbClr val="596957"/>
                </a:solidFill>
                <a:latin typeface="Avenir Next"/>
                <a:ea typeface="Avenir Next"/>
                <a:cs typeface="Avenir Next"/>
              </a:defRPr>
            </a:lvl7pPr>
            <a:lvl8pPr>
              <a:defRPr sz="1650" b="0">
                <a:solidFill>
                  <a:srgbClr val="596957"/>
                </a:solidFill>
                <a:latin typeface="Avenir Next"/>
                <a:ea typeface="Avenir Next"/>
                <a:cs typeface="Avenir Next"/>
              </a:defRPr>
            </a:lvl8pPr>
            <a:lvl9pPr>
              <a:defRPr sz="1650" b="0">
                <a:solidFill>
                  <a:srgbClr val="596957"/>
                </a:solidFill>
                <a:latin typeface="Avenir Next"/>
                <a:ea typeface="Avenir Next"/>
                <a:cs typeface="Avenir Next"/>
              </a:defRPr>
            </a:lvl9pPr>
          </a:lstStyle>
          <a:p xmlns:a="http://schemas.openxmlformats.org/drawingml/2006/main">
            <a:pPr>
              <a:defRPr sz="1650" b="0">
                <a:solidFill>
                  <a:srgbClr val="596957"/>
                </a:solidFill>
                <a:latin typeface="Avenir Next"/>
                <a:ea typeface="Avenir Next"/>
                <a:cs typeface="Avenir Next"/>
              </a:defRPr>
            </a:pPr>
            <a:r>
              <a:rPr sz="1650" b="0">
                <a:solidFill>
                  <a:srgbClr val="596957"/>
                </a:solidFill>
                <a:latin typeface="Avenir Next"/>
                <a:ea typeface="Avenir Next"/>
                <a:cs typeface="Avenir Next"/>
              </a:rPr>
              <a:t>Mazorcas 3D con texturas de fotos reales.</a:t>
            </a:r>
          </a:p>
          <a:p xmlns:a="http://schemas.openxmlformats.org/drawingml/2006/main">
            <a:pPr>
              <a:defRPr sz="1650" b="0">
                <a:solidFill>
                  <a:srgbClr val="596957"/>
                </a:solidFill>
                <a:latin typeface="Avenir Next"/>
                <a:ea typeface="Avenir Next"/>
                <a:cs typeface="Avenir Next"/>
              </a:defRPr>
            </a:pPr>
            <a:r>
              <a:rPr sz="1650" b="0">
                <a:solidFill>
                  <a:srgbClr val="596957"/>
                </a:solidFill>
                <a:latin typeface="Avenir Next"/>
                <a:ea typeface="Avenir Next"/>
                <a:cs typeface="Avenir Next"/>
              </a:rPr>
              <a:t>El modelo calcula la detección sobre esta imagen.</a:t>
            </a:r>
          </a:p>
        </p:txBody>
      </p:sp>
      <p:sp>
        <p:nvSpPr>
          <p:cNvPr id="6" name="La localización usa geometría conocida. El re">
            <a:extLst xmlns:a="http://schemas.openxmlformats.org/drawingml/2006/main">
              <a:ext uri="{FF2B5EF4-FFF2-40B4-BE49-F238E27FC236}">
                <a16:creationId xmlns:a16="http://schemas.microsoft.com/office/drawing/2014/main" id="{8BC106F9-0FBD-46D9-8A8A-F6F7863069F4}"/>
              </a:ext>
            </a:extLst>
          </p:cNvPr>
          <p:cNvSpPr>
            <a:spLocks xmlns:a="http://schemas.openxmlformats.org/drawingml/2006/main" noGrp="1"/>
          </p:cNvSpPr>
          <p:nvPr/>
        </p:nvSpPr>
        <p:spPr>
          <a:xfrm xmlns:a="http://schemas.openxmlformats.org/drawingml/2006/main">
            <a:off x="609600" y="6286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La localización usa geometría conocida. El recorrido virtual verifica integración, no precisión en campo.</a:t>
            </a:r>
          </a:p>
        </p:txBody>
      </p:sp>
    </p:spTree>
    <p:extLst>
      <p:ext uri="{BB962C8B-B14F-4D97-AF65-F5344CB8AC3E}">
        <p14:creationId xmlns:p14="http://schemas.microsoft.com/office/powerpoint/2010/main" val="10593717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2026-10-18T13:26:55.3310000Z</dcterms:created>
  <dcterms:modified xsi:type="dcterms:W3CDTF">2026-10-18T13:26:55.3340000Z</dcterms:modified>
</coreProperties>
</file>