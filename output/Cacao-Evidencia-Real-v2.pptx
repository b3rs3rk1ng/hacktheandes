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d82285f1d04acc" /><Relationship Type="http://schemas.openxmlformats.org/officeDocument/2006/relationships/extended-properties" Target="/docProps/app.xml" Id="R758473dcbf6e4392" /><Relationship Type="http://schemas.openxmlformats.org/officeDocument/2006/relationships/officeDocument" Target="/ppt/presentation.xml" Id="R97dcd90a99b345f5" /></Relationships>
</file>

<file path=ppt/presentation.xml><?xml version="1.0" encoding="utf-8"?>
<p:presentation xmlns:p="http://schemas.openxmlformats.org/presentationml/2006/main">
  <p:sldMasterIdLst>
    <p:sldMasterId xmlns:r="http://schemas.openxmlformats.org/officeDocument/2006/relationships" id="2147483648" r:id="R713b7cb52a594963"/>
  </p:sldMasterIdLst>
  <p:notesMasterIdLst>
    <p:notesMasterId xmlns:r="http://schemas.openxmlformats.org/officeDocument/2006/relationships" r:id="R4bc20065e87043d5"/>
  </p:notesMasterIdLst>
  <p:sldIdLst>
    <p:sldId xmlns:r="http://schemas.openxmlformats.org/officeDocument/2006/relationships" id="256" r:id="Rbf04606c90b540f5"/>
    <p:sldId xmlns:r="http://schemas.openxmlformats.org/officeDocument/2006/relationships" id="257" r:id="R43d3b219b5bf4ff8"/>
    <p:sldId xmlns:r="http://schemas.openxmlformats.org/officeDocument/2006/relationships" id="258" r:id="R61e9f764dff74196"/>
    <p:sldId xmlns:r="http://schemas.openxmlformats.org/officeDocument/2006/relationships" id="259" r:id="R5f3c564456f546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2171b4c1c74fab" /><Relationship Type="http://schemas.openxmlformats.org/officeDocument/2006/relationships/slideMaster" Target="/ppt/slideMasters/slideMaster1.xml" Id="R713b7cb52a594963" /><Relationship Type="http://schemas.openxmlformats.org/officeDocument/2006/relationships/notesMaster" Target="/ppt/notesMasters/notesMaster1.xml" Id="R4bc20065e87043d5" /><Relationship Type="http://schemas.openxmlformats.org/officeDocument/2006/relationships/presProps" Target="/ppt/presProps.xml" Id="Rb4780d0887e44db2" /><Relationship Type="http://schemas.openxmlformats.org/officeDocument/2006/relationships/tableStyles" Target="/ppt/tableStyles.xml" Id="R346d9755a6734088" /><Relationship Type="http://schemas.openxmlformats.org/officeDocument/2006/relationships/slide" Target="/ppt/slides/slide1.xml" Id="Rbf04606c90b540f5" /><Relationship Type="http://schemas.openxmlformats.org/officeDocument/2006/relationships/slide" Target="/ppt/slides/slide2.xml" Id="R43d3b219b5bf4ff8" /><Relationship Type="http://schemas.openxmlformats.org/officeDocument/2006/relationships/slide" Target="/ppt/slides/slide3.xml" Id="R61e9f764dff74196" /><Relationship Type="http://schemas.openxmlformats.org/officeDocument/2006/relationships/slide" Target="/ppt/slides/slide4.xml" Id="R5f3c564456f546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154343a2ba47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04127645b34e29" /><Relationship Type="http://schemas.openxmlformats.org/officeDocument/2006/relationships/notesMaster" Target="/ppt/notesMasters/notesMaster1.xml" Id="R642182aaf8714a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be2e5387484229" /><Relationship Type="http://schemas.openxmlformats.org/officeDocument/2006/relationships/notesMaster" Target="/ppt/notesMasters/notesMaster1.xml" Id="Rc8c357a28a1b4d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1f98aa6e70423f" /><Relationship Type="http://schemas.openxmlformats.org/officeDocument/2006/relationships/notesMaster" Target="/ppt/notesMasters/notesMaster1.xml" Id="Rf8bdb49ff78248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c04570c4a94f87" /><Relationship Type="http://schemas.openxmlformats.org/officeDocument/2006/relationships/notesMaster" Target="/ppt/notesMasters/notesMaster1.xml" Id="R68e7525a06544e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La propuesta atiende una tarea agrícola real: revisar la plantación y localizar frutos que requieren atención. SENASA documenta vigilancia permanente y recolección de frutos afectados cada 5 a 7 días en esta orientación de campo. Esta indicación aporta contexto de manejo, sin constituir una validación de nuestro producto ni una recomendación automatizada por imagen. Fuente: https://www.senasa.gob.pe/senasacontigo/madre-de-dios-minagri-lidera-jornadas-de-instruccion-para-enfrentar-plagas-en-cacao/ (24 mayo 2018, consultada 18 octubre 2026). Las dos fotografías son reales y forman parte de la evaluación reservada. Etiquetas a nivel de imagen declaradas por los autores, sin confirmación de laboratorio nuestra. Fuente de imágenes y licencia CC BY 4.0: https://data.mendeley.com/datasets/ykbtpsyfv9/1. IDs: 02246114ca192de041b2e6fb (sano), 017fa25b2cde2609b042a85e (Monilia). Procedencia completa en research/cacao-improvement/source-review/sample-downloads/records/. La diferencia de fondo es una limitación del conjunto y no una propiedad sanitaria.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2:20–3:00. Cerrar el recorrido en la decisión útil para el agricultor: una sospecha con evidencia persistente y ubicación que puede aprobar o rechazar. Aprobar habilita asignación a un robot terrestre, que debe confirmar con su cámara antes del agarre. La última prueba documentada de aprobación y salida encontró una ruta bloqueada y volvió sin retirar la fruta. No declaramos retirada completa validada ni ahorro ya conseguido. El piloto propuesto debe comparar tiempo y utilidad de las sospechas con revisión agronómica en condiciones reales y nuevos fondos. Retirar una fruta es una decisión agronómica que debe validar un especialista y no se justifica sólo con una puntuación de YOLO. No existe aún tracción con agricultores validada. La foto que muestra el buzón proviene de la cámara virtual y se identifica en la diapositiva anterior. El buzón es interfaz real de la demo y no una maqueta. El servicio es local, sin WhatsApp ni autenticación pública. Fuentes: simulator/ORCHARD.md, simulator/evidence/review-live-outcome.json, research/cacao-improvement/REPORT.md. Captura del buzón del 18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2e1fabea7944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f7403d0f4f48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73a9453bdf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881a423d0f47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50fc3add8d46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26fdb1caab46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A4B4A-3CA2-4F0F-ACF5-7A162F46A4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6399E1-E52F-4832-84D7-8F16DABA44A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23EFF1-8B9E-45C9-B145-85996E87E3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DE6D7F-E153-4767-8BB4-C04D9FB1CE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8001B2-834E-4D8D-983D-2AE850634F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E0419E-9C9D-48F2-8705-49F2BE1014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7B062E-72ED-4C31-8827-CA547AF0F8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2A6397-2A41-4420-90E4-BC67CC3715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59A3EF-FF83-46F4-B42A-0CDE92866B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92F84C-6176-4B97-B0DF-E688359634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2f552ad00e4670" /><Relationship Type="http://schemas.openxmlformats.org/officeDocument/2006/relationships/slideLayout" Target="/ppt/slideLayouts/slideLayout1.xml" Id="Ra07446b27e9e42ed" /><Relationship Type="http://schemas.openxmlformats.org/officeDocument/2006/relationships/slideLayout" Target="/ppt/slideLayouts/slideLayout2.xml" Id="Ra50a238012a04b00" /><Relationship Type="http://schemas.openxmlformats.org/officeDocument/2006/relationships/slideLayout" Target="/ppt/slideLayouts/slideLayout3.xml" Id="Rdef7b855589f414c" /><Relationship Type="http://schemas.openxmlformats.org/officeDocument/2006/relationships/slideLayout" Target="/ppt/slideLayouts/slideLayout4.xml" Id="Reb58d5ec9b8c4c42" /><Relationship Type="http://schemas.openxmlformats.org/officeDocument/2006/relationships/slideLayout" Target="/ppt/slideLayouts/slideLayout5.xml" Id="Rf77ad384aac74a98" /><Relationship Type="http://schemas.openxmlformats.org/officeDocument/2006/relationships/slideLayout" Target="/ppt/slideLayouts/slideLayout6.xml" Id="Read564b7703d47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7446b27e9e42ed"/>
    <p:sldLayoutId xmlns:r="http://schemas.openxmlformats.org/officeDocument/2006/relationships" id="2147483650" r:id="Ra50a238012a04b00"/>
    <p:sldLayoutId xmlns:r="http://schemas.openxmlformats.org/officeDocument/2006/relationships" id="2147483651" r:id="Rdef7b855589f414c"/>
    <p:sldLayoutId xmlns:r="http://schemas.openxmlformats.org/officeDocument/2006/relationships" id="2147483652" r:id="Reb58d5ec9b8c4c42"/>
    <p:sldLayoutId xmlns:r="http://schemas.openxmlformats.org/officeDocument/2006/relationships" id="2147483653" r:id="Rf77ad384aac74a98"/>
    <p:sldLayoutId xmlns:r="http://schemas.openxmlformats.org/officeDocument/2006/relationships" id="2147483654" r:id="Read564b7703d47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13e37f7f914b05" /><Relationship Type="http://schemas.openxmlformats.org/officeDocument/2006/relationships/image" Target="/ppt/media/image.jpeg" Id="Ref466235dd6d4c7d" /><Relationship Type="http://schemas.openxmlformats.org/officeDocument/2006/relationships/image" Target="/ppt/media/image2.jpeg" Id="Rb32827b9ce754e6c" /><Relationship Type="http://schemas.openxmlformats.org/officeDocument/2006/relationships/notesSlide" Target="/ppt/notesSlides/notesSlide1.xml" Id="Rcc2c9b3d7ce44f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41c826aafe492e" /><Relationship Type="http://schemas.openxmlformats.org/officeDocument/2006/relationships/image" Target="/ppt/media/image.png" Id="R1518c3188b924ebf" /><Relationship Type="http://schemas.openxmlformats.org/officeDocument/2006/relationships/notesSlide" Target="/ppt/notesSlides/notesSlide2.xml" Id="Rf1d9bfa6ef7248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b2337e9a7d4066" /><Relationship Type="http://schemas.openxmlformats.org/officeDocument/2006/relationships/image" Target="/ppt/media/image3.jpeg" Id="R88f0f605eda145ef" /><Relationship Type="http://schemas.openxmlformats.org/officeDocument/2006/relationships/notesSlide" Target="/ppt/notesSlides/notesSlide3.xml" Id="R3d29c3173e5c42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402288490f4df1" /><Relationship Type="http://schemas.openxmlformats.org/officeDocument/2006/relationships/image" Target="/ppt/media/image2.png" Id="R906b26b7e5894ea1" /><Relationship Type="http://schemas.openxmlformats.org/officeDocument/2006/relationships/notesSlide" Target="/ppt/notesSlides/notesSlide4.xml" Id="R8bb2331bb9e042bd"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1" name="CACAO">
            <a:extLst xmlns:a="http://schemas.openxmlformats.org/drawingml/2006/main">
              <a:ext uri="{FF2B5EF4-FFF2-40B4-BE49-F238E27FC236}">
                <a16:creationId xmlns:a16="http://schemas.microsoft.com/office/drawing/2014/main" id="{5811C8A9-4B92-45EC-9F1C-1426089B0751}"/>
              </a:ext>
            </a:extLst>
          </p:cNvPr>
          <p:cNvSpPr>
            <a:spLocks xmlns:a="http://schemas.openxmlformats.org/drawingml/2006/main" noGrp="1"/>
          </p:cNvSpPr>
          <p:nvPr/>
        </p:nvSpPr>
        <p:spPr>
          <a:xfrm xmlns:a="http://schemas.openxmlformats.org/drawingml/2006/main">
            <a:off x="609600" y="4572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D5E4AD"/>
                </a:solidFill>
                <a:latin typeface="Avenir Next"/>
                <a:ea typeface="Avenir Next"/>
                <a:cs typeface="Avenir Next"/>
              </a:defRPr>
            </a:defPPr>
            <a:lvl1pPr>
              <a:defRPr sz="2025" b="1">
                <a:solidFill>
                  <a:srgbClr val="D5E4AD"/>
                </a:solidFill>
                <a:latin typeface="Avenir Next"/>
                <a:ea typeface="Avenir Next"/>
                <a:cs typeface="Avenir Next"/>
              </a:defRPr>
            </a:lvl1pPr>
            <a:lvl2pPr>
              <a:defRPr sz="2025" b="1">
                <a:solidFill>
                  <a:srgbClr val="D5E4AD"/>
                </a:solidFill>
                <a:latin typeface="Avenir Next"/>
                <a:ea typeface="Avenir Next"/>
                <a:cs typeface="Avenir Next"/>
              </a:defRPr>
            </a:lvl2pPr>
            <a:lvl3pPr>
              <a:defRPr sz="2025" b="1">
                <a:solidFill>
                  <a:srgbClr val="D5E4AD"/>
                </a:solidFill>
                <a:latin typeface="Avenir Next"/>
                <a:ea typeface="Avenir Next"/>
                <a:cs typeface="Avenir Next"/>
              </a:defRPr>
            </a:lvl3pPr>
            <a:lvl4pPr>
              <a:defRPr sz="2025" b="1">
                <a:solidFill>
                  <a:srgbClr val="D5E4AD"/>
                </a:solidFill>
                <a:latin typeface="Avenir Next"/>
                <a:ea typeface="Avenir Next"/>
                <a:cs typeface="Avenir Next"/>
              </a:defRPr>
            </a:lvl4pPr>
            <a:lvl5pPr>
              <a:defRPr sz="2025" b="1">
                <a:solidFill>
                  <a:srgbClr val="D5E4AD"/>
                </a:solidFill>
                <a:latin typeface="Avenir Next"/>
                <a:ea typeface="Avenir Next"/>
                <a:cs typeface="Avenir Next"/>
              </a:defRPr>
            </a:lvl5pPr>
            <a:lvl6pPr>
              <a:defRPr sz="2025" b="1">
                <a:solidFill>
                  <a:srgbClr val="D5E4AD"/>
                </a:solidFill>
                <a:latin typeface="Avenir Next"/>
                <a:ea typeface="Avenir Next"/>
                <a:cs typeface="Avenir Next"/>
              </a:defRPr>
            </a:lvl6pPr>
            <a:lvl7pPr>
              <a:defRPr sz="2025" b="1">
                <a:solidFill>
                  <a:srgbClr val="D5E4AD"/>
                </a:solidFill>
                <a:latin typeface="Avenir Next"/>
                <a:ea typeface="Avenir Next"/>
                <a:cs typeface="Avenir Next"/>
              </a:defRPr>
            </a:lvl7pPr>
            <a:lvl8pPr>
              <a:defRPr sz="2025" b="1">
                <a:solidFill>
                  <a:srgbClr val="D5E4AD"/>
                </a:solidFill>
                <a:latin typeface="Avenir Next"/>
                <a:ea typeface="Avenir Next"/>
                <a:cs typeface="Avenir Next"/>
              </a:defRPr>
            </a:lvl8pPr>
            <a:lvl9pPr>
              <a:defRPr sz="2025" b="1">
                <a:solidFill>
                  <a:srgbClr val="D5E4AD"/>
                </a:solidFill>
                <a:latin typeface="Avenir Next"/>
                <a:ea typeface="Avenir Next"/>
                <a:cs typeface="Avenir Next"/>
              </a:defRPr>
            </a:lvl9pPr>
          </a:lstStyle>
          <a:p xmlns:a="http://schemas.openxmlformats.org/drawingml/2006/main">
            <a:pPr>
              <a:defRPr sz="2025" b="1">
                <a:solidFill>
                  <a:srgbClr val="D5E4AD"/>
                </a:solidFill>
                <a:latin typeface="Avenir Next"/>
                <a:ea typeface="Avenir Next"/>
                <a:cs typeface="Avenir Next"/>
              </a:defRPr>
            </a:pPr>
            <a:r>
              <a:rPr sz="2025" b="1">
                <a:solidFill>
                  <a:srgbClr val="D5E4AD"/>
                </a:solidFill>
                <a:latin typeface="Avenir Next"/>
                <a:ea typeface="Avenir Next"/>
                <a:cs typeface="Avenir Next"/>
              </a:rPr>
              <a:t>CACAO</a:t>
            </a:r>
          </a:p>
        </p:txBody>
      </p:sp>
      <p:sp>
        <p:nvSpPr>
          <p:cNvPr id="2" name="Moniliasis en cacao">
            <a:extLst xmlns:a="http://schemas.openxmlformats.org/drawingml/2006/main">
              <a:ext uri="{FF2B5EF4-FFF2-40B4-BE49-F238E27FC236}">
                <a16:creationId xmlns:a16="http://schemas.microsoft.com/office/drawing/2014/main" id="{5D5EE897-11B9-47FE-B889-6C1CF3FAAFED}"/>
              </a:ext>
            </a:extLst>
          </p:cNvPr>
          <p:cNvSpPr>
            <a:spLocks xmlns:a="http://schemas.openxmlformats.org/drawingml/2006/main" noGrp="1"/>
          </p:cNvSpPr>
          <p:nvPr/>
        </p:nvSpPr>
        <p:spPr>
          <a:xfrm xmlns:a="http://schemas.openxmlformats.org/drawingml/2006/main">
            <a:off x="609600" y="1219200"/>
            <a:ext cx="5429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F5F3E9"/>
                </a:solidFill>
                <a:latin typeface="Avenir Next"/>
                <a:ea typeface="Avenir Next"/>
                <a:cs typeface="Avenir Next"/>
              </a:defRPr>
            </a:defPPr>
            <a:lvl1pPr>
              <a:defRPr sz="3975" b="1">
                <a:solidFill>
                  <a:srgbClr val="F5F3E9"/>
                </a:solidFill>
                <a:latin typeface="Avenir Next"/>
                <a:ea typeface="Avenir Next"/>
                <a:cs typeface="Avenir Next"/>
              </a:defRPr>
            </a:lvl1pPr>
            <a:lvl2pPr>
              <a:defRPr sz="3975" b="1">
                <a:solidFill>
                  <a:srgbClr val="F5F3E9"/>
                </a:solidFill>
                <a:latin typeface="Avenir Next"/>
                <a:ea typeface="Avenir Next"/>
                <a:cs typeface="Avenir Next"/>
              </a:defRPr>
            </a:lvl2pPr>
            <a:lvl3pPr>
              <a:defRPr sz="3975" b="1">
                <a:solidFill>
                  <a:srgbClr val="F5F3E9"/>
                </a:solidFill>
                <a:latin typeface="Avenir Next"/>
                <a:ea typeface="Avenir Next"/>
                <a:cs typeface="Avenir Next"/>
              </a:defRPr>
            </a:lvl3pPr>
            <a:lvl4pPr>
              <a:defRPr sz="3975" b="1">
                <a:solidFill>
                  <a:srgbClr val="F5F3E9"/>
                </a:solidFill>
                <a:latin typeface="Avenir Next"/>
                <a:ea typeface="Avenir Next"/>
                <a:cs typeface="Avenir Next"/>
              </a:defRPr>
            </a:lvl4pPr>
            <a:lvl5pPr>
              <a:defRPr sz="3975" b="1">
                <a:solidFill>
                  <a:srgbClr val="F5F3E9"/>
                </a:solidFill>
                <a:latin typeface="Avenir Next"/>
                <a:ea typeface="Avenir Next"/>
                <a:cs typeface="Avenir Next"/>
              </a:defRPr>
            </a:lvl5pPr>
            <a:lvl6pPr>
              <a:defRPr sz="3975" b="1">
                <a:solidFill>
                  <a:srgbClr val="F5F3E9"/>
                </a:solidFill>
                <a:latin typeface="Avenir Next"/>
                <a:ea typeface="Avenir Next"/>
                <a:cs typeface="Avenir Next"/>
              </a:defRPr>
            </a:lvl6pPr>
            <a:lvl7pPr>
              <a:defRPr sz="3975" b="1">
                <a:solidFill>
                  <a:srgbClr val="F5F3E9"/>
                </a:solidFill>
                <a:latin typeface="Avenir Next"/>
                <a:ea typeface="Avenir Next"/>
                <a:cs typeface="Avenir Next"/>
              </a:defRPr>
            </a:lvl7pPr>
            <a:lvl8pPr>
              <a:defRPr sz="3975" b="1">
                <a:solidFill>
                  <a:srgbClr val="F5F3E9"/>
                </a:solidFill>
                <a:latin typeface="Avenir Next"/>
                <a:ea typeface="Avenir Next"/>
                <a:cs typeface="Avenir Next"/>
              </a:defRPr>
            </a:lvl8pPr>
            <a:lvl9pPr>
              <a:defRPr sz="3975" b="1">
                <a:solidFill>
                  <a:srgbClr val="F5F3E9"/>
                </a:solidFill>
                <a:latin typeface="Avenir Next"/>
                <a:ea typeface="Avenir Next"/>
                <a:cs typeface="Avenir Next"/>
              </a:defRPr>
            </a:lvl9pPr>
          </a:lstStyle>
          <a:p xmlns:a="http://schemas.openxmlformats.org/drawingml/2006/main">
            <a:pPr>
              <a:defRPr sz="3975" b="1">
                <a:solidFill>
                  <a:srgbClr val="F5F3E9"/>
                </a:solidFill>
                <a:latin typeface="Avenir Next"/>
                <a:ea typeface="Avenir Next"/>
                <a:cs typeface="Avenir Next"/>
              </a:defRPr>
            </a:pPr>
            <a:r>
              <a:rPr sz="3975" b="1">
                <a:solidFill>
                  <a:srgbClr val="F5F3E9"/>
                </a:solidFill>
                <a:latin typeface="Avenir Next"/>
                <a:ea typeface="Avenir Next"/>
                <a:cs typeface="Avenir Next"/>
              </a:rPr>
              <a:t>Moniliasis en cacao</a:t>
            </a:r>
          </a:p>
        </p:txBody>
      </p:sp>
      <p:sp>
        <p:nvSpPr>
          <p:cNvPr id="3" name="El control exige revisar&#10;la plantación y reti">
            <a:extLst xmlns:a="http://schemas.openxmlformats.org/drawingml/2006/main">
              <a:ext uri="{FF2B5EF4-FFF2-40B4-BE49-F238E27FC236}">
                <a16:creationId xmlns:a16="http://schemas.microsoft.com/office/drawing/2014/main" id="{4CC4E96F-1519-422A-97AD-D9BA5A0E0D6A}"/>
              </a:ext>
            </a:extLst>
          </p:cNvPr>
          <p:cNvSpPr>
            <a:spLocks xmlns:a="http://schemas.openxmlformats.org/drawingml/2006/main" noGrp="1"/>
          </p:cNvSpPr>
          <p:nvPr/>
        </p:nvSpPr>
        <p:spPr>
          <a:xfrm xmlns:a="http://schemas.openxmlformats.org/drawingml/2006/main">
            <a:off x="609600" y="2781300"/>
            <a:ext cx="52387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5F3E9"/>
                </a:solidFill>
                <a:latin typeface="Avenir Next"/>
                <a:ea typeface="Avenir Next"/>
                <a:cs typeface="Avenir Next"/>
              </a:defRPr>
            </a:defPPr>
            <a:lvl1pPr>
              <a:defRPr sz="2550" b="0">
                <a:solidFill>
                  <a:srgbClr val="F5F3E9"/>
                </a:solidFill>
                <a:latin typeface="Avenir Next"/>
                <a:ea typeface="Avenir Next"/>
                <a:cs typeface="Avenir Next"/>
              </a:defRPr>
            </a:lvl1pPr>
            <a:lvl2pPr>
              <a:defRPr sz="2550" b="0">
                <a:solidFill>
                  <a:srgbClr val="F5F3E9"/>
                </a:solidFill>
                <a:latin typeface="Avenir Next"/>
                <a:ea typeface="Avenir Next"/>
                <a:cs typeface="Avenir Next"/>
              </a:defRPr>
            </a:lvl2pPr>
            <a:lvl3pPr>
              <a:defRPr sz="2550" b="0">
                <a:solidFill>
                  <a:srgbClr val="F5F3E9"/>
                </a:solidFill>
                <a:latin typeface="Avenir Next"/>
                <a:ea typeface="Avenir Next"/>
                <a:cs typeface="Avenir Next"/>
              </a:defRPr>
            </a:lvl3pPr>
            <a:lvl4pPr>
              <a:defRPr sz="2550" b="0">
                <a:solidFill>
                  <a:srgbClr val="F5F3E9"/>
                </a:solidFill>
                <a:latin typeface="Avenir Next"/>
                <a:ea typeface="Avenir Next"/>
                <a:cs typeface="Avenir Next"/>
              </a:defRPr>
            </a:lvl4pPr>
            <a:lvl5pPr>
              <a:defRPr sz="2550" b="0">
                <a:solidFill>
                  <a:srgbClr val="F5F3E9"/>
                </a:solidFill>
                <a:latin typeface="Avenir Next"/>
                <a:ea typeface="Avenir Next"/>
                <a:cs typeface="Avenir Next"/>
              </a:defRPr>
            </a:lvl5pPr>
            <a:lvl6pPr>
              <a:defRPr sz="2550" b="0">
                <a:solidFill>
                  <a:srgbClr val="F5F3E9"/>
                </a:solidFill>
                <a:latin typeface="Avenir Next"/>
                <a:ea typeface="Avenir Next"/>
                <a:cs typeface="Avenir Next"/>
              </a:defRPr>
            </a:lvl6pPr>
            <a:lvl7pPr>
              <a:defRPr sz="2550" b="0">
                <a:solidFill>
                  <a:srgbClr val="F5F3E9"/>
                </a:solidFill>
                <a:latin typeface="Avenir Next"/>
                <a:ea typeface="Avenir Next"/>
                <a:cs typeface="Avenir Next"/>
              </a:defRPr>
            </a:lvl7pPr>
            <a:lvl8pPr>
              <a:defRPr sz="2550" b="0">
                <a:solidFill>
                  <a:srgbClr val="F5F3E9"/>
                </a:solidFill>
                <a:latin typeface="Avenir Next"/>
                <a:ea typeface="Avenir Next"/>
                <a:cs typeface="Avenir Next"/>
              </a:defRPr>
            </a:lvl8pPr>
            <a:lvl9pPr>
              <a:defRPr sz="2550" b="0">
                <a:solidFill>
                  <a:srgbClr val="F5F3E9"/>
                </a:solidFill>
                <a:latin typeface="Avenir Next"/>
                <a:ea typeface="Avenir Next"/>
                <a:cs typeface="Avenir Next"/>
              </a:defRPr>
            </a:lvl9pPr>
          </a:lstStyle>
          <a:p xmlns:a="http://schemas.openxmlformats.org/drawingml/2006/main">
            <a:pPr>
              <a:defRPr sz="2550" b="0">
                <a:solidFill>
                  <a:srgbClr val="F5F3E9"/>
                </a:solidFill>
                <a:latin typeface="Avenir Next"/>
                <a:ea typeface="Avenir Next"/>
                <a:cs typeface="Avenir Next"/>
              </a:defRPr>
            </a:pPr>
            <a:r>
              <a:rPr sz="2550" b="0">
                <a:solidFill>
                  <a:srgbClr val="F5F3E9"/>
                </a:solidFill>
                <a:latin typeface="Avenir Next"/>
                <a:ea typeface="Avenir Next"/>
                <a:cs typeface="Avenir Next"/>
              </a:rPr>
              <a:t>El control exige revisar</a:t>
            </a:r>
          </a:p>
          <a:p xmlns:a="http://schemas.openxmlformats.org/drawingml/2006/main">
            <a:pPr>
              <a:defRPr sz="2550" b="0">
                <a:solidFill>
                  <a:srgbClr val="F5F3E9"/>
                </a:solidFill>
                <a:latin typeface="Avenir Next"/>
                <a:ea typeface="Avenir Next"/>
                <a:cs typeface="Avenir Next"/>
              </a:defRPr>
            </a:pPr>
            <a:r>
              <a:rPr sz="2550" b="0">
                <a:solidFill>
                  <a:srgbClr val="F5F3E9"/>
                </a:solidFill>
                <a:latin typeface="Avenir Next"/>
                <a:ea typeface="Avenir Next"/>
                <a:cs typeface="Avenir Next"/>
              </a:rPr>
              <a:t>la plantación y retirar</a:t>
            </a:r>
          </a:p>
          <a:p xmlns:a="http://schemas.openxmlformats.org/drawingml/2006/main">
            <a:pPr>
              <a:defRPr sz="2550" b="0">
                <a:solidFill>
                  <a:srgbClr val="F5F3E9"/>
                </a:solidFill>
                <a:latin typeface="Avenir Next"/>
                <a:ea typeface="Avenir Next"/>
                <a:cs typeface="Avenir Next"/>
              </a:defRPr>
            </a:pPr>
            <a:r>
              <a:rPr sz="2550" b="0">
                <a:solidFill>
                  <a:srgbClr val="F5F3E9"/>
                </a:solidFill>
                <a:latin typeface="Avenir Next"/>
                <a:ea typeface="Avenir Next"/>
                <a:cs typeface="Avenir Next"/>
              </a:rPr>
              <a:t>frutos afectados.</a:t>
            </a:r>
          </a:p>
        </p:txBody>
      </p:sp>
      <p:sp>
        <p:nvSpPr>
          <p:cNvPr id="4" name="Una tarea recurrente&#10;para el productor">
            <a:extLst xmlns:a="http://schemas.openxmlformats.org/drawingml/2006/main">
              <a:ext uri="{FF2B5EF4-FFF2-40B4-BE49-F238E27FC236}">
                <a16:creationId xmlns:a16="http://schemas.microsoft.com/office/drawing/2014/main" id="{960891F9-6494-428D-ABCF-31DB0D680300}"/>
              </a:ext>
            </a:extLst>
          </p:cNvPr>
          <p:cNvSpPr>
            <a:spLocks xmlns:a="http://schemas.openxmlformats.org/drawingml/2006/main" noGrp="1"/>
          </p:cNvSpPr>
          <p:nvPr/>
        </p:nvSpPr>
        <p:spPr>
          <a:xfrm xmlns:a="http://schemas.openxmlformats.org/drawingml/2006/main">
            <a:off x="609600" y="467677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D5E4AD"/>
                </a:solidFill>
                <a:latin typeface="Avenir Next"/>
                <a:ea typeface="Avenir Next"/>
                <a:cs typeface="Avenir Next"/>
              </a:defRPr>
            </a:defPPr>
            <a:lvl1pPr>
              <a:defRPr sz="2250" b="1">
                <a:solidFill>
                  <a:srgbClr val="D5E4AD"/>
                </a:solidFill>
                <a:latin typeface="Avenir Next"/>
                <a:ea typeface="Avenir Next"/>
                <a:cs typeface="Avenir Next"/>
              </a:defRPr>
            </a:lvl1pPr>
            <a:lvl2pPr>
              <a:defRPr sz="2250" b="1">
                <a:solidFill>
                  <a:srgbClr val="D5E4AD"/>
                </a:solidFill>
                <a:latin typeface="Avenir Next"/>
                <a:ea typeface="Avenir Next"/>
                <a:cs typeface="Avenir Next"/>
              </a:defRPr>
            </a:lvl2pPr>
            <a:lvl3pPr>
              <a:defRPr sz="2250" b="1">
                <a:solidFill>
                  <a:srgbClr val="D5E4AD"/>
                </a:solidFill>
                <a:latin typeface="Avenir Next"/>
                <a:ea typeface="Avenir Next"/>
                <a:cs typeface="Avenir Next"/>
              </a:defRPr>
            </a:lvl3pPr>
            <a:lvl4pPr>
              <a:defRPr sz="2250" b="1">
                <a:solidFill>
                  <a:srgbClr val="D5E4AD"/>
                </a:solidFill>
                <a:latin typeface="Avenir Next"/>
                <a:ea typeface="Avenir Next"/>
                <a:cs typeface="Avenir Next"/>
              </a:defRPr>
            </a:lvl4pPr>
            <a:lvl5pPr>
              <a:defRPr sz="2250" b="1">
                <a:solidFill>
                  <a:srgbClr val="D5E4AD"/>
                </a:solidFill>
                <a:latin typeface="Avenir Next"/>
                <a:ea typeface="Avenir Next"/>
                <a:cs typeface="Avenir Next"/>
              </a:defRPr>
            </a:lvl5pPr>
            <a:lvl6pPr>
              <a:defRPr sz="2250" b="1">
                <a:solidFill>
                  <a:srgbClr val="D5E4AD"/>
                </a:solidFill>
                <a:latin typeface="Avenir Next"/>
                <a:ea typeface="Avenir Next"/>
                <a:cs typeface="Avenir Next"/>
              </a:defRPr>
            </a:lvl6pPr>
            <a:lvl7pPr>
              <a:defRPr sz="2250" b="1">
                <a:solidFill>
                  <a:srgbClr val="D5E4AD"/>
                </a:solidFill>
                <a:latin typeface="Avenir Next"/>
                <a:ea typeface="Avenir Next"/>
                <a:cs typeface="Avenir Next"/>
              </a:defRPr>
            </a:lvl7pPr>
            <a:lvl8pPr>
              <a:defRPr sz="2250" b="1">
                <a:solidFill>
                  <a:srgbClr val="D5E4AD"/>
                </a:solidFill>
                <a:latin typeface="Avenir Next"/>
                <a:ea typeface="Avenir Next"/>
                <a:cs typeface="Avenir Next"/>
              </a:defRPr>
            </a:lvl8pPr>
            <a:lvl9pPr>
              <a:defRPr sz="2250" b="1">
                <a:solidFill>
                  <a:srgbClr val="D5E4AD"/>
                </a:solidFill>
                <a:latin typeface="Avenir Next"/>
                <a:ea typeface="Avenir Next"/>
                <a:cs typeface="Avenir Next"/>
              </a:defRPr>
            </a:lvl9pPr>
          </a:lstStyle>
          <a:p xmlns:a="http://schemas.openxmlformats.org/drawingml/2006/main">
            <a:pPr>
              <a:defRPr sz="2250" b="1">
                <a:solidFill>
                  <a:srgbClr val="D5E4AD"/>
                </a:solidFill>
                <a:latin typeface="Avenir Next"/>
                <a:ea typeface="Avenir Next"/>
                <a:cs typeface="Avenir Next"/>
              </a:defRPr>
            </a:pPr>
            <a:r>
              <a:rPr sz="2250" b="1">
                <a:solidFill>
                  <a:srgbClr val="D5E4AD"/>
                </a:solidFill>
                <a:latin typeface="Avenir Next"/>
                <a:ea typeface="Avenir Next"/>
                <a:cs typeface="Avenir Next"/>
              </a:rPr>
              <a:t>Una tarea recurrente</a:t>
            </a:r>
          </a:p>
          <a:p xmlns:a="http://schemas.openxmlformats.org/drawingml/2006/main">
            <a:pPr>
              <a:defRPr sz="2250" b="1">
                <a:solidFill>
                  <a:srgbClr val="D5E4AD"/>
                </a:solidFill>
                <a:latin typeface="Avenir Next"/>
                <a:ea typeface="Avenir Next"/>
                <a:cs typeface="Avenir Next"/>
              </a:defRPr>
            </a:pPr>
            <a:r>
              <a:rPr sz="2250" b="1">
                <a:solidFill>
                  <a:srgbClr val="D5E4AD"/>
                </a:solidFill>
                <a:latin typeface="Avenir Next"/>
                <a:ea typeface="Avenir Next"/>
                <a:cs typeface="Avenir Next"/>
              </a:rPr>
              <a:t>para el productor</a:t>
            </a:r>
          </a:p>
        </p:txBody>
      </p:sp>
      <p:sp>
        <p:nvSpPr>
          <p:cNvPr id="5" name="Kevin Navarro&#10;Hack the Andes 2026">
            <a:extLst xmlns:a="http://schemas.openxmlformats.org/drawingml/2006/main">
              <a:ext uri="{FF2B5EF4-FFF2-40B4-BE49-F238E27FC236}">
                <a16:creationId xmlns:a16="http://schemas.microsoft.com/office/drawing/2014/main" id="{42E9F252-B9D1-41C4-A159-AEE72FBF95F1}"/>
              </a:ext>
            </a:extLst>
          </p:cNvPr>
          <p:cNvSpPr>
            <a:spLocks xmlns:a="http://schemas.openxmlformats.org/drawingml/2006/main" noGrp="1"/>
          </p:cNvSpPr>
          <p:nvPr/>
        </p:nvSpPr>
        <p:spPr>
          <a:xfrm xmlns:a="http://schemas.openxmlformats.org/drawingml/2006/main">
            <a:off x="609600" y="59912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5F3E9"/>
                </a:solidFill>
                <a:latin typeface="Avenir Next"/>
                <a:ea typeface="Avenir Next"/>
                <a:cs typeface="Avenir Next"/>
              </a:defRPr>
            </a:defPPr>
            <a:lvl1pPr>
              <a:defRPr sz="1500" b="0">
                <a:solidFill>
                  <a:srgbClr val="F5F3E9"/>
                </a:solidFill>
                <a:latin typeface="Avenir Next"/>
                <a:ea typeface="Avenir Next"/>
                <a:cs typeface="Avenir Next"/>
              </a:defRPr>
            </a:lvl1pPr>
            <a:lvl2pPr>
              <a:defRPr sz="1500" b="0">
                <a:solidFill>
                  <a:srgbClr val="F5F3E9"/>
                </a:solidFill>
                <a:latin typeface="Avenir Next"/>
                <a:ea typeface="Avenir Next"/>
                <a:cs typeface="Avenir Next"/>
              </a:defRPr>
            </a:lvl2pPr>
            <a:lvl3pPr>
              <a:defRPr sz="1500" b="0">
                <a:solidFill>
                  <a:srgbClr val="F5F3E9"/>
                </a:solidFill>
                <a:latin typeface="Avenir Next"/>
                <a:ea typeface="Avenir Next"/>
                <a:cs typeface="Avenir Next"/>
              </a:defRPr>
            </a:lvl3pPr>
            <a:lvl4pPr>
              <a:defRPr sz="1500" b="0">
                <a:solidFill>
                  <a:srgbClr val="F5F3E9"/>
                </a:solidFill>
                <a:latin typeface="Avenir Next"/>
                <a:ea typeface="Avenir Next"/>
                <a:cs typeface="Avenir Next"/>
              </a:defRPr>
            </a:lvl4pPr>
            <a:lvl5pPr>
              <a:defRPr sz="1500" b="0">
                <a:solidFill>
                  <a:srgbClr val="F5F3E9"/>
                </a:solidFill>
                <a:latin typeface="Avenir Next"/>
                <a:ea typeface="Avenir Next"/>
                <a:cs typeface="Avenir Next"/>
              </a:defRPr>
            </a:lvl5pPr>
            <a:lvl6pPr>
              <a:defRPr sz="1500" b="0">
                <a:solidFill>
                  <a:srgbClr val="F5F3E9"/>
                </a:solidFill>
                <a:latin typeface="Avenir Next"/>
                <a:ea typeface="Avenir Next"/>
                <a:cs typeface="Avenir Next"/>
              </a:defRPr>
            </a:lvl6pPr>
            <a:lvl7pPr>
              <a:defRPr sz="1500" b="0">
                <a:solidFill>
                  <a:srgbClr val="F5F3E9"/>
                </a:solidFill>
                <a:latin typeface="Avenir Next"/>
                <a:ea typeface="Avenir Next"/>
                <a:cs typeface="Avenir Next"/>
              </a:defRPr>
            </a:lvl7pPr>
            <a:lvl8pPr>
              <a:defRPr sz="1500" b="0">
                <a:solidFill>
                  <a:srgbClr val="F5F3E9"/>
                </a:solidFill>
                <a:latin typeface="Avenir Next"/>
                <a:ea typeface="Avenir Next"/>
                <a:cs typeface="Avenir Next"/>
              </a:defRPr>
            </a:lvl8pPr>
            <a:lvl9pPr>
              <a:defRPr sz="1500" b="0">
                <a:solidFill>
                  <a:srgbClr val="F5F3E9"/>
                </a:solidFill>
                <a:latin typeface="Avenir Next"/>
                <a:ea typeface="Avenir Next"/>
                <a:cs typeface="Avenir Next"/>
              </a:defRPr>
            </a:lvl9pPr>
          </a:lstStyle>
          <a:p xmlns:a="http://schemas.openxmlformats.org/drawingml/2006/main">
            <a:pPr>
              <a:defRPr sz="1500" b="0">
                <a:solidFill>
                  <a:srgbClr val="F5F3E9"/>
                </a:solidFill>
                <a:latin typeface="Avenir Next"/>
                <a:ea typeface="Avenir Next"/>
                <a:cs typeface="Avenir Next"/>
              </a:defRPr>
            </a:pPr>
            <a:r>
              <a:rPr sz="1500" b="0">
                <a:solidFill>
                  <a:srgbClr val="F5F3E9"/>
                </a:solidFill>
                <a:latin typeface="Avenir Next"/>
                <a:ea typeface="Avenir Next"/>
                <a:cs typeface="Avenir Next"/>
              </a:rPr>
              <a:t>Kevin Navarro</a:t>
            </a:r>
          </a:p>
          <a:p xmlns:a="http://schemas.openxmlformats.org/drawingml/2006/main">
            <a:pPr>
              <a:defRPr sz="1500" b="0">
                <a:solidFill>
                  <a:srgbClr val="F5F3E9"/>
                </a:solidFill>
                <a:latin typeface="Avenir Next"/>
                <a:ea typeface="Avenir Next"/>
                <a:cs typeface="Avenir Next"/>
              </a:defRPr>
            </a:pPr>
            <a:r>
              <a:rPr sz="1500" b="0">
                <a:solidFill>
                  <a:srgbClr val="F5F3E9"/>
                </a:solidFill>
                <a:latin typeface="Avenir Next"/>
                <a:ea typeface="Avenir Next"/>
                <a:cs typeface="Avenir Next"/>
              </a:rPr>
              <a:t>Hack the Andes 2026</a:t>
            </a:r>
          </a:p>
        </p:txBody>
      </p:sp>
      <p:pic>
        <p:nvPicPr>
          <p:cNvPr id="6" name="">
            <a:extLst xmlns:a="http://schemas.openxmlformats.org/drawingml/2006/main">
              <a:ext uri="{FF2B5EF4-FFF2-40B4-BE49-F238E27FC236}">
                <a16:creationId xmlns:a16="http://schemas.microsoft.com/office/drawing/2014/main" id="{8C680456-E20F-4C3F-BDAA-2A77DA7F52E5}"/>
              </a:ext>
            </a:extLst>
          </p:cNvPr>
          <p:cNvPicPr>
            <a:picLocks xmlns:a="http://schemas.openxmlformats.org/drawingml/2006/main" noChangeAspect="1"/>
          </p:cNvPicPr>
          <p:nvPr/>
        </p:nvPicPr>
        <p:blipFill>
          <a:blip xmlns:r="http://schemas.openxmlformats.org/officeDocument/2006/relationships" xmlns:a="http://schemas.openxmlformats.org/drawingml/2006/main" r:embed="Ref466235dd6d4c7d"/>
          <a:stretch xmlns:a="http://schemas.openxmlformats.org/drawingml/2006/main"/>
        </p:blipFill>
        <p:spPr>
          <a:xfrm xmlns:a="http://schemas.openxmlformats.org/drawingml/2006/main">
            <a:off x="6210300" y="1381125"/>
            <a:ext cx="2571750" cy="3429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C7FDF5B-B984-4579-A2E3-0CA958A9DA22}"/>
              </a:ext>
            </a:extLst>
          </p:cNvPr>
          <p:cNvPicPr>
            <a:picLocks xmlns:a="http://schemas.openxmlformats.org/drawingml/2006/main" noChangeAspect="1"/>
          </p:cNvPicPr>
          <p:nvPr/>
        </p:nvPicPr>
        <p:blipFill>
          <a:blip xmlns:r="http://schemas.openxmlformats.org/officeDocument/2006/relationships" xmlns:a="http://schemas.openxmlformats.org/drawingml/2006/main" r:embed="Rb32827b9ce754e6c"/>
          <a:stretch xmlns:a="http://schemas.openxmlformats.org/drawingml/2006/main"/>
        </p:blipFill>
        <p:spPr>
          <a:xfrm xmlns:a="http://schemas.openxmlformats.org/drawingml/2006/main">
            <a:off x="9010650" y="1381125"/>
            <a:ext cx="2571750" cy="3429000"/>
          </a:xfrm>
          <a:prstGeom xmlns:a="http://schemas.openxmlformats.org/drawingml/2006/main" prst="rect">
            <a:avLst/>
          </a:prstGeom>
        </p:spPr>
      </p:pic>
      <p:sp>
        <p:nvSpPr>
          <p:cNvPr id="8" name="Sano">
            <a:extLst xmlns:a="http://schemas.openxmlformats.org/drawingml/2006/main">
              <a:ext uri="{FF2B5EF4-FFF2-40B4-BE49-F238E27FC236}">
                <a16:creationId xmlns:a16="http://schemas.microsoft.com/office/drawing/2014/main" id="{404C76D1-1941-41D2-A5F7-DAAAE752939C}"/>
              </a:ext>
            </a:extLst>
          </p:cNvPr>
          <p:cNvSpPr>
            <a:spLocks xmlns:a="http://schemas.openxmlformats.org/drawingml/2006/main" noGrp="1"/>
          </p:cNvSpPr>
          <p:nvPr/>
        </p:nvSpPr>
        <p:spPr>
          <a:xfrm xmlns:a="http://schemas.openxmlformats.org/drawingml/2006/main">
            <a:off x="6210300" y="50101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5F3E9"/>
                </a:solidFill>
                <a:latin typeface="Avenir Next"/>
                <a:ea typeface="Avenir Next"/>
                <a:cs typeface="Avenir Next"/>
              </a:defRPr>
            </a:defPPr>
            <a:lvl1pPr>
              <a:defRPr sz="2025" b="1">
                <a:solidFill>
                  <a:srgbClr val="F5F3E9"/>
                </a:solidFill>
                <a:latin typeface="Avenir Next"/>
                <a:ea typeface="Avenir Next"/>
                <a:cs typeface="Avenir Next"/>
              </a:defRPr>
            </a:lvl1pPr>
            <a:lvl2pPr>
              <a:defRPr sz="2025" b="1">
                <a:solidFill>
                  <a:srgbClr val="F5F3E9"/>
                </a:solidFill>
                <a:latin typeface="Avenir Next"/>
                <a:ea typeface="Avenir Next"/>
                <a:cs typeface="Avenir Next"/>
              </a:defRPr>
            </a:lvl2pPr>
            <a:lvl3pPr>
              <a:defRPr sz="2025" b="1">
                <a:solidFill>
                  <a:srgbClr val="F5F3E9"/>
                </a:solidFill>
                <a:latin typeface="Avenir Next"/>
                <a:ea typeface="Avenir Next"/>
                <a:cs typeface="Avenir Next"/>
              </a:defRPr>
            </a:lvl3pPr>
            <a:lvl4pPr>
              <a:defRPr sz="2025" b="1">
                <a:solidFill>
                  <a:srgbClr val="F5F3E9"/>
                </a:solidFill>
                <a:latin typeface="Avenir Next"/>
                <a:ea typeface="Avenir Next"/>
                <a:cs typeface="Avenir Next"/>
              </a:defRPr>
            </a:lvl4pPr>
            <a:lvl5pPr>
              <a:defRPr sz="2025" b="1">
                <a:solidFill>
                  <a:srgbClr val="F5F3E9"/>
                </a:solidFill>
                <a:latin typeface="Avenir Next"/>
                <a:ea typeface="Avenir Next"/>
                <a:cs typeface="Avenir Next"/>
              </a:defRPr>
            </a:lvl5pPr>
            <a:lvl6pPr>
              <a:defRPr sz="2025" b="1">
                <a:solidFill>
                  <a:srgbClr val="F5F3E9"/>
                </a:solidFill>
                <a:latin typeface="Avenir Next"/>
                <a:ea typeface="Avenir Next"/>
                <a:cs typeface="Avenir Next"/>
              </a:defRPr>
            </a:lvl6pPr>
            <a:lvl7pPr>
              <a:defRPr sz="2025" b="1">
                <a:solidFill>
                  <a:srgbClr val="F5F3E9"/>
                </a:solidFill>
                <a:latin typeface="Avenir Next"/>
                <a:ea typeface="Avenir Next"/>
                <a:cs typeface="Avenir Next"/>
              </a:defRPr>
            </a:lvl7pPr>
            <a:lvl8pPr>
              <a:defRPr sz="2025" b="1">
                <a:solidFill>
                  <a:srgbClr val="F5F3E9"/>
                </a:solidFill>
                <a:latin typeface="Avenir Next"/>
                <a:ea typeface="Avenir Next"/>
                <a:cs typeface="Avenir Next"/>
              </a:defRPr>
            </a:lvl8pPr>
            <a:lvl9pPr>
              <a:defRPr sz="2025" b="1">
                <a:solidFill>
                  <a:srgbClr val="F5F3E9"/>
                </a:solidFill>
                <a:latin typeface="Avenir Next"/>
                <a:ea typeface="Avenir Next"/>
                <a:cs typeface="Avenir Next"/>
              </a:defRPr>
            </a:lvl9pPr>
          </a:lstStyle>
          <a:p xmlns:a="http://schemas.openxmlformats.org/drawingml/2006/main">
            <a:pPr>
              <a:defRPr sz="2025" b="1">
                <a:solidFill>
                  <a:srgbClr val="F5F3E9"/>
                </a:solidFill>
                <a:latin typeface="Avenir Next"/>
                <a:ea typeface="Avenir Next"/>
                <a:cs typeface="Avenir Next"/>
              </a:defRPr>
            </a:pPr>
            <a:r>
              <a:rPr sz="2025" b="1">
                <a:solidFill>
                  <a:srgbClr val="F5F3E9"/>
                </a:solidFill>
                <a:latin typeface="Avenir Next"/>
                <a:ea typeface="Avenir Next"/>
                <a:cs typeface="Avenir Next"/>
              </a:rPr>
              <a:t>Sano</a:t>
            </a:r>
          </a:p>
        </p:txBody>
      </p:sp>
      <p:sp>
        <p:nvSpPr>
          <p:cNvPr id="9" name="Monilia">
            <a:extLst xmlns:a="http://schemas.openxmlformats.org/drawingml/2006/main">
              <a:ext uri="{FF2B5EF4-FFF2-40B4-BE49-F238E27FC236}">
                <a16:creationId xmlns:a16="http://schemas.microsoft.com/office/drawing/2014/main" id="{EBC945B5-544D-4DF2-BA59-7DF45B26097D}"/>
              </a:ext>
            </a:extLst>
          </p:cNvPr>
          <p:cNvSpPr>
            <a:spLocks xmlns:a="http://schemas.openxmlformats.org/drawingml/2006/main" noGrp="1"/>
          </p:cNvSpPr>
          <p:nvPr/>
        </p:nvSpPr>
        <p:spPr>
          <a:xfrm xmlns:a="http://schemas.openxmlformats.org/drawingml/2006/main">
            <a:off x="9010650" y="50101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5F3E9"/>
                </a:solidFill>
                <a:latin typeface="Avenir Next"/>
                <a:ea typeface="Avenir Next"/>
                <a:cs typeface="Avenir Next"/>
              </a:defRPr>
            </a:defPPr>
            <a:lvl1pPr>
              <a:defRPr sz="2025" b="1">
                <a:solidFill>
                  <a:srgbClr val="F5F3E9"/>
                </a:solidFill>
                <a:latin typeface="Avenir Next"/>
                <a:ea typeface="Avenir Next"/>
                <a:cs typeface="Avenir Next"/>
              </a:defRPr>
            </a:lvl1pPr>
            <a:lvl2pPr>
              <a:defRPr sz="2025" b="1">
                <a:solidFill>
                  <a:srgbClr val="F5F3E9"/>
                </a:solidFill>
                <a:latin typeface="Avenir Next"/>
                <a:ea typeface="Avenir Next"/>
                <a:cs typeface="Avenir Next"/>
              </a:defRPr>
            </a:lvl2pPr>
            <a:lvl3pPr>
              <a:defRPr sz="2025" b="1">
                <a:solidFill>
                  <a:srgbClr val="F5F3E9"/>
                </a:solidFill>
                <a:latin typeface="Avenir Next"/>
                <a:ea typeface="Avenir Next"/>
                <a:cs typeface="Avenir Next"/>
              </a:defRPr>
            </a:lvl3pPr>
            <a:lvl4pPr>
              <a:defRPr sz="2025" b="1">
                <a:solidFill>
                  <a:srgbClr val="F5F3E9"/>
                </a:solidFill>
                <a:latin typeface="Avenir Next"/>
                <a:ea typeface="Avenir Next"/>
                <a:cs typeface="Avenir Next"/>
              </a:defRPr>
            </a:lvl4pPr>
            <a:lvl5pPr>
              <a:defRPr sz="2025" b="1">
                <a:solidFill>
                  <a:srgbClr val="F5F3E9"/>
                </a:solidFill>
                <a:latin typeface="Avenir Next"/>
                <a:ea typeface="Avenir Next"/>
                <a:cs typeface="Avenir Next"/>
              </a:defRPr>
            </a:lvl5pPr>
            <a:lvl6pPr>
              <a:defRPr sz="2025" b="1">
                <a:solidFill>
                  <a:srgbClr val="F5F3E9"/>
                </a:solidFill>
                <a:latin typeface="Avenir Next"/>
                <a:ea typeface="Avenir Next"/>
                <a:cs typeface="Avenir Next"/>
              </a:defRPr>
            </a:lvl6pPr>
            <a:lvl7pPr>
              <a:defRPr sz="2025" b="1">
                <a:solidFill>
                  <a:srgbClr val="F5F3E9"/>
                </a:solidFill>
                <a:latin typeface="Avenir Next"/>
                <a:ea typeface="Avenir Next"/>
                <a:cs typeface="Avenir Next"/>
              </a:defRPr>
            </a:lvl7pPr>
            <a:lvl8pPr>
              <a:defRPr sz="2025" b="1">
                <a:solidFill>
                  <a:srgbClr val="F5F3E9"/>
                </a:solidFill>
                <a:latin typeface="Avenir Next"/>
                <a:ea typeface="Avenir Next"/>
                <a:cs typeface="Avenir Next"/>
              </a:defRPr>
            </a:lvl8pPr>
            <a:lvl9pPr>
              <a:defRPr sz="2025" b="1">
                <a:solidFill>
                  <a:srgbClr val="F5F3E9"/>
                </a:solidFill>
                <a:latin typeface="Avenir Next"/>
                <a:ea typeface="Avenir Next"/>
                <a:cs typeface="Avenir Next"/>
              </a:defRPr>
            </a:lvl9pPr>
          </a:lstStyle>
          <a:p xmlns:a="http://schemas.openxmlformats.org/drawingml/2006/main">
            <a:pPr>
              <a:defRPr sz="2025" b="1">
                <a:solidFill>
                  <a:srgbClr val="F5F3E9"/>
                </a:solidFill>
                <a:latin typeface="Avenir Next"/>
                <a:ea typeface="Avenir Next"/>
                <a:cs typeface="Avenir Next"/>
              </a:defRPr>
            </a:pPr>
            <a:r>
              <a:rPr sz="2025" b="1">
                <a:solidFill>
                  <a:srgbClr val="F5F3E9"/>
                </a:solidFill>
                <a:latin typeface="Avenir Next"/>
                <a:ea typeface="Avenir Next"/>
                <a:cs typeface="Avenir Next"/>
              </a:rPr>
              <a:t>Monilia</a:t>
            </a:r>
          </a:p>
        </p:txBody>
      </p:sp>
      <p:sp>
        <p:nvSpPr>
          <p:cNvPr id="10" name="Fotografías reales del conjunto de prueba.&#10;Et">
            <a:extLst xmlns:a="http://schemas.openxmlformats.org/drawingml/2006/main">
              <a:ext uri="{FF2B5EF4-FFF2-40B4-BE49-F238E27FC236}">
                <a16:creationId xmlns:a16="http://schemas.microsoft.com/office/drawing/2014/main" id="{8E7EEB37-9337-4A96-86F2-2C56119893A5}"/>
              </a:ext>
            </a:extLst>
          </p:cNvPr>
          <p:cNvSpPr>
            <a:spLocks xmlns:a="http://schemas.openxmlformats.org/drawingml/2006/main" noGrp="1"/>
          </p:cNvSpPr>
          <p:nvPr/>
        </p:nvSpPr>
        <p:spPr>
          <a:xfrm xmlns:a="http://schemas.openxmlformats.org/drawingml/2006/main">
            <a:off x="6210300" y="5572125"/>
            <a:ext cx="5372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Fotografías reales del conjunto de prueba.</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Etiquetas del dataset Mendeley.</a:t>
            </a:r>
          </a:p>
        </p:txBody>
      </p:sp>
    </p:spTree>
    <p:extLst>
      <p:ext uri="{BB962C8B-B14F-4D97-AF65-F5344CB8AC3E}">
        <p14:creationId xmlns:p14="http://schemas.microsoft.com/office/powerpoint/2010/main" val="125230476"/>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2" name="Modelo entrenado con fotos reales">
            <a:extLst xmlns:a="http://schemas.openxmlformats.org/drawingml/2006/main">
              <a:ext uri="{FF2B5EF4-FFF2-40B4-BE49-F238E27FC236}">
                <a16:creationId xmlns:a16="http://schemas.microsoft.com/office/drawing/2014/main" id="{147BF16C-DC8C-4B2A-8B34-1B9588D9243E}"/>
              </a:ext>
            </a:extLst>
          </p:cNvPr>
          <p:cNvSpPr>
            <a:spLocks xmlns:a="http://schemas.openxmlformats.org/drawingml/2006/main" noGrp="1"/>
          </p:cNvSpPr>
          <p:nvPr/>
        </p:nvSpPr>
        <p:spPr>
          <a:xfrm xmlns:a="http://schemas.openxmlformats.org/drawingml/2006/main">
            <a:off x="609600" y="533400"/>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233B2B"/>
                </a:solidFill>
                <a:latin typeface="Avenir Next"/>
                <a:ea typeface="Avenir Next"/>
                <a:cs typeface="Avenir Next"/>
              </a:defRPr>
            </a:defPPr>
            <a:lvl1pPr>
              <a:defRPr sz="3525" b="1">
                <a:solidFill>
                  <a:srgbClr val="233B2B"/>
                </a:solidFill>
                <a:latin typeface="Avenir Next"/>
                <a:ea typeface="Avenir Next"/>
                <a:cs typeface="Avenir Next"/>
              </a:defRPr>
            </a:lvl1pPr>
            <a:lvl2pPr>
              <a:defRPr sz="3525" b="1">
                <a:solidFill>
                  <a:srgbClr val="233B2B"/>
                </a:solidFill>
                <a:latin typeface="Avenir Next"/>
                <a:ea typeface="Avenir Next"/>
                <a:cs typeface="Avenir Next"/>
              </a:defRPr>
            </a:lvl2pPr>
            <a:lvl3pPr>
              <a:defRPr sz="3525" b="1">
                <a:solidFill>
                  <a:srgbClr val="233B2B"/>
                </a:solidFill>
                <a:latin typeface="Avenir Next"/>
                <a:ea typeface="Avenir Next"/>
                <a:cs typeface="Avenir Next"/>
              </a:defRPr>
            </a:lvl3pPr>
            <a:lvl4pPr>
              <a:defRPr sz="3525" b="1">
                <a:solidFill>
                  <a:srgbClr val="233B2B"/>
                </a:solidFill>
                <a:latin typeface="Avenir Next"/>
                <a:ea typeface="Avenir Next"/>
                <a:cs typeface="Avenir Next"/>
              </a:defRPr>
            </a:lvl4pPr>
            <a:lvl5pPr>
              <a:defRPr sz="3525" b="1">
                <a:solidFill>
                  <a:srgbClr val="233B2B"/>
                </a:solidFill>
                <a:latin typeface="Avenir Next"/>
                <a:ea typeface="Avenir Next"/>
                <a:cs typeface="Avenir Next"/>
              </a:defRPr>
            </a:lvl5pPr>
            <a:lvl6pPr>
              <a:defRPr sz="3525" b="1">
                <a:solidFill>
                  <a:srgbClr val="233B2B"/>
                </a:solidFill>
                <a:latin typeface="Avenir Next"/>
                <a:ea typeface="Avenir Next"/>
                <a:cs typeface="Avenir Next"/>
              </a:defRPr>
            </a:lvl6pPr>
            <a:lvl7pPr>
              <a:defRPr sz="3525" b="1">
                <a:solidFill>
                  <a:srgbClr val="233B2B"/>
                </a:solidFill>
                <a:latin typeface="Avenir Next"/>
                <a:ea typeface="Avenir Next"/>
                <a:cs typeface="Avenir Next"/>
              </a:defRPr>
            </a:lvl7pPr>
            <a:lvl8pPr>
              <a:defRPr sz="3525" b="1">
                <a:solidFill>
                  <a:srgbClr val="233B2B"/>
                </a:solidFill>
                <a:latin typeface="Avenir Next"/>
                <a:ea typeface="Avenir Next"/>
                <a:cs typeface="Avenir Next"/>
              </a:defRPr>
            </a:lvl8pPr>
            <a:lvl9pPr>
              <a:defRPr sz="3525" b="1">
                <a:solidFill>
                  <a:srgbClr val="233B2B"/>
                </a:solidFill>
                <a:latin typeface="Avenir Next"/>
                <a:ea typeface="Avenir Next"/>
                <a:cs typeface="Avenir Next"/>
              </a:defRPr>
            </a:lvl9pPr>
          </a:lstStyle>
          <a:p xmlns:a="http://schemas.openxmlformats.org/drawingml/2006/main">
            <a:pPr>
              <a:defRPr sz="3525" b="1">
                <a:solidFill>
                  <a:srgbClr val="233B2B"/>
                </a:solidFill>
                <a:latin typeface="Avenir Next"/>
                <a:ea typeface="Avenir Next"/>
                <a:cs typeface="Avenir Next"/>
              </a:defRPr>
            </a:pPr>
            <a:r>
              <a:rPr sz="3525" b="1">
                <a:solidFill>
                  <a:srgbClr val="233B2B"/>
                </a:solidFill>
                <a:latin typeface="Avenir Next"/>
                <a:ea typeface="Avenir Next"/>
                <a:cs typeface="Avenir Next"/>
              </a:rPr>
              <a:t>Modelo entrenado con fotos reales</a:t>
            </a:r>
          </a:p>
        </p:txBody>
      </p:sp>
      <p:sp>
        <p:nvSpPr>
          <p:cNvPr id="2" name="1,655">
            <a:extLst xmlns:a="http://schemas.openxmlformats.org/drawingml/2006/main">
              <a:ext uri="{FF2B5EF4-FFF2-40B4-BE49-F238E27FC236}">
                <a16:creationId xmlns:a16="http://schemas.microsoft.com/office/drawing/2014/main" id="{41B9A574-514C-47F7-A6DD-42C24EDFAB19}"/>
              </a:ext>
            </a:extLst>
          </p:cNvPr>
          <p:cNvSpPr>
            <a:spLocks xmlns:a="http://schemas.openxmlformats.org/drawingml/2006/main" noGrp="1"/>
          </p:cNvSpPr>
          <p:nvPr/>
        </p:nvSpPr>
        <p:spPr>
          <a:xfrm xmlns:a="http://schemas.openxmlformats.org/drawingml/2006/main">
            <a:off x="609600" y="1628775"/>
            <a:ext cx="647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7392B"/>
                </a:solidFill>
                <a:latin typeface="Avenir Next"/>
                <a:ea typeface="Avenir Next"/>
                <a:cs typeface="Avenir Next"/>
              </a:defRPr>
            </a:defPPr>
            <a:lvl1pPr>
              <a:defRPr sz="5250" b="1">
                <a:solidFill>
                  <a:srgbClr val="17392B"/>
                </a:solidFill>
                <a:latin typeface="Avenir Next"/>
                <a:ea typeface="Avenir Next"/>
                <a:cs typeface="Avenir Next"/>
              </a:defRPr>
            </a:lvl1pPr>
            <a:lvl2pPr>
              <a:defRPr sz="5250" b="1">
                <a:solidFill>
                  <a:srgbClr val="17392B"/>
                </a:solidFill>
                <a:latin typeface="Avenir Next"/>
                <a:ea typeface="Avenir Next"/>
                <a:cs typeface="Avenir Next"/>
              </a:defRPr>
            </a:lvl2pPr>
            <a:lvl3pPr>
              <a:defRPr sz="5250" b="1">
                <a:solidFill>
                  <a:srgbClr val="17392B"/>
                </a:solidFill>
                <a:latin typeface="Avenir Next"/>
                <a:ea typeface="Avenir Next"/>
                <a:cs typeface="Avenir Next"/>
              </a:defRPr>
            </a:lvl3pPr>
            <a:lvl4pPr>
              <a:defRPr sz="5250" b="1">
                <a:solidFill>
                  <a:srgbClr val="17392B"/>
                </a:solidFill>
                <a:latin typeface="Avenir Next"/>
                <a:ea typeface="Avenir Next"/>
                <a:cs typeface="Avenir Next"/>
              </a:defRPr>
            </a:lvl4pPr>
            <a:lvl5pPr>
              <a:defRPr sz="5250" b="1">
                <a:solidFill>
                  <a:srgbClr val="17392B"/>
                </a:solidFill>
                <a:latin typeface="Avenir Next"/>
                <a:ea typeface="Avenir Next"/>
                <a:cs typeface="Avenir Next"/>
              </a:defRPr>
            </a:lvl5pPr>
            <a:lvl6pPr>
              <a:defRPr sz="5250" b="1">
                <a:solidFill>
                  <a:srgbClr val="17392B"/>
                </a:solidFill>
                <a:latin typeface="Avenir Next"/>
                <a:ea typeface="Avenir Next"/>
                <a:cs typeface="Avenir Next"/>
              </a:defRPr>
            </a:lvl6pPr>
            <a:lvl7pPr>
              <a:defRPr sz="5250" b="1">
                <a:solidFill>
                  <a:srgbClr val="17392B"/>
                </a:solidFill>
                <a:latin typeface="Avenir Next"/>
                <a:ea typeface="Avenir Next"/>
                <a:cs typeface="Avenir Next"/>
              </a:defRPr>
            </a:lvl7pPr>
            <a:lvl8pPr>
              <a:defRPr sz="5250" b="1">
                <a:solidFill>
                  <a:srgbClr val="17392B"/>
                </a:solidFill>
                <a:latin typeface="Avenir Next"/>
                <a:ea typeface="Avenir Next"/>
                <a:cs typeface="Avenir Next"/>
              </a:defRPr>
            </a:lvl8pPr>
            <a:lvl9pPr>
              <a:defRPr sz="5250" b="1">
                <a:solidFill>
                  <a:srgbClr val="17392B"/>
                </a:solidFill>
                <a:latin typeface="Avenir Next"/>
                <a:ea typeface="Avenir Next"/>
                <a:cs typeface="Avenir Next"/>
              </a:defRPr>
            </a:lvl9pPr>
          </a:lstStyle>
          <a:p xmlns:a="http://schemas.openxmlformats.org/drawingml/2006/main">
            <a:pPr>
              <a:defRPr sz="5250" b="1">
                <a:solidFill>
                  <a:srgbClr val="17392B"/>
                </a:solidFill>
                <a:latin typeface="Avenir Next"/>
                <a:ea typeface="Avenir Next"/>
                <a:cs typeface="Avenir Next"/>
              </a:defRPr>
            </a:pPr>
            <a:r>
              <a:rPr sz="5250" b="1">
                <a:solidFill>
                  <a:srgbClr val="17392B"/>
                </a:solidFill>
                <a:latin typeface="Avenir Next"/>
                <a:ea typeface="Avenir Next"/>
                <a:cs typeface="Avenir Next"/>
              </a:rPr>
              <a:t>1,655</a:t>
            </a:r>
          </a:p>
        </p:txBody>
      </p:sp>
      <p:sp>
        <p:nvSpPr>
          <p:cNvPr id="3" name="fotografías originales de entrenamiento">
            <a:extLst xmlns:a="http://schemas.openxmlformats.org/drawingml/2006/main">
              <a:ext uri="{FF2B5EF4-FFF2-40B4-BE49-F238E27FC236}">
                <a16:creationId xmlns:a16="http://schemas.microsoft.com/office/drawing/2014/main" id="{46F0DCC9-CC98-461E-B9E7-C5D388E2DA58}"/>
              </a:ext>
            </a:extLst>
          </p:cNvPr>
          <p:cNvSpPr>
            <a:spLocks xmlns:a="http://schemas.openxmlformats.org/drawingml/2006/main" noGrp="1"/>
          </p:cNvSpPr>
          <p:nvPr/>
        </p:nvSpPr>
        <p:spPr>
          <a:xfrm xmlns:a="http://schemas.openxmlformats.org/drawingml/2006/main">
            <a:off x="609600" y="26384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fotografías originales de entrenamiento</a:t>
            </a:r>
          </a:p>
        </p:txBody>
      </p:sp>
      <p:sp>
        <p:nvSpPr>
          <p:cNvPr id="4" name="Prueba reservada: 399 fotos reales">
            <a:extLst xmlns:a="http://schemas.openxmlformats.org/drawingml/2006/main">
              <a:ext uri="{FF2B5EF4-FFF2-40B4-BE49-F238E27FC236}">
                <a16:creationId xmlns:a16="http://schemas.microsoft.com/office/drawing/2014/main" id="{73F84F75-3B10-4DA8-8783-A6F8738B7253}"/>
              </a:ext>
            </a:extLst>
          </p:cNvPr>
          <p:cNvSpPr>
            <a:spLocks xmlns:a="http://schemas.openxmlformats.org/drawingml/2006/main" noGrp="1"/>
          </p:cNvSpPr>
          <p:nvPr/>
        </p:nvSpPr>
        <p:spPr>
          <a:xfrm xmlns:a="http://schemas.openxmlformats.org/drawingml/2006/main">
            <a:off x="609600" y="3543300"/>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B2B"/>
                </a:solidFill>
                <a:latin typeface="Avenir Next"/>
                <a:ea typeface="Avenir Next"/>
                <a:cs typeface="Avenir Next"/>
              </a:defRPr>
            </a:defPPr>
            <a:lvl1pPr>
              <a:defRPr sz="2025" b="1">
                <a:solidFill>
                  <a:srgbClr val="233B2B"/>
                </a:solidFill>
                <a:latin typeface="Avenir Next"/>
                <a:ea typeface="Avenir Next"/>
                <a:cs typeface="Avenir Next"/>
              </a:defRPr>
            </a:lvl1pPr>
            <a:lvl2pPr>
              <a:defRPr sz="2025" b="1">
                <a:solidFill>
                  <a:srgbClr val="233B2B"/>
                </a:solidFill>
                <a:latin typeface="Avenir Next"/>
                <a:ea typeface="Avenir Next"/>
                <a:cs typeface="Avenir Next"/>
              </a:defRPr>
            </a:lvl2pPr>
            <a:lvl3pPr>
              <a:defRPr sz="2025" b="1">
                <a:solidFill>
                  <a:srgbClr val="233B2B"/>
                </a:solidFill>
                <a:latin typeface="Avenir Next"/>
                <a:ea typeface="Avenir Next"/>
                <a:cs typeface="Avenir Next"/>
              </a:defRPr>
            </a:lvl3pPr>
            <a:lvl4pPr>
              <a:defRPr sz="2025" b="1">
                <a:solidFill>
                  <a:srgbClr val="233B2B"/>
                </a:solidFill>
                <a:latin typeface="Avenir Next"/>
                <a:ea typeface="Avenir Next"/>
                <a:cs typeface="Avenir Next"/>
              </a:defRPr>
            </a:lvl4pPr>
            <a:lvl5pPr>
              <a:defRPr sz="2025" b="1">
                <a:solidFill>
                  <a:srgbClr val="233B2B"/>
                </a:solidFill>
                <a:latin typeface="Avenir Next"/>
                <a:ea typeface="Avenir Next"/>
                <a:cs typeface="Avenir Next"/>
              </a:defRPr>
            </a:lvl5pPr>
            <a:lvl6pPr>
              <a:defRPr sz="2025" b="1">
                <a:solidFill>
                  <a:srgbClr val="233B2B"/>
                </a:solidFill>
                <a:latin typeface="Avenir Next"/>
                <a:ea typeface="Avenir Next"/>
                <a:cs typeface="Avenir Next"/>
              </a:defRPr>
            </a:lvl6pPr>
            <a:lvl7pPr>
              <a:defRPr sz="2025" b="1">
                <a:solidFill>
                  <a:srgbClr val="233B2B"/>
                </a:solidFill>
                <a:latin typeface="Avenir Next"/>
                <a:ea typeface="Avenir Next"/>
                <a:cs typeface="Avenir Next"/>
              </a:defRPr>
            </a:lvl7pPr>
            <a:lvl8pPr>
              <a:defRPr sz="2025" b="1">
                <a:solidFill>
                  <a:srgbClr val="233B2B"/>
                </a:solidFill>
                <a:latin typeface="Avenir Next"/>
                <a:ea typeface="Avenir Next"/>
                <a:cs typeface="Avenir Next"/>
              </a:defRPr>
            </a:lvl8pPr>
            <a:lvl9pPr>
              <a:defRPr sz="2025" b="1">
                <a:solidFill>
                  <a:srgbClr val="233B2B"/>
                </a:solidFill>
                <a:latin typeface="Avenir Next"/>
                <a:ea typeface="Avenir Next"/>
                <a:cs typeface="Avenir Next"/>
              </a:defRPr>
            </a:lvl9pPr>
          </a:lstStyle>
          <a:p xmlns:a="http://schemas.openxmlformats.org/drawingml/2006/main">
            <a:pPr>
              <a:defRPr sz="2025" b="1">
                <a:solidFill>
                  <a:srgbClr val="233B2B"/>
                </a:solidFill>
                <a:latin typeface="Avenir Next"/>
                <a:ea typeface="Avenir Next"/>
                <a:cs typeface="Avenir Next"/>
              </a:defRPr>
            </a:pPr>
            <a:r>
              <a:rPr sz="2025" b="1">
                <a:solidFill>
                  <a:srgbClr val="233B2B"/>
                </a:solidFill>
                <a:latin typeface="Avenir Next"/>
                <a:ea typeface="Avenir Next"/>
                <a:cs typeface="Avenir Next"/>
              </a:rPr>
              <a:t>Prueba reservada: 399 fotos reales</a:t>
            </a:r>
          </a:p>
        </p:txBody>
      </p:sp>
      <p:sp>
        <p:nvSpPr>
          <p:cNvPr id="5" name="191 / 200">
            <a:extLst xmlns:a="http://schemas.openxmlformats.org/drawingml/2006/main">
              <a:ext uri="{FF2B5EF4-FFF2-40B4-BE49-F238E27FC236}">
                <a16:creationId xmlns:a16="http://schemas.microsoft.com/office/drawing/2014/main" id="{4D8F2D10-52AD-4F3A-B126-8D633F0AAA08}"/>
              </a:ext>
            </a:extLst>
          </p:cNvPr>
          <p:cNvSpPr>
            <a:spLocks xmlns:a="http://schemas.openxmlformats.org/drawingml/2006/main" noGrp="1"/>
          </p:cNvSpPr>
          <p:nvPr/>
        </p:nvSpPr>
        <p:spPr>
          <a:xfrm xmlns:a="http://schemas.openxmlformats.org/drawingml/2006/main">
            <a:off x="609600" y="4171950"/>
            <a:ext cx="323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191 / 200</a:t>
            </a:r>
          </a:p>
        </p:txBody>
      </p:sp>
      <p:sp>
        <p:nvSpPr>
          <p:cNvPr id="6" name="Fotos con Monilia&#10;que activaron alerta">
            <a:extLst xmlns:a="http://schemas.openxmlformats.org/drawingml/2006/main">
              <a:ext uri="{FF2B5EF4-FFF2-40B4-BE49-F238E27FC236}">
                <a16:creationId xmlns:a16="http://schemas.microsoft.com/office/drawing/2014/main" id="{6C44E85D-A016-425A-9E9F-BD3049E066DD}"/>
              </a:ext>
            </a:extLst>
          </p:cNvPr>
          <p:cNvSpPr>
            <a:spLocks xmlns:a="http://schemas.openxmlformats.org/drawingml/2006/main" noGrp="1"/>
          </p:cNvSpPr>
          <p:nvPr/>
        </p:nvSpPr>
        <p:spPr>
          <a:xfrm xmlns:a="http://schemas.openxmlformats.org/drawingml/2006/main">
            <a:off x="609600" y="49720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con Monilia</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sp>
        <p:nvSpPr>
          <p:cNvPr id="7" name="8 / 199">
            <a:extLst xmlns:a="http://schemas.openxmlformats.org/drawingml/2006/main">
              <a:ext uri="{FF2B5EF4-FFF2-40B4-BE49-F238E27FC236}">
                <a16:creationId xmlns:a16="http://schemas.microsoft.com/office/drawing/2014/main" id="{FE2A1C59-13AA-4715-923B-AC8A73267F9F}"/>
              </a:ext>
            </a:extLst>
          </p:cNvPr>
          <p:cNvSpPr>
            <a:spLocks xmlns:a="http://schemas.openxmlformats.org/drawingml/2006/main" noGrp="1"/>
          </p:cNvSpPr>
          <p:nvPr/>
        </p:nvSpPr>
        <p:spPr>
          <a:xfrm xmlns:a="http://schemas.openxmlformats.org/drawingml/2006/main">
            <a:off x="4019550" y="4171950"/>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8 / 199</a:t>
            </a:r>
          </a:p>
        </p:txBody>
      </p:sp>
      <p:sp>
        <p:nvSpPr>
          <p:cNvPr id="8" name="Fotos sanas&#10;que activaron alerta">
            <a:extLst xmlns:a="http://schemas.openxmlformats.org/drawingml/2006/main">
              <a:ext uri="{FF2B5EF4-FFF2-40B4-BE49-F238E27FC236}">
                <a16:creationId xmlns:a16="http://schemas.microsoft.com/office/drawing/2014/main" id="{C39ED8F6-86CD-4AF7-9E92-4819B301D901}"/>
              </a:ext>
            </a:extLst>
          </p:cNvPr>
          <p:cNvSpPr>
            <a:spLocks xmlns:a="http://schemas.openxmlformats.org/drawingml/2006/main" noGrp="1"/>
          </p:cNvSpPr>
          <p:nvPr/>
        </p:nvSpPr>
        <p:spPr>
          <a:xfrm xmlns:a="http://schemas.openxmlformats.org/drawingml/2006/main">
            <a:off x="4019550" y="49720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sanas</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pic>
        <p:nvPicPr>
          <p:cNvPr id="9" name="">
            <a:extLst xmlns:a="http://schemas.openxmlformats.org/drawingml/2006/main">
              <a:ext uri="{FF2B5EF4-FFF2-40B4-BE49-F238E27FC236}">
                <a16:creationId xmlns:a16="http://schemas.microsoft.com/office/drawing/2014/main" id="{C0F6AAC9-EFA0-4B11-9BDE-F4A83715A4D6}"/>
              </a:ext>
            </a:extLst>
          </p:cNvPr>
          <p:cNvPicPr>
            <a:picLocks xmlns:a="http://schemas.openxmlformats.org/drawingml/2006/main" noChangeAspect="1"/>
          </p:cNvPicPr>
          <p:nvPr/>
        </p:nvPicPr>
        <p:blipFill>
          <a:blip xmlns:r="http://schemas.openxmlformats.org/officeDocument/2006/relationships" xmlns:a="http://schemas.openxmlformats.org/drawingml/2006/main" r:embed="R1518c3188b924ebf"/>
          <a:stretch xmlns:a="http://schemas.openxmlformats.org/drawingml/2006/main"/>
        </p:blipFill>
        <p:spPr>
          <a:xfrm xmlns:a="http://schemas.openxmlformats.org/drawingml/2006/main">
            <a:off x="7953375" y="1685925"/>
            <a:ext cx="2857500" cy="3810000"/>
          </a:xfrm>
          <a:prstGeom xmlns:a="http://schemas.openxmlformats.org/drawingml/2006/main" prst="rect">
            <a:avLst/>
          </a:prstGeom>
        </p:spPr>
      </p:pic>
      <p:sp>
        <p:nvSpPr>
          <p:cNvPr id="10" name="Predicción guardada de YOLO11s.&#10;Foto fuera de">
            <a:extLst xmlns:a="http://schemas.openxmlformats.org/drawingml/2006/main">
              <a:ext uri="{FF2B5EF4-FFF2-40B4-BE49-F238E27FC236}">
                <a16:creationId xmlns:a16="http://schemas.microsoft.com/office/drawing/2014/main" id="{2B30CBFB-E91A-422B-B376-C4DAD0F6B07A}"/>
              </a:ext>
            </a:extLst>
          </p:cNvPr>
          <p:cNvSpPr>
            <a:spLocks xmlns:a="http://schemas.openxmlformats.org/drawingml/2006/main" noGrp="1"/>
          </p:cNvSpPr>
          <p:nvPr/>
        </p:nvSpPr>
        <p:spPr>
          <a:xfrm xmlns:a="http://schemas.openxmlformats.org/drawingml/2006/main">
            <a:off x="7572375" y="5667375"/>
            <a:ext cx="40100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Predicción guardada de YOLO11s.</a:t>
            </a:r>
          </a:p>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Foto fuera del entrenamiento.</a:t>
            </a:r>
          </a:p>
        </p:txBody>
      </p:sp>
      <p:sp>
        <p:nvSpPr>
          <p:cNvPr id="11" name="Evaluación por imagen, con fondos distintos s">
            <a:extLst xmlns:a="http://schemas.openxmlformats.org/drawingml/2006/main">
              <a:ext uri="{FF2B5EF4-FFF2-40B4-BE49-F238E27FC236}">
                <a16:creationId xmlns:a16="http://schemas.microsoft.com/office/drawing/2014/main" id="{E14EF197-92F0-445F-A5CF-8989B254E499}"/>
              </a:ext>
            </a:extLst>
          </p:cNvPr>
          <p:cNvSpPr>
            <a:spLocks xmlns:a="http://schemas.openxmlformats.org/drawingml/2006/main" noGrp="1"/>
          </p:cNvSpPr>
          <p:nvPr/>
        </p:nvSpPr>
        <p:spPr>
          <a:xfrm xmlns:a="http://schemas.openxmlformats.org/drawingml/2006/main">
            <a:off x="609600" y="6105525"/>
            <a:ext cx="680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96957"/>
                </a:solidFill>
                <a:latin typeface="Avenir Next"/>
                <a:ea typeface="Avenir Next"/>
                <a:cs typeface="Avenir Next"/>
              </a:defRPr>
            </a:defPPr>
            <a:lvl1pPr>
              <a:defRPr sz="1425" b="0">
                <a:solidFill>
                  <a:srgbClr val="596957"/>
                </a:solidFill>
                <a:latin typeface="Avenir Next"/>
                <a:ea typeface="Avenir Next"/>
                <a:cs typeface="Avenir Next"/>
              </a:defRPr>
            </a:lvl1pPr>
            <a:lvl2pPr>
              <a:defRPr sz="1425" b="0">
                <a:solidFill>
                  <a:srgbClr val="596957"/>
                </a:solidFill>
                <a:latin typeface="Avenir Next"/>
                <a:ea typeface="Avenir Next"/>
                <a:cs typeface="Avenir Next"/>
              </a:defRPr>
            </a:lvl2pPr>
            <a:lvl3pPr>
              <a:defRPr sz="1425" b="0">
                <a:solidFill>
                  <a:srgbClr val="596957"/>
                </a:solidFill>
                <a:latin typeface="Avenir Next"/>
                <a:ea typeface="Avenir Next"/>
                <a:cs typeface="Avenir Next"/>
              </a:defRPr>
            </a:lvl3pPr>
            <a:lvl4pPr>
              <a:defRPr sz="1425" b="0">
                <a:solidFill>
                  <a:srgbClr val="596957"/>
                </a:solidFill>
                <a:latin typeface="Avenir Next"/>
                <a:ea typeface="Avenir Next"/>
                <a:cs typeface="Avenir Next"/>
              </a:defRPr>
            </a:lvl4pPr>
            <a:lvl5pPr>
              <a:defRPr sz="1425" b="0">
                <a:solidFill>
                  <a:srgbClr val="596957"/>
                </a:solidFill>
                <a:latin typeface="Avenir Next"/>
                <a:ea typeface="Avenir Next"/>
                <a:cs typeface="Avenir Next"/>
              </a:defRPr>
            </a:lvl5pPr>
            <a:lvl6pPr>
              <a:defRPr sz="1425" b="0">
                <a:solidFill>
                  <a:srgbClr val="596957"/>
                </a:solidFill>
                <a:latin typeface="Avenir Next"/>
                <a:ea typeface="Avenir Next"/>
                <a:cs typeface="Avenir Next"/>
              </a:defRPr>
            </a:lvl6pPr>
            <a:lvl7pPr>
              <a:defRPr sz="1425" b="0">
                <a:solidFill>
                  <a:srgbClr val="596957"/>
                </a:solidFill>
                <a:latin typeface="Avenir Next"/>
                <a:ea typeface="Avenir Next"/>
                <a:cs typeface="Avenir Next"/>
              </a:defRPr>
            </a:lvl7pPr>
            <a:lvl8pPr>
              <a:defRPr sz="1425" b="0">
                <a:solidFill>
                  <a:srgbClr val="596957"/>
                </a:solidFill>
                <a:latin typeface="Avenir Next"/>
                <a:ea typeface="Avenir Next"/>
                <a:cs typeface="Avenir Next"/>
              </a:defRPr>
            </a:lvl8pPr>
            <a:lvl9pPr>
              <a:defRPr sz="1425" b="0">
                <a:solidFill>
                  <a:srgbClr val="596957"/>
                </a:solidFill>
                <a:latin typeface="Avenir Next"/>
                <a:ea typeface="Avenir Next"/>
                <a:cs typeface="Avenir Next"/>
              </a:defRPr>
            </a:lvl9pPr>
          </a:lstStyle>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Evaluación por imagen, con fondos distintos según la clase.</a:t>
            </a:r>
          </a:p>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Rendimiento en vuelo y localización correcta aún por validar.</a:t>
            </a:r>
          </a:p>
        </p:txBody>
      </p:sp>
    </p:spTree>
    <p:extLst>
      <p:ext uri="{BB962C8B-B14F-4D97-AF65-F5344CB8AC3E}">
        <p14:creationId xmlns:p14="http://schemas.microsoft.com/office/powerpoint/2010/main" val="9758082"/>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para probar la integración">
            <a:extLst xmlns:a="http://schemas.openxmlformats.org/drawingml/2006/main">
              <a:ext uri="{FF2B5EF4-FFF2-40B4-BE49-F238E27FC236}">
                <a16:creationId xmlns:a16="http://schemas.microsoft.com/office/drawing/2014/main" id="{4CD64A34-D4DB-495C-9D1E-3888BB275682}"/>
              </a:ext>
            </a:extLst>
          </p:cNvPr>
          <p:cNvSpPr>
            <a:spLocks xmlns:a="http://schemas.openxmlformats.org/drawingml/2006/main" noGrp="1"/>
          </p:cNvSpPr>
          <p:nvPr/>
        </p:nvSpPr>
        <p:spPr>
          <a:xfrm xmlns:a="http://schemas.openxmlformats.org/drawingml/2006/main">
            <a:off x="609600" y="533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33B2B"/>
                </a:solidFill>
                <a:latin typeface="Avenir Next"/>
                <a:ea typeface="Avenir Next"/>
                <a:cs typeface="Avenir Next"/>
              </a:defRPr>
            </a:defPPr>
            <a:lvl1pPr>
              <a:defRPr sz="3450" b="1">
                <a:solidFill>
                  <a:srgbClr val="233B2B"/>
                </a:solidFill>
                <a:latin typeface="Avenir Next"/>
                <a:ea typeface="Avenir Next"/>
                <a:cs typeface="Avenir Next"/>
              </a:defRPr>
            </a:lvl1pPr>
            <a:lvl2pPr>
              <a:defRPr sz="3450" b="1">
                <a:solidFill>
                  <a:srgbClr val="233B2B"/>
                </a:solidFill>
                <a:latin typeface="Avenir Next"/>
                <a:ea typeface="Avenir Next"/>
                <a:cs typeface="Avenir Next"/>
              </a:defRPr>
            </a:lvl2pPr>
            <a:lvl3pPr>
              <a:defRPr sz="3450" b="1">
                <a:solidFill>
                  <a:srgbClr val="233B2B"/>
                </a:solidFill>
                <a:latin typeface="Avenir Next"/>
                <a:ea typeface="Avenir Next"/>
                <a:cs typeface="Avenir Next"/>
              </a:defRPr>
            </a:lvl3pPr>
            <a:lvl4pPr>
              <a:defRPr sz="3450" b="1">
                <a:solidFill>
                  <a:srgbClr val="233B2B"/>
                </a:solidFill>
                <a:latin typeface="Avenir Next"/>
                <a:ea typeface="Avenir Next"/>
                <a:cs typeface="Avenir Next"/>
              </a:defRPr>
            </a:lvl4pPr>
            <a:lvl5pPr>
              <a:defRPr sz="3450" b="1">
                <a:solidFill>
                  <a:srgbClr val="233B2B"/>
                </a:solidFill>
                <a:latin typeface="Avenir Next"/>
                <a:ea typeface="Avenir Next"/>
                <a:cs typeface="Avenir Next"/>
              </a:defRPr>
            </a:lvl5pPr>
            <a:lvl6pPr>
              <a:defRPr sz="3450" b="1">
                <a:solidFill>
                  <a:srgbClr val="233B2B"/>
                </a:solidFill>
                <a:latin typeface="Avenir Next"/>
                <a:ea typeface="Avenir Next"/>
                <a:cs typeface="Avenir Next"/>
              </a:defRPr>
            </a:lvl6pPr>
            <a:lvl7pPr>
              <a:defRPr sz="3450" b="1">
                <a:solidFill>
                  <a:srgbClr val="233B2B"/>
                </a:solidFill>
                <a:latin typeface="Avenir Next"/>
                <a:ea typeface="Avenir Next"/>
                <a:cs typeface="Avenir Next"/>
              </a:defRPr>
            </a:lvl7pPr>
            <a:lvl8pPr>
              <a:defRPr sz="3450" b="1">
                <a:solidFill>
                  <a:srgbClr val="233B2B"/>
                </a:solidFill>
                <a:latin typeface="Avenir Next"/>
                <a:ea typeface="Avenir Next"/>
                <a:cs typeface="Avenir Next"/>
              </a:defRPr>
            </a:lvl8pPr>
            <a:lvl9pPr>
              <a:defRPr sz="3450" b="1">
                <a:solidFill>
                  <a:srgbClr val="233B2B"/>
                </a:solidFill>
                <a:latin typeface="Avenir Next"/>
                <a:ea typeface="Avenir Next"/>
                <a:cs typeface="Avenir Next"/>
              </a:defRPr>
            </a:lvl9pPr>
          </a:lstStyle>
          <a:p xmlns:a="http://schemas.openxmlformats.org/drawingml/2006/main">
            <a:pPr>
              <a:defRPr sz="3450" b="1">
                <a:solidFill>
                  <a:srgbClr val="233B2B"/>
                </a:solidFill>
                <a:latin typeface="Avenir Next"/>
                <a:ea typeface="Avenir Next"/>
                <a:cs typeface="Avenir Next"/>
              </a:defRPr>
            </a:pPr>
            <a:r>
              <a:rPr sz="3450" b="1">
                <a:solidFill>
                  <a:srgbClr val="233B2B"/>
                </a:solidFill>
                <a:latin typeface="Avenir Next"/>
                <a:ea typeface="Avenir Next"/>
                <a:cs typeface="Avenir Next"/>
              </a:rPr>
              <a:t>Simulación para probar la integración</a:t>
            </a:r>
          </a:p>
        </p:txBody>
      </p:sp>
      <p:sp>
        <p:nvSpPr>
          <p:cNvPr id="2" name="La cámara 3D envía&#10;sus píxeles al mismo&#10;YOLO ">
            <a:extLst xmlns:a="http://schemas.openxmlformats.org/drawingml/2006/main">
              <a:ext uri="{FF2B5EF4-FFF2-40B4-BE49-F238E27FC236}">
                <a16:creationId xmlns:a16="http://schemas.microsoft.com/office/drawing/2014/main" id="{0B6D9D2C-2AA1-471D-A944-0DC2988B77C6}"/>
              </a:ext>
            </a:extLst>
          </p:cNvPr>
          <p:cNvSpPr>
            <a:spLocks xmlns:a="http://schemas.openxmlformats.org/drawingml/2006/main" noGrp="1"/>
          </p:cNvSpPr>
          <p:nvPr/>
        </p:nvSpPr>
        <p:spPr>
          <a:xfrm xmlns:a="http://schemas.openxmlformats.org/drawingml/2006/main">
            <a:off x="609600" y="1943100"/>
            <a:ext cx="4333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33B2B"/>
                </a:solidFill>
                <a:latin typeface="Avenir Next"/>
                <a:ea typeface="Avenir Next"/>
                <a:cs typeface="Avenir Next"/>
              </a:defRPr>
            </a:defPPr>
            <a:lvl1pPr>
              <a:defRPr sz="2475" b="1">
                <a:solidFill>
                  <a:srgbClr val="233B2B"/>
                </a:solidFill>
                <a:latin typeface="Avenir Next"/>
                <a:ea typeface="Avenir Next"/>
                <a:cs typeface="Avenir Next"/>
              </a:defRPr>
            </a:lvl1pPr>
            <a:lvl2pPr>
              <a:defRPr sz="2475" b="1">
                <a:solidFill>
                  <a:srgbClr val="233B2B"/>
                </a:solidFill>
                <a:latin typeface="Avenir Next"/>
                <a:ea typeface="Avenir Next"/>
                <a:cs typeface="Avenir Next"/>
              </a:defRPr>
            </a:lvl2pPr>
            <a:lvl3pPr>
              <a:defRPr sz="2475" b="1">
                <a:solidFill>
                  <a:srgbClr val="233B2B"/>
                </a:solidFill>
                <a:latin typeface="Avenir Next"/>
                <a:ea typeface="Avenir Next"/>
                <a:cs typeface="Avenir Next"/>
              </a:defRPr>
            </a:lvl3pPr>
            <a:lvl4pPr>
              <a:defRPr sz="2475" b="1">
                <a:solidFill>
                  <a:srgbClr val="233B2B"/>
                </a:solidFill>
                <a:latin typeface="Avenir Next"/>
                <a:ea typeface="Avenir Next"/>
                <a:cs typeface="Avenir Next"/>
              </a:defRPr>
            </a:lvl4pPr>
            <a:lvl5pPr>
              <a:defRPr sz="2475" b="1">
                <a:solidFill>
                  <a:srgbClr val="233B2B"/>
                </a:solidFill>
                <a:latin typeface="Avenir Next"/>
                <a:ea typeface="Avenir Next"/>
                <a:cs typeface="Avenir Next"/>
              </a:defRPr>
            </a:lvl5pPr>
            <a:lvl6pPr>
              <a:defRPr sz="2475" b="1">
                <a:solidFill>
                  <a:srgbClr val="233B2B"/>
                </a:solidFill>
                <a:latin typeface="Avenir Next"/>
                <a:ea typeface="Avenir Next"/>
                <a:cs typeface="Avenir Next"/>
              </a:defRPr>
            </a:lvl6pPr>
            <a:lvl7pPr>
              <a:defRPr sz="2475" b="1">
                <a:solidFill>
                  <a:srgbClr val="233B2B"/>
                </a:solidFill>
                <a:latin typeface="Avenir Next"/>
                <a:ea typeface="Avenir Next"/>
                <a:cs typeface="Avenir Next"/>
              </a:defRPr>
            </a:lvl7pPr>
            <a:lvl8pPr>
              <a:defRPr sz="2475" b="1">
                <a:solidFill>
                  <a:srgbClr val="233B2B"/>
                </a:solidFill>
                <a:latin typeface="Avenir Next"/>
                <a:ea typeface="Avenir Next"/>
                <a:cs typeface="Avenir Next"/>
              </a:defRPr>
            </a:lvl8pPr>
            <a:lvl9pPr>
              <a:defRPr sz="2475" b="1">
                <a:solidFill>
                  <a:srgbClr val="233B2B"/>
                </a:solidFill>
                <a:latin typeface="Avenir Next"/>
                <a:ea typeface="Avenir Next"/>
                <a:cs typeface="Avenir Next"/>
              </a:defRPr>
            </a:lvl9pPr>
          </a:lstStyle>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La cámara 3D envía</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sus píxeles al mismo</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YOLO entrenado.</a:t>
            </a:r>
          </a:p>
        </p:txBody>
      </p:sp>
      <p:sp>
        <p:nvSpPr>
          <p:cNvPr id="3" name="Probamos detección,&#10;batería y regreso antes&#10;d">
            <a:extLst xmlns:a="http://schemas.openxmlformats.org/drawingml/2006/main">
              <a:ext uri="{FF2B5EF4-FFF2-40B4-BE49-F238E27FC236}">
                <a16:creationId xmlns:a16="http://schemas.microsoft.com/office/drawing/2014/main" id="{BEC88C10-7164-4D9F-8888-9C9CCB4BF8DA}"/>
              </a:ext>
            </a:extLst>
          </p:cNvPr>
          <p:cNvSpPr>
            <a:spLocks xmlns:a="http://schemas.openxmlformats.org/drawingml/2006/main" noGrp="1"/>
          </p:cNvSpPr>
          <p:nvPr/>
        </p:nvSpPr>
        <p:spPr>
          <a:xfrm xmlns:a="http://schemas.openxmlformats.org/drawingml/2006/main">
            <a:off x="609600" y="3914775"/>
            <a:ext cx="4333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96957"/>
                </a:solidFill>
                <a:latin typeface="Avenir Next"/>
                <a:ea typeface="Avenir Next"/>
                <a:cs typeface="Avenir Next"/>
              </a:defRPr>
            </a:defPPr>
            <a:lvl1pPr>
              <a:defRPr sz="2025" b="0">
                <a:solidFill>
                  <a:srgbClr val="596957"/>
                </a:solidFill>
                <a:latin typeface="Avenir Next"/>
                <a:ea typeface="Avenir Next"/>
                <a:cs typeface="Avenir Next"/>
              </a:defRPr>
            </a:lvl1pPr>
            <a:lvl2pPr>
              <a:defRPr sz="2025" b="0">
                <a:solidFill>
                  <a:srgbClr val="596957"/>
                </a:solidFill>
                <a:latin typeface="Avenir Next"/>
                <a:ea typeface="Avenir Next"/>
                <a:cs typeface="Avenir Next"/>
              </a:defRPr>
            </a:lvl2pPr>
            <a:lvl3pPr>
              <a:defRPr sz="2025" b="0">
                <a:solidFill>
                  <a:srgbClr val="596957"/>
                </a:solidFill>
                <a:latin typeface="Avenir Next"/>
                <a:ea typeface="Avenir Next"/>
                <a:cs typeface="Avenir Next"/>
              </a:defRPr>
            </a:lvl3pPr>
            <a:lvl4pPr>
              <a:defRPr sz="2025" b="0">
                <a:solidFill>
                  <a:srgbClr val="596957"/>
                </a:solidFill>
                <a:latin typeface="Avenir Next"/>
                <a:ea typeface="Avenir Next"/>
                <a:cs typeface="Avenir Next"/>
              </a:defRPr>
            </a:lvl4pPr>
            <a:lvl5pPr>
              <a:defRPr sz="2025" b="0">
                <a:solidFill>
                  <a:srgbClr val="596957"/>
                </a:solidFill>
                <a:latin typeface="Avenir Next"/>
                <a:ea typeface="Avenir Next"/>
                <a:cs typeface="Avenir Next"/>
              </a:defRPr>
            </a:lvl5pPr>
            <a:lvl6pPr>
              <a:defRPr sz="2025" b="0">
                <a:solidFill>
                  <a:srgbClr val="596957"/>
                </a:solidFill>
                <a:latin typeface="Avenir Next"/>
                <a:ea typeface="Avenir Next"/>
                <a:cs typeface="Avenir Next"/>
              </a:defRPr>
            </a:lvl6pPr>
            <a:lvl7pPr>
              <a:defRPr sz="2025" b="0">
                <a:solidFill>
                  <a:srgbClr val="596957"/>
                </a:solidFill>
                <a:latin typeface="Avenir Next"/>
                <a:ea typeface="Avenir Next"/>
                <a:cs typeface="Avenir Next"/>
              </a:defRPr>
            </a:lvl7pPr>
            <a:lvl8pPr>
              <a:defRPr sz="2025" b="0">
                <a:solidFill>
                  <a:srgbClr val="596957"/>
                </a:solidFill>
                <a:latin typeface="Avenir Next"/>
                <a:ea typeface="Avenir Next"/>
                <a:cs typeface="Avenir Next"/>
              </a:defRPr>
            </a:lvl8pPr>
            <a:lvl9pPr>
              <a:defRPr sz="2025" b="0">
                <a:solidFill>
                  <a:srgbClr val="596957"/>
                </a:solidFill>
                <a:latin typeface="Avenir Next"/>
                <a:ea typeface="Avenir Next"/>
                <a:cs typeface="Avenir Next"/>
              </a:defRPr>
            </a:lvl9pPr>
          </a:lstStyle>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Probamos detección,</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batería y regreso antes</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de usar robots en campo.</a:t>
            </a:r>
          </a:p>
        </p:txBody>
      </p:sp>
      <p:pic>
        <p:nvPicPr>
          <p:cNvPr id="4" name="">
            <a:extLst xmlns:a="http://schemas.openxmlformats.org/drawingml/2006/main">
              <a:ext uri="{FF2B5EF4-FFF2-40B4-BE49-F238E27FC236}">
                <a16:creationId xmlns:a16="http://schemas.microsoft.com/office/drawing/2014/main" id="{F619FB5C-F40D-468B-85C9-5CF0E5DAE985}"/>
              </a:ext>
            </a:extLst>
          </p:cNvPr>
          <p:cNvPicPr>
            <a:picLocks xmlns:a="http://schemas.openxmlformats.org/drawingml/2006/main" noChangeAspect="1"/>
          </p:cNvPicPr>
          <p:nvPr/>
        </p:nvPicPr>
        <p:blipFill>
          <a:blip xmlns:r="http://schemas.openxmlformats.org/officeDocument/2006/relationships" xmlns:a="http://schemas.openxmlformats.org/drawingml/2006/main" r:embed="R88f0f605eda145ef"/>
          <a:stretch xmlns:a="http://schemas.openxmlformats.org/drawingml/2006/main"/>
        </p:blipFill>
        <p:spPr>
          <a:xfrm xmlns:a="http://schemas.openxmlformats.org/drawingml/2006/main">
            <a:off x="5353050" y="1890400"/>
            <a:ext cx="6229350" cy="3143875"/>
          </a:xfrm>
          <a:prstGeom xmlns:a="http://schemas.openxmlformats.org/drawingml/2006/main" prst="rect">
            <a:avLst/>
          </a:prstGeom>
        </p:spPr>
      </p:pic>
      <p:sp>
        <p:nvSpPr>
          <p:cNvPr id="5" name="Mazorcas 3D con texturas de fotos reales.&#10;El ">
            <a:extLst xmlns:a="http://schemas.openxmlformats.org/drawingml/2006/main">
              <a:ext uri="{FF2B5EF4-FFF2-40B4-BE49-F238E27FC236}">
                <a16:creationId xmlns:a16="http://schemas.microsoft.com/office/drawing/2014/main" id="{CAA6593A-54D4-40F3-98D9-851577B05DC5}"/>
              </a:ext>
            </a:extLst>
          </p:cNvPr>
          <p:cNvSpPr>
            <a:spLocks xmlns:a="http://schemas.openxmlformats.org/drawingml/2006/main" noGrp="1"/>
          </p:cNvSpPr>
          <p:nvPr/>
        </p:nvSpPr>
        <p:spPr>
          <a:xfrm xmlns:a="http://schemas.openxmlformats.org/drawingml/2006/main">
            <a:off x="5353050" y="5238750"/>
            <a:ext cx="622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96957"/>
                </a:solidFill>
                <a:latin typeface="Avenir Next"/>
                <a:ea typeface="Avenir Next"/>
                <a:cs typeface="Avenir Next"/>
              </a:defRPr>
            </a:defPPr>
            <a:lvl1pPr>
              <a:defRPr sz="1650" b="0">
                <a:solidFill>
                  <a:srgbClr val="596957"/>
                </a:solidFill>
                <a:latin typeface="Avenir Next"/>
                <a:ea typeface="Avenir Next"/>
                <a:cs typeface="Avenir Next"/>
              </a:defRPr>
            </a:lvl1pPr>
            <a:lvl2pPr>
              <a:defRPr sz="1650" b="0">
                <a:solidFill>
                  <a:srgbClr val="596957"/>
                </a:solidFill>
                <a:latin typeface="Avenir Next"/>
                <a:ea typeface="Avenir Next"/>
                <a:cs typeface="Avenir Next"/>
              </a:defRPr>
            </a:lvl2pPr>
            <a:lvl3pPr>
              <a:defRPr sz="1650" b="0">
                <a:solidFill>
                  <a:srgbClr val="596957"/>
                </a:solidFill>
                <a:latin typeface="Avenir Next"/>
                <a:ea typeface="Avenir Next"/>
                <a:cs typeface="Avenir Next"/>
              </a:defRPr>
            </a:lvl3pPr>
            <a:lvl4pPr>
              <a:defRPr sz="1650" b="0">
                <a:solidFill>
                  <a:srgbClr val="596957"/>
                </a:solidFill>
                <a:latin typeface="Avenir Next"/>
                <a:ea typeface="Avenir Next"/>
                <a:cs typeface="Avenir Next"/>
              </a:defRPr>
            </a:lvl4pPr>
            <a:lvl5pPr>
              <a:defRPr sz="1650" b="0">
                <a:solidFill>
                  <a:srgbClr val="596957"/>
                </a:solidFill>
                <a:latin typeface="Avenir Next"/>
                <a:ea typeface="Avenir Next"/>
                <a:cs typeface="Avenir Next"/>
              </a:defRPr>
            </a:lvl5pPr>
            <a:lvl6pPr>
              <a:defRPr sz="1650" b="0">
                <a:solidFill>
                  <a:srgbClr val="596957"/>
                </a:solidFill>
                <a:latin typeface="Avenir Next"/>
                <a:ea typeface="Avenir Next"/>
                <a:cs typeface="Avenir Next"/>
              </a:defRPr>
            </a:lvl6pPr>
            <a:lvl7pPr>
              <a:defRPr sz="1650" b="0">
                <a:solidFill>
                  <a:srgbClr val="596957"/>
                </a:solidFill>
                <a:latin typeface="Avenir Next"/>
                <a:ea typeface="Avenir Next"/>
                <a:cs typeface="Avenir Next"/>
              </a:defRPr>
            </a:lvl7pPr>
            <a:lvl8pPr>
              <a:defRPr sz="1650" b="0">
                <a:solidFill>
                  <a:srgbClr val="596957"/>
                </a:solidFill>
                <a:latin typeface="Avenir Next"/>
                <a:ea typeface="Avenir Next"/>
                <a:cs typeface="Avenir Next"/>
              </a:defRPr>
            </a:lvl8pPr>
            <a:lvl9pPr>
              <a:defRPr sz="1650" b="0">
                <a:solidFill>
                  <a:srgbClr val="596957"/>
                </a:solidFill>
                <a:latin typeface="Avenir Next"/>
                <a:ea typeface="Avenir Next"/>
                <a:cs typeface="Avenir Next"/>
              </a:defRPr>
            </a:lvl9pPr>
          </a:lstStyle>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Mazorcas 3D con texturas de fotos reales.</a:t>
            </a:r>
          </a:p>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El modelo calcula la detección sobre esta imagen.</a:t>
            </a:r>
          </a:p>
        </p:txBody>
      </p:sp>
      <p:sp>
        <p:nvSpPr>
          <p:cNvPr id="6" name="La localización usa geometría conocida. El re">
            <a:extLst xmlns:a="http://schemas.openxmlformats.org/drawingml/2006/main">
              <a:ext uri="{FF2B5EF4-FFF2-40B4-BE49-F238E27FC236}">
                <a16:creationId xmlns:a16="http://schemas.microsoft.com/office/drawing/2014/main" id="{2F88B581-2904-4C85-8482-12A5B6391BF3}"/>
              </a:ext>
            </a:extLst>
          </p:cNvPr>
          <p:cNvSpPr>
            <a:spLocks xmlns:a="http://schemas.openxmlformats.org/drawingml/2006/main" noGrp="1"/>
          </p:cNvSpPr>
          <p:nvPr/>
        </p:nvSpPr>
        <p:spPr>
          <a:xfrm xmlns:a="http://schemas.openxmlformats.org/drawingml/2006/main">
            <a:off x="609600" y="6286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La localización usa geometría conocida. El recorrido virtual verifica integración, no precisión en campo.</a:t>
            </a:r>
          </a:p>
        </p:txBody>
      </p:sp>
    </p:spTree>
    <p:extLst>
      <p:ext uri="{BB962C8B-B14F-4D97-AF65-F5344CB8AC3E}">
        <p14:creationId xmlns:p14="http://schemas.microsoft.com/office/powerpoint/2010/main" val="1452647330"/>
      </p:ext>
    </p:extLst>
  </p:cSld>
</p:sld>
</file>

<file path=ppt/slides/slide4.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7" name="Una sospecha que el agricultor puede revisar">
            <a:extLst xmlns:a="http://schemas.openxmlformats.org/drawingml/2006/main">
              <a:ext uri="{FF2B5EF4-FFF2-40B4-BE49-F238E27FC236}">
                <a16:creationId xmlns:a16="http://schemas.microsoft.com/office/drawing/2014/main" id="{48E0E606-6681-4042-BAF5-F89514B1D0C1}"/>
              </a:ext>
            </a:extLst>
          </p:cNvPr>
          <p:cNvSpPr>
            <a:spLocks xmlns:a="http://schemas.openxmlformats.org/drawingml/2006/main" noGrp="1"/>
          </p:cNvSpPr>
          <p:nvPr/>
        </p:nvSpPr>
        <p:spPr>
          <a:xfrm xmlns:a="http://schemas.openxmlformats.org/drawingml/2006/main">
            <a:off x="609600" y="5334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5F3E9"/>
                </a:solidFill>
                <a:latin typeface="Avenir Next"/>
                <a:ea typeface="Avenir Next"/>
                <a:cs typeface="Avenir Next"/>
              </a:defRPr>
            </a:defPPr>
            <a:lvl1pPr>
              <a:defRPr sz="3375" b="1">
                <a:solidFill>
                  <a:srgbClr val="F5F3E9"/>
                </a:solidFill>
                <a:latin typeface="Avenir Next"/>
                <a:ea typeface="Avenir Next"/>
                <a:cs typeface="Avenir Next"/>
              </a:defRPr>
            </a:lvl1pPr>
            <a:lvl2pPr>
              <a:defRPr sz="3375" b="1">
                <a:solidFill>
                  <a:srgbClr val="F5F3E9"/>
                </a:solidFill>
                <a:latin typeface="Avenir Next"/>
                <a:ea typeface="Avenir Next"/>
                <a:cs typeface="Avenir Next"/>
              </a:defRPr>
            </a:lvl2pPr>
            <a:lvl3pPr>
              <a:defRPr sz="3375" b="1">
                <a:solidFill>
                  <a:srgbClr val="F5F3E9"/>
                </a:solidFill>
                <a:latin typeface="Avenir Next"/>
                <a:ea typeface="Avenir Next"/>
                <a:cs typeface="Avenir Next"/>
              </a:defRPr>
            </a:lvl3pPr>
            <a:lvl4pPr>
              <a:defRPr sz="3375" b="1">
                <a:solidFill>
                  <a:srgbClr val="F5F3E9"/>
                </a:solidFill>
                <a:latin typeface="Avenir Next"/>
                <a:ea typeface="Avenir Next"/>
                <a:cs typeface="Avenir Next"/>
              </a:defRPr>
            </a:lvl4pPr>
            <a:lvl5pPr>
              <a:defRPr sz="3375" b="1">
                <a:solidFill>
                  <a:srgbClr val="F5F3E9"/>
                </a:solidFill>
                <a:latin typeface="Avenir Next"/>
                <a:ea typeface="Avenir Next"/>
                <a:cs typeface="Avenir Next"/>
              </a:defRPr>
            </a:lvl5pPr>
            <a:lvl6pPr>
              <a:defRPr sz="3375" b="1">
                <a:solidFill>
                  <a:srgbClr val="F5F3E9"/>
                </a:solidFill>
                <a:latin typeface="Avenir Next"/>
                <a:ea typeface="Avenir Next"/>
                <a:cs typeface="Avenir Next"/>
              </a:defRPr>
            </a:lvl6pPr>
            <a:lvl7pPr>
              <a:defRPr sz="3375" b="1">
                <a:solidFill>
                  <a:srgbClr val="F5F3E9"/>
                </a:solidFill>
                <a:latin typeface="Avenir Next"/>
                <a:ea typeface="Avenir Next"/>
                <a:cs typeface="Avenir Next"/>
              </a:defRPr>
            </a:lvl7pPr>
            <a:lvl8pPr>
              <a:defRPr sz="3375" b="1">
                <a:solidFill>
                  <a:srgbClr val="F5F3E9"/>
                </a:solidFill>
                <a:latin typeface="Avenir Next"/>
                <a:ea typeface="Avenir Next"/>
                <a:cs typeface="Avenir Next"/>
              </a:defRPr>
            </a:lvl8pPr>
            <a:lvl9pPr>
              <a:defRPr sz="3375" b="1">
                <a:solidFill>
                  <a:srgbClr val="F5F3E9"/>
                </a:solidFill>
                <a:latin typeface="Avenir Next"/>
                <a:ea typeface="Avenir Next"/>
                <a:cs typeface="Avenir Next"/>
              </a:defRPr>
            </a:lvl9pPr>
          </a:lstStyle>
          <a:p xmlns:a="http://schemas.openxmlformats.org/drawingml/2006/main">
            <a:pPr>
              <a:defRPr sz="3375" b="1">
                <a:solidFill>
                  <a:srgbClr val="F5F3E9"/>
                </a:solidFill>
                <a:latin typeface="Avenir Next"/>
                <a:ea typeface="Avenir Next"/>
                <a:cs typeface="Avenir Next"/>
              </a:defRPr>
            </a:pPr>
            <a:r>
              <a:rPr sz="3375" b="1">
                <a:solidFill>
                  <a:srgbClr val="F5F3E9"/>
                </a:solidFill>
                <a:latin typeface="Avenir Next"/>
                <a:ea typeface="Avenir Next"/>
                <a:cs typeface="Avenir Next"/>
              </a:rPr>
              <a:t>Una sospecha que el agricultor puede revisar</a:t>
            </a:r>
          </a:p>
        </p:txBody>
      </p:sp>
      <p:sp>
        <p:nvSpPr>
          <p:cNvPr id="2" name="Foto y ubicación&#10;antes de autorizar&#10;una inter">
            <a:extLst xmlns:a="http://schemas.openxmlformats.org/drawingml/2006/main">
              <a:ext uri="{FF2B5EF4-FFF2-40B4-BE49-F238E27FC236}">
                <a16:creationId xmlns:a16="http://schemas.microsoft.com/office/drawing/2014/main" id="{9B607424-9F9E-4CCE-9CAA-1AA1989B2217}"/>
              </a:ext>
            </a:extLst>
          </p:cNvPr>
          <p:cNvSpPr>
            <a:spLocks xmlns:a="http://schemas.openxmlformats.org/drawingml/2006/main" noGrp="1"/>
          </p:cNvSpPr>
          <p:nvPr/>
        </p:nvSpPr>
        <p:spPr>
          <a:xfrm xmlns:a="http://schemas.openxmlformats.org/drawingml/2006/main">
            <a:off x="609600" y="1981200"/>
            <a:ext cx="6000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F5F3E9"/>
                </a:solidFill>
                <a:latin typeface="Avenir Next"/>
                <a:ea typeface="Avenir Next"/>
                <a:cs typeface="Avenir Next"/>
              </a:defRPr>
            </a:defPPr>
            <a:lvl1pPr>
              <a:defRPr sz="2775" b="1">
                <a:solidFill>
                  <a:srgbClr val="F5F3E9"/>
                </a:solidFill>
                <a:latin typeface="Avenir Next"/>
                <a:ea typeface="Avenir Next"/>
                <a:cs typeface="Avenir Next"/>
              </a:defRPr>
            </a:lvl1pPr>
            <a:lvl2pPr>
              <a:defRPr sz="2775" b="1">
                <a:solidFill>
                  <a:srgbClr val="F5F3E9"/>
                </a:solidFill>
                <a:latin typeface="Avenir Next"/>
                <a:ea typeface="Avenir Next"/>
                <a:cs typeface="Avenir Next"/>
              </a:defRPr>
            </a:lvl2pPr>
            <a:lvl3pPr>
              <a:defRPr sz="2775" b="1">
                <a:solidFill>
                  <a:srgbClr val="F5F3E9"/>
                </a:solidFill>
                <a:latin typeface="Avenir Next"/>
                <a:ea typeface="Avenir Next"/>
                <a:cs typeface="Avenir Next"/>
              </a:defRPr>
            </a:lvl3pPr>
            <a:lvl4pPr>
              <a:defRPr sz="2775" b="1">
                <a:solidFill>
                  <a:srgbClr val="F5F3E9"/>
                </a:solidFill>
                <a:latin typeface="Avenir Next"/>
                <a:ea typeface="Avenir Next"/>
                <a:cs typeface="Avenir Next"/>
              </a:defRPr>
            </a:lvl4pPr>
            <a:lvl5pPr>
              <a:defRPr sz="2775" b="1">
                <a:solidFill>
                  <a:srgbClr val="F5F3E9"/>
                </a:solidFill>
                <a:latin typeface="Avenir Next"/>
                <a:ea typeface="Avenir Next"/>
                <a:cs typeface="Avenir Next"/>
              </a:defRPr>
            </a:lvl5pPr>
            <a:lvl6pPr>
              <a:defRPr sz="2775" b="1">
                <a:solidFill>
                  <a:srgbClr val="F5F3E9"/>
                </a:solidFill>
                <a:latin typeface="Avenir Next"/>
                <a:ea typeface="Avenir Next"/>
                <a:cs typeface="Avenir Next"/>
              </a:defRPr>
            </a:lvl6pPr>
            <a:lvl7pPr>
              <a:defRPr sz="2775" b="1">
                <a:solidFill>
                  <a:srgbClr val="F5F3E9"/>
                </a:solidFill>
                <a:latin typeface="Avenir Next"/>
                <a:ea typeface="Avenir Next"/>
                <a:cs typeface="Avenir Next"/>
              </a:defRPr>
            </a:lvl7pPr>
            <a:lvl8pPr>
              <a:defRPr sz="2775" b="1">
                <a:solidFill>
                  <a:srgbClr val="F5F3E9"/>
                </a:solidFill>
                <a:latin typeface="Avenir Next"/>
                <a:ea typeface="Avenir Next"/>
                <a:cs typeface="Avenir Next"/>
              </a:defRPr>
            </a:lvl8pPr>
            <a:lvl9pPr>
              <a:defRPr sz="2775" b="1">
                <a:solidFill>
                  <a:srgbClr val="F5F3E9"/>
                </a:solidFill>
                <a:latin typeface="Avenir Next"/>
                <a:ea typeface="Avenir Next"/>
                <a:cs typeface="Avenir Next"/>
              </a:defRPr>
            </a:lvl9pPr>
          </a:lstStyle>
          <a:p xmlns:a="http://schemas.openxmlformats.org/drawingml/2006/main">
            <a:pPr>
              <a:defRPr sz="2775" b="1">
                <a:solidFill>
                  <a:srgbClr val="F5F3E9"/>
                </a:solidFill>
                <a:latin typeface="Avenir Next"/>
                <a:ea typeface="Avenir Next"/>
                <a:cs typeface="Avenir Next"/>
              </a:defRPr>
            </a:pPr>
            <a:r>
              <a:rPr sz="2775" b="1">
                <a:solidFill>
                  <a:srgbClr val="F5F3E9"/>
                </a:solidFill>
                <a:latin typeface="Avenir Next"/>
                <a:ea typeface="Avenir Next"/>
                <a:cs typeface="Avenir Next"/>
              </a:rPr>
              <a:t>Foto y ubicación</a:t>
            </a:r>
          </a:p>
          <a:p xmlns:a="http://schemas.openxmlformats.org/drawingml/2006/main">
            <a:pPr>
              <a:defRPr sz="2775" b="1">
                <a:solidFill>
                  <a:srgbClr val="F5F3E9"/>
                </a:solidFill>
                <a:latin typeface="Avenir Next"/>
                <a:ea typeface="Avenir Next"/>
                <a:cs typeface="Avenir Next"/>
              </a:defRPr>
            </a:pPr>
            <a:r>
              <a:rPr sz="2775" b="1">
                <a:solidFill>
                  <a:srgbClr val="F5F3E9"/>
                </a:solidFill>
                <a:latin typeface="Avenir Next"/>
                <a:ea typeface="Avenir Next"/>
                <a:cs typeface="Avenir Next"/>
              </a:rPr>
              <a:t>antes de autorizar</a:t>
            </a:r>
          </a:p>
          <a:p xmlns:a="http://schemas.openxmlformats.org/drawingml/2006/main">
            <a:pPr>
              <a:defRPr sz="2775" b="1">
                <a:solidFill>
                  <a:srgbClr val="F5F3E9"/>
                </a:solidFill>
                <a:latin typeface="Avenir Next"/>
                <a:ea typeface="Avenir Next"/>
                <a:cs typeface="Avenir Next"/>
              </a:defRPr>
            </a:pPr>
            <a:r>
              <a:rPr sz="2775" b="1">
                <a:solidFill>
                  <a:srgbClr val="F5F3E9"/>
                </a:solidFill>
                <a:latin typeface="Avenir Next"/>
                <a:ea typeface="Avenir Next"/>
                <a:cs typeface="Avenir Next"/>
              </a:rPr>
              <a:t>una intervención</a:t>
            </a:r>
          </a:p>
        </p:txBody>
      </p:sp>
      <p:sp>
        <p:nvSpPr>
          <p:cNvPr id="3" name="Objetivo del piloto en campo">
            <a:extLst xmlns:a="http://schemas.openxmlformats.org/drawingml/2006/main">
              <a:ext uri="{FF2B5EF4-FFF2-40B4-BE49-F238E27FC236}">
                <a16:creationId xmlns:a16="http://schemas.microsoft.com/office/drawing/2014/main" id="{3B12FA81-7C86-4AE2-BCAB-52CEC23A3233}"/>
              </a:ext>
            </a:extLst>
          </p:cNvPr>
          <p:cNvSpPr>
            <a:spLocks xmlns:a="http://schemas.openxmlformats.org/drawingml/2006/main" noGrp="1"/>
          </p:cNvSpPr>
          <p:nvPr/>
        </p:nvSpPr>
        <p:spPr>
          <a:xfrm xmlns:a="http://schemas.openxmlformats.org/drawingml/2006/main">
            <a:off x="609600" y="4019550"/>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D5E4AD"/>
                </a:solidFill>
                <a:latin typeface="Avenir Next"/>
                <a:ea typeface="Avenir Next"/>
                <a:cs typeface="Avenir Next"/>
              </a:defRPr>
            </a:defPPr>
            <a:lvl1pPr>
              <a:defRPr sz="2100" b="1">
                <a:solidFill>
                  <a:srgbClr val="D5E4AD"/>
                </a:solidFill>
                <a:latin typeface="Avenir Next"/>
                <a:ea typeface="Avenir Next"/>
                <a:cs typeface="Avenir Next"/>
              </a:defRPr>
            </a:lvl1pPr>
            <a:lvl2pPr>
              <a:defRPr sz="2100" b="1">
                <a:solidFill>
                  <a:srgbClr val="D5E4AD"/>
                </a:solidFill>
                <a:latin typeface="Avenir Next"/>
                <a:ea typeface="Avenir Next"/>
                <a:cs typeface="Avenir Next"/>
              </a:defRPr>
            </a:lvl2pPr>
            <a:lvl3pPr>
              <a:defRPr sz="2100" b="1">
                <a:solidFill>
                  <a:srgbClr val="D5E4AD"/>
                </a:solidFill>
                <a:latin typeface="Avenir Next"/>
                <a:ea typeface="Avenir Next"/>
                <a:cs typeface="Avenir Next"/>
              </a:defRPr>
            </a:lvl3pPr>
            <a:lvl4pPr>
              <a:defRPr sz="2100" b="1">
                <a:solidFill>
                  <a:srgbClr val="D5E4AD"/>
                </a:solidFill>
                <a:latin typeface="Avenir Next"/>
                <a:ea typeface="Avenir Next"/>
                <a:cs typeface="Avenir Next"/>
              </a:defRPr>
            </a:lvl4pPr>
            <a:lvl5pPr>
              <a:defRPr sz="2100" b="1">
                <a:solidFill>
                  <a:srgbClr val="D5E4AD"/>
                </a:solidFill>
                <a:latin typeface="Avenir Next"/>
                <a:ea typeface="Avenir Next"/>
                <a:cs typeface="Avenir Next"/>
              </a:defRPr>
            </a:lvl5pPr>
            <a:lvl6pPr>
              <a:defRPr sz="2100" b="1">
                <a:solidFill>
                  <a:srgbClr val="D5E4AD"/>
                </a:solidFill>
                <a:latin typeface="Avenir Next"/>
                <a:ea typeface="Avenir Next"/>
                <a:cs typeface="Avenir Next"/>
              </a:defRPr>
            </a:lvl6pPr>
            <a:lvl7pPr>
              <a:defRPr sz="2100" b="1">
                <a:solidFill>
                  <a:srgbClr val="D5E4AD"/>
                </a:solidFill>
                <a:latin typeface="Avenir Next"/>
                <a:ea typeface="Avenir Next"/>
                <a:cs typeface="Avenir Next"/>
              </a:defRPr>
            </a:lvl7pPr>
            <a:lvl8pPr>
              <a:defRPr sz="2100" b="1">
                <a:solidFill>
                  <a:srgbClr val="D5E4AD"/>
                </a:solidFill>
                <a:latin typeface="Avenir Next"/>
                <a:ea typeface="Avenir Next"/>
                <a:cs typeface="Avenir Next"/>
              </a:defRPr>
            </a:lvl8pPr>
            <a:lvl9pPr>
              <a:defRPr sz="2100" b="1">
                <a:solidFill>
                  <a:srgbClr val="D5E4AD"/>
                </a:solidFill>
                <a:latin typeface="Avenir Next"/>
                <a:ea typeface="Avenir Next"/>
                <a:cs typeface="Avenir Next"/>
              </a:defRPr>
            </a:lvl9pPr>
          </a:lstStyle>
          <a:p xmlns:a="http://schemas.openxmlformats.org/drawingml/2006/main">
            <a:pPr>
              <a:defRPr sz="2100" b="1">
                <a:solidFill>
                  <a:srgbClr val="D5E4AD"/>
                </a:solidFill>
                <a:latin typeface="Avenir Next"/>
                <a:ea typeface="Avenir Next"/>
                <a:cs typeface="Avenir Next"/>
              </a:defRPr>
            </a:pPr>
            <a:r>
              <a:rPr sz="2100" b="1">
                <a:solidFill>
                  <a:srgbClr val="D5E4AD"/>
                </a:solidFill>
                <a:latin typeface="Avenir Next"/>
                <a:ea typeface="Avenir Next"/>
                <a:cs typeface="Avenir Next"/>
              </a:rPr>
              <a:t>Objetivo del piloto en campo</a:t>
            </a:r>
          </a:p>
        </p:txBody>
      </p:sp>
      <p:sp>
        <p:nvSpPr>
          <p:cNvPr id="4" name="Medir cuánto tiempo de revisión ahorra&#10;y cuán">
            <a:extLst xmlns:a="http://schemas.openxmlformats.org/drawingml/2006/main">
              <a:ext uri="{FF2B5EF4-FFF2-40B4-BE49-F238E27FC236}">
                <a16:creationId xmlns:a16="http://schemas.microsoft.com/office/drawing/2014/main" id="{CB673534-E105-4015-91A2-60A3B741565C}"/>
              </a:ext>
            </a:extLst>
          </p:cNvPr>
          <p:cNvSpPr>
            <a:spLocks xmlns:a="http://schemas.openxmlformats.org/drawingml/2006/main" noGrp="1"/>
          </p:cNvSpPr>
          <p:nvPr/>
        </p:nvSpPr>
        <p:spPr>
          <a:xfrm xmlns:a="http://schemas.openxmlformats.org/drawingml/2006/main">
            <a:off x="609600" y="4600575"/>
            <a:ext cx="609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3E9"/>
                </a:solidFill>
                <a:latin typeface="Avenir Next"/>
                <a:ea typeface="Avenir Next"/>
                <a:cs typeface="Avenir Next"/>
              </a:defRPr>
            </a:defPPr>
            <a:lvl1pPr>
              <a:defRPr sz="2025" b="0">
                <a:solidFill>
                  <a:srgbClr val="F5F3E9"/>
                </a:solidFill>
                <a:latin typeface="Avenir Next"/>
                <a:ea typeface="Avenir Next"/>
                <a:cs typeface="Avenir Next"/>
              </a:defRPr>
            </a:lvl1pPr>
            <a:lvl2pPr>
              <a:defRPr sz="2025" b="0">
                <a:solidFill>
                  <a:srgbClr val="F5F3E9"/>
                </a:solidFill>
                <a:latin typeface="Avenir Next"/>
                <a:ea typeface="Avenir Next"/>
                <a:cs typeface="Avenir Next"/>
              </a:defRPr>
            </a:lvl2pPr>
            <a:lvl3pPr>
              <a:defRPr sz="2025" b="0">
                <a:solidFill>
                  <a:srgbClr val="F5F3E9"/>
                </a:solidFill>
                <a:latin typeface="Avenir Next"/>
                <a:ea typeface="Avenir Next"/>
                <a:cs typeface="Avenir Next"/>
              </a:defRPr>
            </a:lvl3pPr>
            <a:lvl4pPr>
              <a:defRPr sz="2025" b="0">
                <a:solidFill>
                  <a:srgbClr val="F5F3E9"/>
                </a:solidFill>
                <a:latin typeface="Avenir Next"/>
                <a:ea typeface="Avenir Next"/>
                <a:cs typeface="Avenir Next"/>
              </a:defRPr>
            </a:lvl4pPr>
            <a:lvl5pPr>
              <a:defRPr sz="2025" b="0">
                <a:solidFill>
                  <a:srgbClr val="F5F3E9"/>
                </a:solidFill>
                <a:latin typeface="Avenir Next"/>
                <a:ea typeface="Avenir Next"/>
                <a:cs typeface="Avenir Next"/>
              </a:defRPr>
            </a:lvl5pPr>
            <a:lvl6pPr>
              <a:defRPr sz="2025" b="0">
                <a:solidFill>
                  <a:srgbClr val="F5F3E9"/>
                </a:solidFill>
                <a:latin typeface="Avenir Next"/>
                <a:ea typeface="Avenir Next"/>
                <a:cs typeface="Avenir Next"/>
              </a:defRPr>
            </a:lvl6pPr>
            <a:lvl7pPr>
              <a:defRPr sz="2025" b="0">
                <a:solidFill>
                  <a:srgbClr val="F5F3E9"/>
                </a:solidFill>
                <a:latin typeface="Avenir Next"/>
                <a:ea typeface="Avenir Next"/>
                <a:cs typeface="Avenir Next"/>
              </a:defRPr>
            </a:lvl7pPr>
            <a:lvl8pPr>
              <a:defRPr sz="2025" b="0">
                <a:solidFill>
                  <a:srgbClr val="F5F3E9"/>
                </a:solidFill>
                <a:latin typeface="Avenir Next"/>
                <a:ea typeface="Avenir Next"/>
                <a:cs typeface="Avenir Next"/>
              </a:defRPr>
            </a:lvl8pPr>
            <a:lvl9pPr>
              <a:defRPr sz="2025" b="0">
                <a:solidFill>
                  <a:srgbClr val="F5F3E9"/>
                </a:solidFill>
                <a:latin typeface="Avenir Next"/>
                <a:ea typeface="Avenir Next"/>
                <a:cs typeface="Avenir Next"/>
              </a:defRPr>
            </a:lvl9pPr>
          </a:lstStyle>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Medir cuánto tiempo de revisión ahorra</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y cuántas sospechas son útiles</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para el productor.</a:t>
            </a:r>
          </a:p>
        </p:txBody>
      </p:sp>
      <p:sp>
        <p:nvSpPr>
          <p:cNvPr id="5" name="La aprobación humana habilita la tarea del te">
            <a:extLst xmlns:a="http://schemas.openxmlformats.org/drawingml/2006/main">
              <a:ext uri="{FF2B5EF4-FFF2-40B4-BE49-F238E27FC236}">
                <a16:creationId xmlns:a16="http://schemas.microsoft.com/office/drawing/2014/main" id="{684CCF26-FDC5-4F09-AB30-1C1DBEC152C9}"/>
              </a:ext>
            </a:extLst>
          </p:cNvPr>
          <p:cNvSpPr>
            <a:spLocks xmlns:a="http://schemas.openxmlformats.org/drawingml/2006/main" noGrp="1"/>
          </p:cNvSpPr>
          <p:nvPr/>
        </p:nvSpPr>
        <p:spPr>
          <a:xfrm xmlns:a="http://schemas.openxmlformats.org/drawingml/2006/main">
            <a:off x="609600" y="6076950"/>
            <a:ext cx="666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La aprobación humana habilita la tarea del terrestre.</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Impacto agronómico y económico pendientes de medir.</a:t>
            </a:r>
          </a:p>
        </p:txBody>
      </p:sp>
      <p:pic>
        <p:nvPicPr>
          <p:cNvPr id="6" name="">
            <a:extLst xmlns:a="http://schemas.openxmlformats.org/drawingml/2006/main">
              <a:ext uri="{FF2B5EF4-FFF2-40B4-BE49-F238E27FC236}">
                <a16:creationId xmlns:a16="http://schemas.microsoft.com/office/drawing/2014/main" id="{6294F8EC-4405-4E95-9214-B1E75944BE7A}"/>
              </a:ext>
            </a:extLst>
          </p:cNvPr>
          <p:cNvPicPr>
            <a:picLocks xmlns:a="http://schemas.openxmlformats.org/drawingml/2006/main" noChangeAspect="1"/>
          </p:cNvPicPr>
          <p:nvPr/>
        </p:nvPicPr>
        <p:blipFill>
          <a:blip xmlns:r="http://schemas.openxmlformats.org/officeDocument/2006/relationships" xmlns:a="http://schemas.openxmlformats.org/drawingml/2006/main" r:embed="R906b26b7e5894ea1"/>
          <a:stretch xmlns:a="http://schemas.openxmlformats.org/drawingml/2006/main"/>
        </p:blipFill>
        <p:spPr>
          <a:xfrm xmlns:a="http://schemas.openxmlformats.org/drawingml/2006/main">
            <a:off x="7867650" y="1640380"/>
            <a:ext cx="3286125" cy="4596415"/>
          </a:xfrm>
          <a:prstGeom xmlns:a="http://schemas.openxmlformats.org/drawingml/2006/main" prst="rect">
            <a:avLst/>
          </a:prstGeom>
        </p:spPr>
      </p:pic>
    </p:spTree>
    <p:extLst>
      <p:ext uri="{BB962C8B-B14F-4D97-AF65-F5344CB8AC3E}">
        <p14:creationId xmlns:p14="http://schemas.microsoft.com/office/powerpoint/2010/main" val="1920694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2026-10-18T12:53:30.1310000Z</dcterms:created>
  <dcterms:modified xsi:type="dcterms:W3CDTF">2026-10-18T12:53:30.1310000Z</dcterms:modified>
</coreProperties>
</file>